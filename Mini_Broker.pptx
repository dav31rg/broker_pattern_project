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57" d="100"/>
          <a:sy n="157" d="100"/>
        </p:scale>
        <p:origin x="71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522187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Buenas [tardes/noches]. Bienvenidos a la exposición del Grupo 06. Hoy vamos a presentar nuestro proyecto académico: un Mini Broker de Mensajes, es decir, un sistema de mensajería publicador/suscriptor construido enteramente desde cero, sin usar Kafka, RabbitMQ ni ninguna plataforma de mensajería externa. La idea es demostrar que entendemos cómo funciona un broker por dentro, no solo cómo se usa una librería. Somos Humberto Lizana, Davel Reymundo y Dante Tarraga, y cada uno estuvo a cargo de una parte del sistema que iremos señalando en cada sección.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Empecemos con la idea central en una sola frase. Un producer publica un mensaje en un topic, por ejemplo 'orders'. El broker no entrega ese mensaje directamente: genera una copia lógica independiente por cada consumidor suscrito, a esto le llamamos fan-out. Cada copia se llama MessageDelivery y arranca en estado PENDING. Cada consumidor hace polling llamando a GET /consume para pedir sus mensajes pendientes, y una vez que los procesa, confirma con POST /ack. Es un modelo pull, no push, igual que el basic.get de RabbitMQ: publicar un mensaje no lo entrega automáticamente, el consumidor tiene que pedirlo.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Usamos arquitectura hexagonal, también llamada Ports &amp; Adapters. La regla de oro es que las flechas de dependencia siempre apuntan hacia adentro, hacia el dominio. El dominio, en el centro, es Java puro: no sabe que existe Spring, HTTP o una base de datos. La capa de aplicación orquesta el dominio con los puertos de salida. Los adapters de entrada traducen HTTP a casos de uso, y los adapters de salida implementan esos puertos con memoria, JPA o los listeners de observabilidad. Esto no es solo un diagrama bonito: lo verificamos con grep sobre el código, buscando importaciones de Spring dentro del paquete domain, y el resultado es cero. Gracias a esto pudimos agregar el adapter de JPA más adelante sin tocar una sola línea de application ni domain.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decisión de diseño más importante del modelo de dominio. Message representa el contenido publicado una única vez al topic: es inmutable, tiene id, nombre de topic, payload, producerId y fecha de publicación. Pero si tres consumidores están suscritos al mismo topic, cada uno puede estar en un estado distinto: uno ya confirmó con ACK y otro sigue pendiente. Un solo objeto con un solo status no puede representar eso. Por eso existe MessageDelivery: una copia lógica del mensaje para una suscripción concreta, con su propio ciclo de vida. Es exactamente lo mismo que hace RabbitMQ internamente: mensaje versus entrega por cola o consumer-tag.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ciclo de vida de una entrega tiene tres estados: PENDING, DELIVERED y ACKED, y las transiciones no son setters libres, viven como métodos de negocio dentro de la propia entidad. Lo interesante aquí es la concurrencia: durante las pruebas lanzamos 20 hilos intentando confirmar el mismo ACK al mismo tiempo. Con un if simple de verificar-y-asignar, más de un hilo podía leer DELIVERED antes de que cualquiera escribiera ACKED, y ambos terminaban 'ganando' la transición, lo cual es un bug grave. La solución fue usar AtomicReference con compareAndSet, que es una operación atómica a nivel de hardware: garantiza que solo un hilo gane, y el resto recibe una excepción de estado inválido. Esto quedó cubierto por un test de regresión permanente.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capa de aplicación expone siete casos de uso, cada uno como una interfaz de un solo método: registrar topic, suscribirse, publicar, consumir, confirmar ACK, consultar logs y consultar métricas. Esto sigue el principio de segregación de interfaces: nadie depende de operaciones que no usa, en vez de tener una sola interfaz gigante tipo BrokerService. Cada servicio implementa exactamente un caso de uso, y todos devuelven modelo de dominio puro, nunca DTOs web; el mapeo a JSON vive en el adapter de entrada.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 la API vive en rutas raíz sobre el puerto 8080. Tenemos POST /topics/register para crear un topic, POST /subscribe para suscribir un consumidor, y POST /publish para publicar un mensaje, que dispara el fan-out. El GET /consume es especial: es el único endpoint de lectura que además muta estado, porque marca las entregas como DELIVERED; por eso en el dashboard nunca lo llamamos desde una herramienta de solo observación. POST /ack confirma la entrega. Y finalmente /metrics y /logs nos dan una foto agregada y el historial de eventos de negocio, respectivamente, ambos de solo lectura.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ejemplo intencional de adaptador intercambiable en arquitectura hexagonal. Existen dos implementaciones completas de cada repositorio detrás del mismo puerto, por ejemplo TopicRepositoryPort. Por defecto corre en memoria: ConcurrentHashMap para topics y consumidores, y para cada consumidor una cola FIFO propia con ConcurrentLinkedQueue, cuyo poll es atómico, así que dos hilos pidiendo /consume para el mismo consumidor nunca se roban el mismo mensaje. El otro perfil, 'jpa', activa H2: solo para datos de catálogo de bajo volumen, topic, consumer y subscription, porque tiene sentido que sobrevivan un reinicio; los mensajes y entregas, que son tráfico de alto volumen y efímero, se quedan en memoria. Y lo más importante: activar este perfil no obligó a cambiar ni una línea de TopicService ni de ningún caso de uso, porque solo dependen de la interfaz del puerto.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operación relevante del broker emite un BrokerEvent: registro de topic, suscripción, publicación, entrega, ACK confirmado o rechazado. Ese evento se guarda en el repositorio, consultable después en /logs, y además se publica como un ApplicationEvent de Spring. De ahí lo escuchan dos listeners desacoplados: uno traduce el evento a una línea de log SLF4J, y el otro lo cuenta en un contador de Micrometer. Hicimos esto en vez de poner logger.info repetido en los siete servicios por dos razones: evita duplicar la misma línea de logging, y si mañana queremos agregar un tercer oyente, por ejemplo notificar por WebSocket, no hace falta tocar ningún servicio existente. Además exponemos gauges de Micrometer con el estado en vivo del broker, visibles en /actuator/metrics.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suite ConcurrentBrokerFlowTests lanza hilos reales, no mocks, contra los casos de uso. El primer test simula 5 consumidores con 4 hilos de polling cada uno, publicando 100 mensajes de forma concurrente, y verifica que cada consumidor termina con exactamente 100 entregas distintas: ninguna repetida, ninguna perdida. Esto depende de que el poll de ConcurrentLinkedQueue sea atómico. El segundo test es el que ya mencionamos: 20 hilos intentando el mismo ACK a la vez, donde exactamente uno debe tener éxito. Este test falló antes de aplicar el fix de AtomicReference, y hoy queda en el repositorio como una regresión permanente que protege ese comportamiento.</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Repasemos SOLID con ejemplos concretos del código, no como una lista teórica. Responsabilidad única: cada Service implementa un solo caso de uso, y BrokerDispatcher solo hace fan-out, nada más. Abierto/cerrado: agregar el adapter JPA no tocó TopicService ni ningún caso de uso; agregar el listener de métricas no tocó los servicios que ya emitían eventos. Sustitución de Liskov: InMemoryTopicRepository y JpaTopicRepository son 100% intercambiables detrás del mismo puerto, lo probamos arrancando la app con ambos perfiles. Segregación de interfaces: siete interfaces de un método cada una en vez de una interfaz gigante. E inversión de dependencias: application y domain solo conocen interfaces; las implementaciones concretas se inyectan por constructor y Spring decide cuál usar en tiempo de arranque.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cerrar: este proyecto nos permitió entender un message broker por dentro, no solo consumir una librería. Humberto se enfocó en la arquitectura hexagonal, el modelo de dominio y los casos de uso; Davel trabajó la API REST y la persistencia intercambiable entre memoria y JPA; y Dante llevó la concurrencia, la observabilidad y la verificación con tests. En resumen: tenemos una arquitectura hexagonal verificada con grep, no solo dibujada; un fan-out con máquina de estados protegida por compareAndSet; persistencia intercambiable que demuestra inversión de dependencias real; observabilidad desacoplada por eventos; y concurrencia probada con hilos reales, no asumida. Muchas gracias, quedamos atentos a sus preguntas.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929"/>
        </a:solidFill>
        <a:effectLst/>
      </p:bgPr>
    </p:bg>
    <p:spTree>
      <p:nvGrpSpPr>
        <p:cNvPr id="1" name=""/>
        <p:cNvGrpSpPr/>
        <p:nvPr/>
      </p:nvGrpSpPr>
      <p:grpSpPr>
        <a:xfrm>
          <a:off x="0" y="0"/>
          <a:ext cx="0" cy="0"/>
          <a:chOff x="0" y="0"/>
          <a:chExt cx="0" cy="0"/>
        </a:xfrm>
      </p:grpSpPr>
      <p:sp>
        <p:nvSpPr>
          <p:cNvPr id="2" name="Shape 0"/>
          <p:cNvSpPr/>
          <p:nvPr/>
        </p:nvSpPr>
        <p:spPr>
          <a:xfrm>
            <a:off x="8778240" y="-2011680"/>
            <a:ext cx="5943600" cy="5943600"/>
          </a:xfrm>
          <a:prstGeom prst="ellipse">
            <a:avLst/>
          </a:prstGeom>
          <a:solidFill>
            <a:srgbClr val="1B3654">
              <a:alpha val="60000"/>
            </a:srgbClr>
          </a:solidFill>
          <a:ln/>
        </p:spPr>
      </p:sp>
      <p:sp>
        <p:nvSpPr>
          <p:cNvPr id="3" name="Shape 1"/>
          <p:cNvSpPr/>
          <p:nvPr/>
        </p:nvSpPr>
        <p:spPr>
          <a:xfrm>
            <a:off x="10424160" y="3840480"/>
            <a:ext cx="3840480" cy="3840480"/>
          </a:xfrm>
          <a:prstGeom prst="ellipse">
            <a:avLst/>
          </a:prstGeom>
          <a:solidFill>
            <a:srgbClr val="14B8A6">
              <a:alpha val="12000"/>
            </a:srgbClr>
          </a:solidFill>
          <a:ln/>
        </p:spPr>
      </p:sp>
      <p:sp>
        <p:nvSpPr>
          <p:cNvPr id="4" name="Text 2"/>
          <p:cNvSpPr/>
          <p:nvPr/>
        </p:nvSpPr>
        <p:spPr>
          <a:xfrm>
            <a:off x="822960" y="822960"/>
            <a:ext cx="5486400" cy="320040"/>
          </a:xfrm>
          <a:prstGeom prst="rect">
            <a:avLst/>
          </a:prstGeom>
          <a:noFill/>
          <a:ln/>
        </p:spPr>
        <p:txBody>
          <a:bodyPr wrap="square" lIns="0" tIns="0" rIns="0" bIns="0" rtlCol="0" anchor="ctr"/>
          <a:lstStyle/>
          <a:p>
            <a:pPr marL="0" indent="0">
              <a:buNone/>
            </a:pPr>
            <a:r>
              <a:rPr lang="en-US" sz="1200" b="1" kern="0" spc="200" dirty="0">
                <a:solidFill>
                  <a:srgbClr val="5EEAD4"/>
                </a:solidFill>
                <a:latin typeface="Calibri" pitchFamily="34" charset="0"/>
                <a:ea typeface="Calibri" pitchFamily="34" charset="-122"/>
                <a:cs typeface="Calibri" pitchFamily="34" charset="-120"/>
              </a:rPr>
              <a:t>ARQUITECTURA DE SOFTWARE · GRUPO 06</a:t>
            </a:r>
            <a:endParaRPr lang="en-US" sz="1200" dirty="0"/>
          </a:p>
        </p:txBody>
      </p:sp>
      <p:sp>
        <p:nvSpPr>
          <p:cNvPr id="5" name="Text 3"/>
          <p:cNvSpPr/>
          <p:nvPr/>
        </p:nvSpPr>
        <p:spPr>
          <a:xfrm>
            <a:off x="822960" y="2331720"/>
            <a:ext cx="9601200" cy="1371600"/>
          </a:xfrm>
          <a:prstGeom prst="rect">
            <a:avLst/>
          </a:prstGeom>
          <a:noFill/>
          <a:ln/>
        </p:spPr>
        <p:txBody>
          <a:bodyPr wrap="square" lIns="0" tIns="0" rIns="0" bIns="0" rtlCol="0" anchor="ctr"/>
          <a:lstStyle/>
          <a:p>
            <a:pPr marL="0" indent="0">
              <a:buNone/>
            </a:pPr>
            <a:r>
              <a:rPr lang="en-US" sz="4400" b="1" dirty="0">
                <a:solidFill>
                  <a:srgbClr val="F3F6FA"/>
                </a:solidFill>
                <a:latin typeface="Cambria" pitchFamily="34" charset="0"/>
                <a:ea typeface="Cambria" pitchFamily="34" charset="-122"/>
                <a:cs typeface="Cambria" pitchFamily="34" charset="-120"/>
              </a:rPr>
              <a:t>Mini Broker de Mensajes</a:t>
            </a:r>
            <a:endParaRPr lang="en-US" sz="4400" dirty="0"/>
          </a:p>
        </p:txBody>
      </p:sp>
      <p:sp>
        <p:nvSpPr>
          <p:cNvPr id="6" name="Text 4"/>
          <p:cNvSpPr/>
          <p:nvPr/>
        </p:nvSpPr>
        <p:spPr>
          <a:xfrm>
            <a:off x="822960" y="3611880"/>
            <a:ext cx="9144000" cy="548640"/>
          </a:xfrm>
          <a:prstGeom prst="rect">
            <a:avLst/>
          </a:prstGeom>
          <a:noFill/>
          <a:ln/>
        </p:spPr>
        <p:txBody>
          <a:bodyPr wrap="square" lIns="0" tIns="0" rIns="0" bIns="0" rtlCol="0" anchor="ctr"/>
          <a:lstStyle/>
          <a:p>
            <a:pPr marL="0" indent="0">
              <a:buNone/>
            </a:pPr>
            <a:r>
              <a:rPr lang="en-US" sz="1800" i="1" dirty="0">
                <a:solidFill>
                  <a:srgbClr val="5EEAD4"/>
                </a:solidFill>
                <a:latin typeface="Calibri" pitchFamily="34" charset="0"/>
                <a:ea typeface="Calibri" pitchFamily="34" charset="-122"/>
                <a:cs typeface="Calibri" pitchFamily="34" charset="-120"/>
              </a:rPr>
              <a:t>Un broker pub/sub construido desde cero, sin Kafka ni RabbitMQ</a:t>
            </a:r>
            <a:endParaRPr lang="en-US" sz="1800" dirty="0"/>
          </a:p>
        </p:txBody>
      </p:sp>
      <p:sp>
        <p:nvSpPr>
          <p:cNvPr id="7" name="Shape 5"/>
          <p:cNvSpPr/>
          <p:nvPr/>
        </p:nvSpPr>
        <p:spPr>
          <a:xfrm>
            <a:off x="1737360" y="4526280"/>
            <a:ext cx="777240" cy="777240"/>
          </a:xfrm>
          <a:prstGeom prst="ellipse">
            <a:avLst/>
          </a:prstGeom>
          <a:solidFill>
            <a:srgbClr val="1B3654"/>
          </a:solidFill>
          <a:ln/>
        </p:spPr>
      </p:sp>
      <p:pic>
        <p:nvPicPr>
          <p:cNvPr id="8" name="Image 0" descr="preencoded.png"/>
          <p:cNvPicPr>
            <a:picLocks noChangeAspect="1"/>
          </p:cNvPicPr>
          <p:nvPr/>
        </p:nvPicPr>
        <p:blipFill>
          <a:blip r:embed="rId3"/>
          <a:stretch>
            <a:fillRect/>
          </a:stretch>
        </p:blipFill>
        <p:spPr>
          <a:xfrm>
            <a:off x="1931670" y="4720590"/>
            <a:ext cx="388620" cy="388620"/>
          </a:xfrm>
          <a:prstGeom prst="rect">
            <a:avLst/>
          </a:prstGeom>
        </p:spPr>
      </p:pic>
      <p:sp>
        <p:nvSpPr>
          <p:cNvPr id="9" name="Shape 6"/>
          <p:cNvSpPr/>
          <p:nvPr/>
        </p:nvSpPr>
        <p:spPr>
          <a:xfrm>
            <a:off x="2880360" y="4526280"/>
            <a:ext cx="777240" cy="777240"/>
          </a:xfrm>
          <a:prstGeom prst="ellipse">
            <a:avLst/>
          </a:prstGeom>
          <a:solidFill>
            <a:srgbClr val="2A2440"/>
          </a:solidFill>
          <a:ln/>
        </p:spPr>
      </p:sp>
      <p:pic>
        <p:nvPicPr>
          <p:cNvPr id="10" name="Image 1" descr="preencoded.png"/>
          <p:cNvPicPr>
            <a:picLocks noChangeAspect="1"/>
          </p:cNvPicPr>
          <p:nvPr/>
        </p:nvPicPr>
        <p:blipFill>
          <a:blip r:embed="rId3"/>
          <a:stretch>
            <a:fillRect/>
          </a:stretch>
        </p:blipFill>
        <p:spPr>
          <a:xfrm>
            <a:off x="3074670" y="4720590"/>
            <a:ext cx="388620" cy="388620"/>
          </a:xfrm>
          <a:prstGeom prst="rect">
            <a:avLst/>
          </a:prstGeom>
        </p:spPr>
      </p:pic>
      <p:sp>
        <p:nvSpPr>
          <p:cNvPr id="11" name="Shape 7"/>
          <p:cNvSpPr/>
          <p:nvPr/>
        </p:nvSpPr>
        <p:spPr>
          <a:xfrm>
            <a:off x="4023360" y="4526280"/>
            <a:ext cx="777240" cy="777240"/>
          </a:xfrm>
          <a:prstGeom prst="ellipse">
            <a:avLst/>
          </a:prstGeom>
          <a:solidFill>
            <a:srgbClr val="1B3654"/>
          </a:solidFill>
          <a:ln/>
        </p:spPr>
      </p:sp>
      <p:pic>
        <p:nvPicPr>
          <p:cNvPr id="12" name="Image 2" descr="preencoded.png"/>
          <p:cNvPicPr>
            <a:picLocks noChangeAspect="1"/>
          </p:cNvPicPr>
          <p:nvPr/>
        </p:nvPicPr>
        <p:blipFill>
          <a:blip r:embed="rId3"/>
          <a:stretch>
            <a:fillRect/>
          </a:stretch>
        </p:blipFill>
        <p:spPr>
          <a:xfrm>
            <a:off x="4217670" y="4720590"/>
            <a:ext cx="388620" cy="388620"/>
          </a:xfrm>
          <a:prstGeom prst="rect">
            <a:avLst/>
          </a:prstGeom>
        </p:spPr>
      </p:pic>
      <p:sp>
        <p:nvSpPr>
          <p:cNvPr id="13" name="Shape 8"/>
          <p:cNvSpPr/>
          <p:nvPr/>
        </p:nvSpPr>
        <p:spPr>
          <a:xfrm>
            <a:off x="2514600" y="4914900"/>
            <a:ext cx="365760" cy="0"/>
          </a:xfrm>
          <a:prstGeom prst="line">
            <a:avLst/>
          </a:prstGeom>
          <a:noFill/>
          <a:ln w="25400">
            <a:solidFill>
              <a:srgbClr val="14B8A6"/>
            </a:solidFill>
            <a:prstDash val="solid"/>
          </a:ln>
        </p:spPr>
      </p:sp>
      <p:sp>
        <p:nvSpPr>
          <p:cNvPr id="14" name="Shape 9"/>
          <p:cNvSpPr/>
          <p:nvPr/>
        </p:nvSpPr>
        <p:spPr>
          <a:xfrm>
            <a:off x="3657600" y="4914900"/>
            <a:ext cx="365760" cy="0"/>
          </a:xfrm>
          <a:prstGeom prst="line">
            <a:avLst/>
          </a:prstGeom>
          <a:noFill/>
          <a:ln w="25400">
            <a:solidFill>
              <a:srgbClr val="14B8A6"/>
            </a:solidFill>
            <a:prstDash val="solid"/>
          </a:ln>
        </p:spPr>
      </p:sp>
      <p:sp>
        <p:nvSpPr>
          <p:cNvPr id="15" name="Text 10"/>
          <p:cNvSpPr/>
          <p:nvPr/>
        </p:nvSpPr>
        <p:spPr>
          <a:xfrm>
            <a:off x="822960" y="5623560"/>
            <a:ext cx="5486400" cy="914400"/>
          </a:xfrm>
          <a:prstGeom prst="rect">
            <a:avLst/>
          </a:prstGeom>
          <a:noFill/>
          <a:ln/>
        </p:spPr>
        <p:txBody>
          <a:bodyPr wrap="square" lIns="0" tIns="0" rIns="0" bIns="0" rtlCol="0" anchor="ctr"/>
          <a:lstStyle/>
          <a:p>
            <a:pPr marL="0" indent="0">
              <a:lnSpc>
                <a:spcPct val="130000"/>
              </a:lnSpc>
              <a:buNone/>
            </a:pPr>
            <a:r>
              <a:rPr lang="en-US" sz="1300" dirty="0">
                <a:solidFill>
                  <a:srgbClr val="8FA6C2"/>
                </a:solidFill>
                <a:latin typeface="Calibri" pitchFamily="34" charset="0"/>
                <a:ea typeface="Calibri" pitchFamily="34" charset="-122"/>
                <a:cs typeface="Calibri" pitchFamily="34" charset="-120"/>
              </a:rPr>
              <a:t>Humberto Alejandro Lizana Ventura</a:t>
            </a:r>
            <a:endParaRPr lang="en-US" sz="1300" dirty="0"/>
          </a:p>
          <a:p>
            <a:pPr marL="0" indent="0">
              <a:lnSpc>
                <a:spcPct val="130000"/>
              </a:lnSpc>
              <a:buNone/>
            </a:pPr>
            <a:r>
              <a:rPr lang="en-US" sz="1300" dirty="0">
                <a:solidFill>
                  <a:srgbClr val="8FA6C2"/>
                </a:solidFill>
                <a:latin typeface="Calibri" pitchFamily="34" charset="0"/>
                <a:ea typeface="Calibri" pitchFamily="34" charset="-122"/>
                <a:cs typeface="Calibri" pitchFamily="34" charset="-120"/>
              </a:rPr>
              <a:t>Davel Reymundo Gobea</a:t>
            </a:r>
            <a:endParaRPr lang="en-US" sz="1300" dirty="0"/>
          </a:p>
          <a:p>
            <a:pPr marL="0" indent="0">
              <a:lnSpc>
                <a:spcPct val="130000"/>
              </a:lnSpc>
              <a:buNone/>
            </a:pPr>
            <a:r>
              <a:rPr lang="en-US" sz="1300" dirty="0">
                <a:solidFill>
                  <a:srgbClr val="8FA6C2"/>
                </a:solidFill>
                <a:latin typeface="Calibri" pitchFamily="34" charset="0"/>
                <a:ea typeface="Calibri" pitchFamily="34" charset="-122"/>
                <a:cs typeface="Calibri" pitchFamily="34" charset="-120"/>
              </a:rPr>
              <a:t>Dante Tarraga Usca</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929"/>
        </a:solidFill>
        <a:effectLst/>
      </p:bgPr>
    </p:bg>
    <p:spTree>
      <p:nvGrpSpPr>
        <p:cNvPr id="1" name=""/>
        <p:cNvGrpSpPr/>
        <p:nvPr/>
      </p:nvGrpSpPr>
      <p:grpSpPr>
        <a:xfrm>
          <a:off x="0" y="0"/>
          <a:ext cx="0" cy="0"/>
          <a:chOff x="0" y="0"/>
          <a:chExt cx="0" cy="0"/>
        </a:xfrm>
      </p:grpSpPr>
      <p:sp>
        <p:nvSpPr>
          <p:cNvPr id="2" name="Text 0"/>
          <p:cNvSpPr/>
          <p:nvPr/>
        </p:nvSpPr>
        <p:spPr>
          <a:xfrm>
            <a:off x="548640" y="411480"/>
            <a:ext cx="5486400" cy="320040"/>
          </a:xfrm>
          <a:prstGeom prst="rect">
            <a:avLst/>
          </a:prstGeom>
          <a:noFill/>
          <a:ln/>
        </p:spPr>
        <p:txBody>
          <a:bodyPr wrap="square" lIns="0" tIns="0" rIns="0" bIns="0" rtlCol="0" anchor="ctr"/>
          <a:lstStyle/>
          <a:p>
            <a:pPr marL="0" indent="0">
              <a:buNone/>
            </a:pPr>
            <a:r>
              <a:rPr lang="en-US" sz="1200" b="1" kern="0" spc="200" dirty="0">
                <a:solidFill>
                  <a:srgbClr val="5EEAD4"/>
                </a:solidFill>
                <a:latin typeface="Calibri" pitchFamily="34" charset="0"/>
                <a:ea typeface="Calibri" pitchFamily="34" charset="-122"/>
                <a:cs typeface="Calibri" pitchFamily="34" charset="-120"/>
              </a:rPr>
              <a:t>01 · CONCEPTO</a:t>
            </a:r>
            <a:endParaRPr lang="en-US" sz="1200" dirty="0"/>
          </a:p>
        </p:txBody>
      </p:sp>
      <p:sp>
        <p:nvSpPr>
          <p:cNvPr id="3" name="Text 1"/>
          <p:cNvSpPr/>
          <p:nvPr/>
        </p:nvSpPr>
        <p:spPr>
          <a:xfrm>
            <a:off x="548640" y="713232"/>
            <a:ext cx="8229600" cy="640080"/>
          </a:xfrm>
          <a:prstGeom prst="rect">
            <a:avLst/>
          </a:prstGeom>
          <a:noFill/>
          <a:ln/>
        </p:spPr>
        <p:txBody>
          <a:bodyPr wrap="square" lIns="0" tIns="0" rIns="0" bIns="0" rtlCol="0" anchor="ctr"/>
          <a:lstStyle/>
          <a:p>
            <a:pPr marL="0" indent="0">
              <a:buNone/>
            </a:pPr>
            <a:r>
              <a:rPr lang="en-US" sz="3200" b="1" dirty="0">
                <a:solidFill>
                  <a:srgbClr val="F3F6FA"/>
                </a:solidFill>
                <a:latin typeface="Cambria" pitchFamily="34" charset="0"/>
                <a:ea typeface="Cambria" pitchFamily="34" charset="-122"/>
                <a:cs typeface="Cambria" pitchFamily="34" charset="-120"/>
              </a:rPr>
              <a:t>La idea en una frase</a:t>
            </a:r>
            <a:endParaRPr lang="en-US" sz="3200" dirty="0"/>
          </a:p>
        </p:txBody>
      </p:sp>
      <p:sp>
        <p:nvSpPr>
          <p:cNvPr id="4" name="Text 2"/>
          <p:cNvSpPr/>
          <p:nvPr/>
        </p:nvSpPr>
        <p:spPr>
          <a:xfrm>
            <a:off x="548640" y="1371600"/>
            <a:ext cx="10789920" cy="594360"/>
          </a:xfrm>
          <a:prstGeom prst="rect">
            <a:avLst/>
          </a:prstGeom>
          <a:noFill/>
          <a:ln/>
        </p:spPr>
        <p:txBody>
          <a:bodyPr wrap="square" lIns="0" tIns="0" rIns="0" bIns="0" rtlCol="0" anchor="ctr"/>
          <a:lstStyle/>
          <a:p>
            <a:pPr marL="0" indent="0">
              <a:buNone/>
            </a:pPr>
            <a:r>
              <a:rPr lang="en-US" sz="1400" dirty="0">
                <a:solidFill>
                  <a:srgbClr val="8FA6C2"/>
                </a:solidFill>
                <a:latin typeface="Calibri" pitchFamily="34" charset="0"/>
                <a:ea typeface="Calibri" pitchFamily="34" charset="-122"/>
                <a:cs typeface="Calibri" pitchFamily="34" charset="-120"/>
              </a:rPr>
              <a:t>Un producer publica un mensaje en un topic. El broker genera una copia independiente por cada consumidor suscrito (fan-out). Cada consumidor hace polling y confirma con ACK.</a:t>
            </a:r>
            <a:endParaRPr lang="en-US" sz="1400" dirty="0"/>
          </a:p>
        </p:txBody>
      </p:sp>
      <p:sp>
        <p:nvSpPr>
          <p:cNvPr id="5" name="Shape 3"/>
          <p:cNvSpPr/>
          <p:nvPr/>
        </p:nvSpPr>
        <p:spPr>
          <a:xfrm>
            <a:off x="548640" y="2468880"/>
            <a:ext cx="2011680" cy="1371600"/>
          </a:xfrm>
          <a:prstGeom prst="roundRect">
            <a:avLst>
              <a:gd name="adj" fmla="val 5333"/>
            </a:avLst>
          </a:prstGeom>
          <a:solidFill>
            <a:srgbClr val="13233B"/>
          </a:solidFill>
          <a:ln w="12700">
            <a:solidFill>
              <a:srgbClr val="24405F"/>
            </a:solidFill>
            <a:prstDash val="solid"/>
          </a:ln>
        </p:spPr>
      </p:sp>
      <p:sp>
        <p:nvSpPr>
          <p:cNvPr id="6" name="Shape 4"/>
          <p:cNvSpPr/>
          <p:nvPr/>
        </p:nvSpPr>
        <p:spPr>
          <a:xfrm>
            <a:off x="1051560" y="2633472"/>
            <a:ext cx="502920" cy="502920"/>
          </a:xfrm>
          <a:prstGeom prst="ellipse">
            <a:avLst/>
          </a:prstGeom>
          <a:solidFill>
            <a:srgbClr val="1B3654"/>
          </a:solidFill>
          <a:ln/>
        </p:spPr>
      </p:sp>
      <p:pic>
        <p:nvPicPr>
          <p:cNvPr id="7" name="Image 0" descr="preencoded.png"/>
          <p:cNvPicPr>
            <a:picLocks noChangeAspect="1"/>
          </p:cNvPicPr>
          <p:nvPr/>
        </p:nvPicPr>
        <p:blipFill>
          <a:blip r:embed="rId3"/>
          <a:stretch>
            <a:fillRect/>
          </a:stretch>
        </p:blipFill>
        <p:spPr>
          <a:xfrm>
            <a:off x="1164717" y="2746629"/>
            <a:ext cx="276606" cy="276606"/>
          </a:xfrm>
          <a:prstGeom prst="rect">
            <a:avLst/>
          </a:prstGeom>
        </p:spPr>
      </p:pic>
      <p:sp>
        <p:nvSpPr>
          <p:cNvPr id="8" name="Text 5"/>
          <p:cNvSpPr/>
          <p:nvPr/>
        </p:nvSpPr>
        <p:spPr>
          <a:xfrm>
            <a:off x="548640" y="3218688"/>
            <a:ext cx="2011680" cy="274320"/>
          </a:xfrm>
          <a:prstGeom prst="rect">
            <a:avLst/>
          </a:prstGeom>
          <a:noFill/>
          <a:ln/>
        </p:spPr>
        <p:txBody>
          <a:bodyPr wrap="square" lIns="0" tIns="0" rIns="0" bIns="0" rtlCol="0" anchor="ctr"/>
          <a:lstStyle/>
          <a:p>
            <a:pPr marL="0" indent="0" algn="ctr">
              <a:buNone/>
            </a:pPr>
            <a:r>
              <a:rPr lang="en-US" sz="1300" b="1" dirty="0">
                <a:solidFill>
                  <a:srgbClr val="F3F6FA"/>
                </a:solidFill>
              </a:rPr>
              <a:t>Producer</a:t>
            </a:r>
            <a:endParaRPr lang="en-US" sz="1300" dirty="0"/>
          </a:p>
        </p:txBody>
      </p:sp>
      <p:sp>
        <p:nvSpPr>
          <p:cNvPr id="9" name="Text 6"/>
          <p:cNvSpPr/>
          <p:nvPr/>
        </p:nvSpPr>
        <p:spPr>
          <a:xfrm>
            <a:off x="548640" y="3474720"/>
            <a:ext cx="2011680" cy="274320"/>
          </a:xfrm>
          <a:prstGeom prst="rect">
            <a:avLst/>
          </a:prstGeom>
          <a:noFill/>
          <a:ln/>
        </p:spPr>
        <p:txBody>
          <a:bodyPr wrap="square" lIns="0" tIns="0" rIns="0" bIns="0" rtlCol="0" anchor="ctr"/>
          <a:lstStyle/>
          <a:p>
            <a:pPr marL="0" indent="0" algn="ctr">
              <a:buNone/>
            </a:pPr>
            <a:r>
              <a:rPr lang="en-US" sz="1000" dirty="0">
                <a:solidFill>
                  <a:srgbClr val="8FA6C2"/>
                </a:solidFill>
              </a:rPr>
              <a:t>POST /publish</a:t>
            </a:r>
            <a:endParaRPr lang="en-US" sz="1000" dirty="0"/>
          </a:p>
        </p:txBody>
      </p:sp>
      <p:sp>
        <p:nvSpPr>
          <p:cNvPr id="10" name="Shape 7"/>
          <p:cNvSpPr/>
          <p:nvPr/>
        </p:nvSpPr>
        <p:spPr>
          <a:xfrm>
            <a:off x="2560320" y="3154680"/>
            <a:ext cx="685800" cy="0"/>
          </a:xfrm>
          <a:prstGeom prst="line">
            <a:avLst/>
          </a:prstGeom>
          <a:noFill/>
          <a:ln w="31750">
            <a:solidFill>
              <a:srgbClr val="14B8A6"/>
            </a:solidFill>
            <a:prstDash val="solid"/>
            <a:tailEnd type="triangle"/>
          </a:ln>
        </p:spPr>
      </p:sp>
      <p:sp>
        <p:nvSpPr>
          <p:cNvPr id="11" name="Shape 8"/>
          <p:cNvSpPr/>
          <p:nvPr/>
        </p:nvSpPr>
        <p:spPr>
          <a:xfrm>
            <a:off x="3246120" y="2468880"/>
            <a:ext cx="2103120" cy="1371600"/>
          </a:xfrm>
          <a:prstGeom prst="roundRect">
            <a:avLst>
              <a:gd name="adj" fmla="val 5333"/>
            </a:avLst>
          </a:prstGeom>
          <a:solidFill>
            <a:srgbClr val="0F2A3D"/>
          </a:solidFill>
          <a:ln w="19050">
            <a:solidFill>
              <a:srgbClr val="14B8A6"/>
            </a:solidFill>
            <a:prstDash val="solid"/>
          </a:ln>
        </p:spPr>
      </p:sp>
      <p:sp>
        <p:nvSpPr>
          <p:cNvPr id="12" name="Shape 9"/>
          <p:cNvSpPr/>
          <p:nvPr/>
        </p:nvSpPr>
        <p:spPr>
          <a:xfrm>
            <a:off x="3776472" y="2633472"/>
            <a:ext cx="502920" cy="502920"/>
          </a:xfrm>
          <a:prstGeom prst="ellipse">
            <a:avLst/>
          </a:prstGeom>
          <a:solidFill>
            <a:srgbClr val="0B3A3A"/>
          </a:solidFill>
          <a:ln/>
        </p:spPr>
      </p:sp>
      <p:pic>
        <p:nvPicPr>
          <p:cNvPr id="13" name="Image 1" descr="preencoded.png"/>
          <p:cNvPicPr>
            <a:picLocks noChangeAspect="1"/>
          </p:cNvPicPr>
          <p:nvPr/>
        </p:nvPicPr>
        <p:blipFill>
          <a:blip r:embed="rId4"/>
          <a:stretch>
            <a:fillRect/>
          </a:stretch>
        </p:blipFill>
        <p:spPr>
          <a:xfrm>
            <a:off x="3889629" y="2746629"/>
            <a:ext cx="276606" cy="276606"/>
          </a:xfrm>
          <a:prstGeom prst="rect">
            <a:avLst/>
          </a:prstGeom>
        </p:spPr>
      </p:pic>
      <p:sp>
        <p:nvSpPr>
          <p:cNvPr id="14" name="Text 10"/>
          <p:cNvSpPr/>
          <p:nvPr/>
        </p:nvSpPr>
        <p:spPr>
          <a:xfrm>
            <a:off x="3246120" y="3218688"/>
            <a:ext cx="2103120" cy="274320"/>
          </a:xfrm>
          <a:prstGeom prst="rect">
            <a:avLst/>
          </a:prstGeom>
          <a:noFill/>
          <a:ln/>
        </p:spPr>
        <p:txBody>
          <a:bodyPr wrap="square" lIns="0" tIns="0" rIns="0" bIns="0" rtlCol="0" anchor="ctr"/>
          <a:lstStyle/>
          <a:p>
            <a:pPr marL="0" indent="0" algn="ctr">
              <a:buNone/>
            </a:pPr>
            <a:r>
              <a:rPr lang="en-US" sz="1300" b="1" dirty="0">
                <a:solidFill>
                  <a:srgbClr val="F3F6FA"/>
                </a:solidFill>
              </a:rPr>
              <a:t>Topic “orders”</a:t>
            </a:r>
            <a:endParaRPr lang="en-US" sz="1300" dirty="0"/>
          </a:p>
        </p:txBody>
      </p:sp>
      <p:sp>
        <p:nvSpPr>
          <p:cNvPr id="15" name="Text 11"/>
          <p:cNvSpPr/>
          <p:nvPr/>
        </p:nvSpPr>
        <p:spPr>
          <a:xfrm>
            <a:off x="3246120" y="3474720"/>
            <a:ext cx="2103120" cy="274320"/>
          </a:xfrm>
          <a:prstGeom prst="rect">
            <a:avLst/>
          </a:prstGeom>
          <a:noFill/>
          <a:ln/>
        </p:spPr>
        <p:txBody>
          <a:bodyPr wrap="square" lIns="0" tIns="0" rIns="0" bIns="0" rtlCol="0" anchor="ctr"/>
          <a:lstStyle/>
          <a:p>
            <a:pPr marL="0" indent="0" algn="ctr">
              <a:buNone/>
            </a:pPr>
            <a:r>
              <a:rPr lang="en-US" sz="1000" dirty="0">
                <a:solidFill>
                  <a:srgbClr val="5EEAD4"/>
                </a:solidFill>
              </a:rPr>
              <a:t>fan-out</a:t>
            </a:r>
            <a:endParaRPr lang="en-US" sz="1000" dirty="0"/>
          </a:p>
        </p:txBody>
      </p:sp>
      <p:sp>
        <p:nvSpPr>
          <p:cNvPr id="16" name="Shape 12"/>
          <p:cNvSpPr/>
          <p:nvPr/>
        </p:nvSpPr>
        <p:spPr>
          <a:xfrm>
            <a:off x="5623560" y="3154680"/>
            <a:ext cx="822960" cy="0"/>
          </a:xfrm>
          <a:prstGeom prst="line">
            <a:avLst/>
          </a:prstGeom>
          <a:noFill/>
          <a:ln w="25400">
            <a:solidFill>
              <a:srgbClr val="F2A65A"/>
            </a:solidFill>
            <a:prstDash val="solid"/>
            <a:tailEnd type="triangle"/>
          </a:ln>
        </p:spPr>
      </p:sp>
      <p:sp>
        <p:nvSpPr>
          <p:cNvPr id="17" name="Shape 13"/>
          <p:cNvSpPr/>
          <p:nvPr/>
        </p:nvSpPr>
        <p:spPr>
          <a:xfrm>
            <a:off x="6492240" y="1965960"/>
            <a:ext cx="2331720" cy="731520"/>
          </a:xfrm>
          <a:prstGeom prst="roundRect">
            <a:avLst>
              <a:gd name="adj" fmla="val 10000"/>
            </a:avLst>
          </a:prstGeom>
          <a:solidFill>
            <a:srgbClr val="13233B"/>
          </a:solidFill>
          <a:ln w="12700">
            <a:solidFill>
              <a:srgbClr val="24405F"/>
            </a:solidFill>
            <a:prstDash val="solid"/>
          </a:ln>
        </p:spPr>
      </p:sp>
      <p:sp>
        <p:nvSpPr>
          <p:cNvPr id="18" name="Text 14"/>
          <p:cNvSpPr/>
          <p:nvPr/>
        </p:nvSpPr>
        <p:spPr>
          <a:xfrm>
            <a:off x="6675120" y="2039112"/>
            <a:ext cx="2011680" cy="274320"/>
          </a:xfrm>
          <a:prstGeom prst="rect">
            <a:avLst/>
          </a:prstGeom>
          <a:noFill/>
          <a:ln/>
        </p:spPr>
        <p:txBody>
          <a:bodyPr wrap="square" lIns="0" tIns="0" rIns="0" bIns="0" rtlCol="0" anchor="ctr"/>
          <a:lstStyle/>
          <a:p>
            <a:pPr marL="0" indent="0">
              <a:buNone/>
            </a:pPr>
            <a:r>
              <a:rPr lang="en-US" sz="1200" b="1" dirty="0">
                <a:solidFill>
                  <a:srgbClr val="F3F6FA"/>
                </a:solidFill>
              </a:rPr>
              <a:t>Consumer A</a:t>
            </a:r>
            <a:endParaRPr lang="en-US" sz="1200" dirty="0"/>
          </a:p>
        </p:txBody>
      </p:sp>
      <p:sp>
        <p:nvSpPr>
          <p:cNvPr id="19" name="Text 15"/>
          <p:cNvSpPr/>
          <p:nvPr/>
        </p:nvSpPr>
        <p:spPr>
          <a:xfrm>
            <a:off x="6675120" y="2331720"/>
            <a:ext cx="2011680" cy="274320"/>
          </a:xfrm>
          <a:prstGeom prst="rect">
            <a:avLst/>
          </a:prstGeom>
          <a:noFill/>
          <a:ln/>
        </p:spPr>
        <p:txBody>
          <a:bodyPr wrap="square" lIns="0" tIns="0" rIns="0" bIns="0" rtlCol="0" anchor="ctr"/>
          <a:lstStyle/>
          <a:p>
            <a:pPr marL="0" indent="0">
              <a:buNone/>
            </a:pPr>
            <a:r>
              <a:rPr lang="en-US" sz="950" dirty="0">
                <a:solidFill>
                  <a:srgbClr val="FBCB8E"/>
                </a:solidFill>
              </a:rPr>
              <a:t>Delivery: PENDING</a:t>
            </a:r>
            <a:endParaRPr lang="en-US" sz="950" dirty="0"/>
          </a:p>
        </p:txBody>
      </p:sp>
      <p:sp>
        <p:nvSpPr>
          <p:cNvPr id="20" name="Shape 16"/>
          <p:cNvSpPr/>
          <p:nvPr/>
        </p:nvSpPr>
        <p:spPr>
          <a:xfrm>
            <a:off x="5623560" y="3154680"/>
            <a:ext cx="822960" cy="0"/>
          </a:xfrm>
          <a:prstGeom prst="line">
            <a:avLst/>
          </a:prstGeom>
          <a:noFill/>
          <a:ln w="25400">
            <a:solidFill>
              <a:srgbClr val="F2A65A"/>
            </a:solidFill>
            <a:prstDash val="solid"/>
            <a:tailEnd type="triangle"/>
          </a:ln>
        </p:spPr>
      </p:sp>
      <p:sp>
        <p:nvSpPr>
          <p:cNvPr id="21" name="Shape 17"/>
          <p:cNvSpPr/>
          <p:nvPr/>
        </p:nvSpPr>
        <p:spPr>
          <a:xfrm>
            <a:off x="6492240" y="2788920"/>
            <a:ext cx="2331720" cy="731520"/>
          </a:xfrm>
          <a:prstGeom prst="roundRect">
            <a:avLst>
              <a:gd name="adj" fmla="val 10000"/>
            </a:avLst>
          </a:prstGeom>
          <a:solidFill>
            <a:srgbClr val="13233B"/>
          </a:solidFill>
          <a:ln w="12700">
            <a:solidFill>
              <a:srgbClr val="24405F"/>
            </a:solidFill>
            <a:prstDash val="solid"/>
          </a:ln>
        </p:spPr>
      </p:sp>
      <p:sp>
        <p:nvSpPr>
          <p:cNvPr id="22" name="Text 18"/>
          <p:cNvSpPr/>
          <p:nvPr/>
        </p:nvSpPr>
        <p:spPr>
          <a:xfrm>
            <a:off x="6675120" y="2862072"/>
            <a:ext cx="2011680" cy="274320"/>
          </a:xfrm>
          <a:prstGeom prst="rect">
            <a:avLst/>
          </a:prstGeom>
          <a:noFill/>
          <a:ln/>
        </p:spPr>
        <p:txBody>
          <a:bodyPr wrap="square" lIns="0" tIns="0" rIns="0" bIns="0" rtlCol="0" anchor="ctr"/>
          <a:lstStyle/>
          <a:p>
            <a:pPr marL="0" indent="0">
              <a:buNone/>
            </a:pPr>
            <a:r>
              <a:rPr lang="en-US" sz="1200" b="1" dirty="0">
                <a:solidFill>
                  <a:srgbClr val="F3F6FA"/>
                </a:solidFill>
              </a:rPr>
              <a:t>Consumer B</a:t>
            </a:r>
            <a:endParaRPr lang="en-US" sz="1200" dirty="0"/>
          </a:p>
        </p:txBody>
      </p:sp>
      <p:sp>
        <p:nvSpPr>
          <p:cNvPr id="23" name="Text 19"/>
          <p:cNvSpPr/>
          <p:nvPr/>
        </p:nvSpPr>
        <p:spPr>
          <a:xfrm>
            <a:off x="6675120" y="3154680"/>
            <a:ext cx="2011680" cy="274320"/>
          </a:xfrm>
          <a:prstGeom prst="rect">
            <a:avLst/>
          </a:prstGeom>
          <a:noFill/>
          <a:ln/>
        </p:spPr>
        <p:txBody>
          <a:bodyPr wrap="square" lIns="0" tIns="0" rIns="0" bIns="0" rtlCol="0" anchor="ctr"/>
          <a:lstStyle/>
          <a:p>
            <a:pPr marL="0" indent="0">
              <a:buNone/>
            </a:pPr>
            <a:r>
              <a:rPr lang="en-US" sz="950" dirty="0">
                <a:solidFill>
                  <a:srgbClr val="FBCB8E"/>
                </a:solidFill>
              </a:rPr>
              <a:t>Delivery: PENDING</a:t>
            </a:r>
            <a:endParaRPr lang="en-US" sz="950" dirty="0"/>
          </a:p>
        </p:txBody>
      </p:sp>
      <p:sp>
        <p:nvSpPr>
          <p:cNvPr id="24" name="Shape 20"/>
          <p:cNvSpPr/>
          <p:nvPr/>
        </p:nvSpPr>
        <p:spPr>
          <a:xfrm>
            <a:off x="5623560" y="3154680"/>
            <a:ext cx="822960" cy="1188720"/>
          </a:xfrm>
          <a:prstGeom prst="line">
            <a:avLst/>
          </a:prstGeom>
          <a:noFill/>
          <a:ln w="25400">
            <a:solidFill>
              <a:srgbClr val="F2A65A"/>
            </a:solidFill>
            <a:prstDash val="solid"/>
            <a:tailEnd type="triangle"/>
          </a:ln>
        </p:spPr>
      </p:sp>
      <p:sp>
        <p:nvSpPr>
          <p:cNvPr id="25" name="Shape 21"/>
          <p:cNvSpPr/>
          <p:nvPr/>
        </p:nvSpPr>
        <p:spPr>
          <a:xfrm>
            <a:off x="6492240" y="3977640"/>
            <a:ext cx="2331720" cy="731520"/>
          </a:xfrm>
          <a:prstGeom prst="roundRect">
            <a:avLst>
              <a:gd name="adj" fmla="val 10000"/>
            </a:avLst>
          </a:prstGeom>
          <a:solidFill>
            <a:srgbClr val="13233B"/>
          </a:solidFill>
          <a:ln w="12700">
            <a:solidFill>
              <a:srgbClr val="24405F"/>
            </a:solidFill>
            <a:prstDash val="solid"/>
          </a:ln>
        </p:spPr>
      </p:sp>
      <p:sp>
        <p:nvSpPr>
          <p:cNvPr id="26" name="Text 22"/>
          <p:cNvSpPr/>
          <p:nvPr/>
        </p:nvSpPr>
        <p:spPr>
          <a:xfrm>
            <a:off x="6675120" y="4050792"/>
            <a:ext cx="2011680" cy="274320"/>
          </a:xfrm>
          <a:prstGeom prst="rect">
            <a:avLst/>
          </a:prstGeom>
          <a:noFill/>
          <a:ln/>
        </p:spPr>
        <p:txBody>
          <a:bodyPr wrap="square" lIns="0" tIns="0" rIns="0" bIns="0" rtlCol="0" anchor="ctr"/>
          <a:lstStyle/>
          <a:p>
            <a:pPr marL="0" indent="0">
              <a:buNone/>
            </a:pPr>
            <a:r>
              <a:rPr lang="en-US" sz="1200" b="1" dirty="0">
                <a:solidFill>
                  <a:srgbClr val="F3F6FA"/>
                </a:solidFill>
              </a:rPr>
              <a:t>Consumer C</a:t>
            </a:r>
            <a:endParaRPr lang="en-US" sz="1200" dirty="0"/>
          </a:p>
        </p:txBody>
      </p:sp>
      <p:sp>
        <p:nvSpPr>
          <p:cNvPr id="27" name="Text 23"/>
          <p:cNvSpPr/>
          <p:nvPr/>
        </p:nvSpPr>
        <p:spPr>
          <a:xfrm>
            <a:off x="6675120" y="4343400"/>
            <a:ext cx="2011680" cy="274320"/>
          </a:xfrm>
          <a:prstGeom prst="rect">
            <a:avLst/>
          </a:prstGeom>
          <a:noFill/>
          <a:ln/>
        </p:spPr>
        <p:txBody>
          <a:bodyPr wrap="square" lIns="0" tIns="0" rIns="0" bIns="0" rtlCol="0" anchor="ctr"/>
          <a:lstStyle/>
          <a:p>
            <a:pPr marL="0" indent="0">
              <a:buNone/>
            </a:pPr>
            <a:r>
              <a:rPr lang="en-US" sz="950" dirty="0">
                <a:solidFill>
                  <a:srgbClr val="FBCB8E"/>
                </a:solidFill>
              </a:rPr>
              <a:t>Delivery: PENDING</a:t>
            </a:r>
            <a:endParaRPr lang="en-US" sz="950" dirty="0"/>
          </a:p>
        </p:txBody>
      </p:sp>
      <p:sp>
        <p:nvSpPr>
          <p:cNvPr id="28" name="Shape 24"/>
          <p:cNvSpPr/>
          <p:nvPr/>
        </p:nvSpPr>
        <p:spPr>
          <a:xfrm>
            <a:off x="8823960" y="4663440"/>
            <a:ext cx="1234440" cy="0"/>
          </a:xfrm>
          <a:prstGeom prst="line">
            <a:avLst/>
          </a:prstGeom>
          <a:noFill/>
          <a:ln w="25400">
            <a:solidFill>
              <a:srgbClr val="14B8A6"/>
            </a:solidFill>
            <a:prstDash val="solid"/>
            <a:tailEnd type="triangle"/>
          </a:ln>
        </p:spPr>
      </p:sp>
      <p:sp>
        <p:nvSpPr>
          <p:cNvPr id="29" name="Text 25"/>
          <p:cNvSpPr/>
          <p:nvPr/>
        </p:nvSpPr>
        <p:spPr>
          <a:xfrm>
            <a:off x="6492240" y="4754880"/>
            <a:ext cx="2743200" cy="274320"/>
          </a:xfrm>
          <a:prstGeom prst="rect">
            <a:avLst/>
          </a:prstGeom>
          <a:noFill/>
          <a:ln/>
        </p:spPr>
        <p:txBody>
          <a:bodyPr wrap="square" lIns="0" tIns="0" rIns="0" bIns="0" rtlCol="0" anchor="ctr"/>
          <a:lstStyle/>
          <a:p>
            <a:pPr marL="0" indent="0">
              <a:buNone/>
            </a:pPr>
            <a:r>
              <a:rPr lang="en-US" sz="1050" dirty="0">
                <a:solidFill>
                  <a:srgbClr val="8FA6C2"/>
                </a:solidFill>
              </a:rPr>
              <a:t>GET /consume  →  DELIVERED</a:t>
            </a:r>
            <a:endParaRPr lang="en-US" sz="1050" dirty="0"/>
          </a:p>
        </p:txBody>
      </p:sp>
      <p:sp>
        <p:nvSpPr>
          <p:cNvPr id="30" name="Text 26"/>
          <p:cNvSpPr/>
          <p:nvPr/>
        </p:nvSpPr>
        <p:spPr>
          <a:xfrm>
            <a:off x="6492240" y="5074920"/>
            <a:ext cx="2743200" cy="274320"/>
          </a:xfrm>
          <a:prstGeom prst="rect">
            <a:avLst/>
          </a:prstGeom>
          <a:noFill/>
          <a:ln/>
        </p:spPr>
        <p:txBody>
          <a:bodyPr wrap="square" lIns="0" tIns="0" rIns="0" bIns="0" rtlCol="0" anchor="ctr"/>
          <a:lstStyle/>
          <a:p>
            <a:pPr marL="0" indent="0">
              <a:buNone/>
            </a:pPr>
            <a:r>
              <a:rPr lang="en-US" sz="1050" dirty="0">
                <a:solidFill>
                  <a:srgbClr val="8FA6C2"/>
                </a:solidFill>
              </a:rPr>
              <a:t>POST /ack  →  ACKED</a:t>
            </a:r>
            <a:endParaRPr lang="en-US" sz="1050" dirty="0"/>
          </a:p>
        </p:txBody>
      </p:sp>
      <p:sp>
        <p:nvSpPr>
          <p:cNvPr id="31" name="Text 27"/>
          <p:cNvSpPr/>
          <p:nvPr/>
        </p:nvSpPr>
        <p:spPr>
          <a:xfrm>
            <a:off x="548640" y="5989320"/>
            <a:ext cx="7772400" cy="365760"/>
          </a:xfrm>
          <a:prstGeom prst="rect">
            <a:avLst/>
          </a:prstGeom>
          <a:noFill/>
          <a:ln/>
        </p:spPr>
        <p:txBody>
          <a:bodyPr wrap="square" lIns="0" tIns="0" rIns="0" bIns="0" rtlCol="0" anchor="ctr"/>
          <a:lstStyle/>
          <a:p>
            <a:pPr marL="0" indent="0">
              <a:buNone/>
            </a:pPr>
            <a:r>
              <a:rPr lang="en-US" sz="1150" i="1" dirty="0">
                <a:solidFill>
                  <a:srgbClr val="5EEAD4"/>
                </a:solidFill>
              </a:rPr>
              <a:t>Modelo pull, igual que basic.get en RabbitMQ: publicar no entrega; el consumidor pide.</a:t>
            </a:r>
            <a:endParaRPr lang="en-US" sz="1150" dirty="0"/>
          </a:p>
        </p:txBody>
      </p:sp>
      <p:sp>
        <p:nvSpPr>
          <p:cNvPr id="32" name="Text 28"/>
          <p:cNvSpPr/>
          <p:nvPr/>
        </p:nvSpPr>
        <p:spPr>
          <a:xfrm>
            <a:off x="11000232" y="6400800"/>
            <a:ext cx="914400" cy="274320"/>
          </a:xfrm>
          <a:prstGeom prst="rect">
            <a:avLst/>
          </a:prstGeom>
          <a:noFill/>
          <a:ln/>
        </p:spPr>
        <p:txBody>
          <a:bodyPr wrap="square" lIns="0" tIns="0" rIns="0" bIns="0" rtlCol="0" anchor="ctr"/>
          <a:lstStyle/>
          <a:p>
            <a:pPr marL="0" indent="0" algn="r">
              <a:buNone/>
            </a:pPr>
            <a:r>
              <a:rPr lang="en-US" sz="1000" dirty="0">
                <a:solidFill>
                  <a:srgbClr val="8FA6C2"/>
                </a:solidFill>
              </a:rPr>
              <a:t>02 / 12</a:t>
            </a:r>
            <a:endParaRPr lang="en-US" sz="1000" dirty="0"/>
          </a:p>
        </p:txBody>
      </p:sp>
      <p:sp>
        <p:nvSpPr>
          <p:cNvPr id="33" name="Text 29"/>
          <p:cNvSpPr/>
          <p:nvPr/>
        </p:nvSpPr>
        <p:spPr>
          <a:xfrm>
            <a:off x="457200" y="6400800"/>
            <a:ext cx="4572000" cy="274320"/>
          </a:xfrm>
          <a:prstGeom prst="rect">
            <a:avLst/>
          </a:prstGeom>
          <a:noFill/>
          <a:ln/>
        </p:spPr>
        <p:txBody>
          <a:bodyPr wrap="square" lIns="0" tIns="0" rIns="0" bIns="0" rtlCol="0" anchor="ctr"/>
          <a:lstStyle/>
          <a:p>
            <a:pPr marL="0" indent="0">
              <a:buNone/>
            </a:pPr>
            <a:r>
              <a:rPr lang="en-US" sz="1000" kern="0" spc="100" dirty="0">
                <a:solidFill>
                  <a:srgbClr val="8FA6C2"/>
                </a:solidFill>
              </a:rPr>
              <a:t>MINI BROKER DE MENSAJES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929"/>
        </a:solidFill>
        <a:effectLst/>
      </p:bgPr>
    </p:bg>
    <p:spTree>
      <p:nvGrpSpPr>
        <p:cNvPr id="1" name=""/>
        <p:cNvGrpSpPr/>
        <p:nvPr/>
      </p:nvGrpSpPr>
      <p:grpSpPr>
        <a:xfrm>
          <a:off x="0" y="0"/>
          <a:ext cx="0" cy="0"/>
          <a:chOff x="0" y="0"/>
          <a:chExt cx="0" cy="0"/>
        </a:xfrm>
      </p:grpSpPr>
      <p:sp>
        <p:nvSpPr>
          <p:cNvPr id="2" name="Text 0"/>
          <p:cNvSpPr/>
          <p:nvPr/>
        </p:nvSpPr>
        <p:spPr>
          <a:xfrm>
            <a:off x="548640" y="411480"/>
            <a:ext cx="5486400" cy="320040"/>
          </a:xfrm>
          <a:prstGeom prst="rect">
            <a:avLst/>
          </a:prstGeom>
          <a:noFill/>
          <a:ln/>
        </p:spPr>
        <p:txBody>
          <a:bodyPr wrap="square" lIns="0" tIns="0" rIns="0" bIns="0" rtlCol="0" anchor="ctr"/>
          <a:lstStyle/>
          <a:p>
            <a:pPr marL="0" indent="0">
              <a:buNone/>
            </a:pPr>
            <a:r>
              <a:rPr lang="en-US" sz="1200" b="1" kern="0" spc="200" dirty="0">
                <a:solidFill>
                  <a:srgbClr val="5EEAD4"/>
                </a:solidFill>
                <a:latin typeface="Calibri" pitchFamily="34" charset="0"/>
                <a:ea typeface="Calibri" pitchFamily="34" charset="-122"/>
                <a:cs typeface="Calibri" pitchFamily="34" charset="-120"/>
              </a:rPr>
              <a:t>02 · ARQUITECTURA</a:t>
            </a:r>
            <a:endParaRPr lang="en-US" sz="1200" dirty="0"/>
          </a:p>
        </p:txBody>
      </p:sp>
      <p:sp>
        <p:nvSpPr>
          <p:cNvPr id="3" name="Text 1"/>
          <p:cNvSpPr/>
          <p:nvPr/>
        </p:nvSpPr>
        <p:spPr>
          <a:xfrm>
            <a:off x="548640" y="713232"/>
            <a:ext cx="10515600" cy="640080"/>
          </a:xfrm>
          <a:prstGeom prst="rect">
            <a:avLst/>
          </a:prstGeom>
          <a:noFill/>
          <a:ln/>
        </p:spPr>
        <p:txBody>
          <a:bodyPr wrap="square" lIns="0" tIns="0" rIns="0" bIns="0" rtlCol="0" anchor="ctr"/>
          <a:lstStyle/>
          <a:p>
            <a:pPr marL="0" indent="0">
              <a:buNone/>
            </a:pPr>
            <a:r>
              <a:rPr lang="en-US" sz="2700" b="1" dirty="0">
                <a:solidFill>
                  <a:srgbClr val="F3F6FA"/>
                </a:solidFill>
                <a:latin typeface="Cambria" pitchFamily="34" charset="0"/>
                <a:ea typeface="Cambria" pitchFamily="34" charset="-122"/>
                <a:cs typeface="Cambria" pitchFamily="34" charset="-120"/>
              </a:rPr>
              <a:t>Arquitectura hexagonal: capas que dependen hacia adentro</a:t>
            </a:r>
            <a:endParaRPr lang="en-US" sz="2700" dirty="0"/>
          </a:p>
        </p:txBody>
      </p:sp>
      <p:sp>
        <p:nvSpPr>
          <p:cNvPr id="4" name="Shape 2"/>
          <p:cNvSpPr/>
          <p:nvPr/>
        </p:nvSpPr>
        <p:spPr>
          <a:xfrm>
            <a:off x="548640" y="1691640"/>
            <a:ext cx="2606040" cy="3931920"/>
          </a:xfrm>
          <a:prstGeom prst="roundRect">
            <a:avLst>
              <a:gd name="adj" fmla="val 3509"/>
            </a:avLst>
          </a:prstGeom>
          <a:solidFill>
            <a:srgbClr val="13233B"/>
          </a:solidFill>
          <a:ln w="12700">
            <a:solidFill>
              <a:srgbClr val="24405F"/>
            </a:solidFill>
            <a:prstDash val="solid"/>
          </a:ln>
        </p:spPr>
      </p:sp>
      <p:sp>
        <p:nvSpPr>
          <p:cNvPr id="5" name="Shape 3"/>
          <p:cNvSpPr/>
          <p:nvPr/>
        </p:nvSpPr>
        <p:spPr>
          <a:xfrm>
            <a:off x="1531620" y="1965960"/>
            <a:ext cx="640080" cy="640080"/>
          </a:xfrm>
          <a:prstGeom prst="ellipse">
            <a:avLst/>
          </a:prstGeom>
          <a:solidFill>
            <a:srgbClr val="1B3654"/>
          </a:solidFill>
          <a:ln/>
        </p:spPr>
      </p:sp>
      <p:pic>
        <p:nvPicPr>
          <p:cNvPr id="6" name="Image 0" descr="preencoded.png"/>
          <p:cNvPicPr>
            <a:picLocks noChangeAspect="1"/>
          </p:cNvPicPr>
          <p:nvPr/>
        </p:nvPicPr>
        <p:blipFill>
          <a:blip r:embed="rId3"/>
          <a:stretch>
            <a:fillRect/>
          </a:stretch>
        </p:blipFill>
        <p:spPr>
          <a:xfrm>
            <a:off x="1675638" y="2109978"/>
            <a:ext cx="352044" cy="352044"/>
          </a:xfrm>
          <a:prstGeom prst="rect">
            <a:avLst/>
          </a:prstGeom>
        </p:spPr>
      </p:pic>
      <p:sp>
        <p:nvSpPr>
          <p:cNvPr id="7" name="Text 4"/>
          <p:cNvSpPr/>
          <p:nvPr/>
        </p:nvSpPr>
        <p:spPr>
          <a:xfrm>
            <a:off x="685800" y="2788920"/>
            <a:ext cx="2331720" cy="365760"/>
          </a:xfrm>
          <a:prstGeom prst="rect">
            <a:avLst/>
          </a:prstGeom>
          <a:noFill/>
          <a:ln/>
        </p:spPr>
        <p:txBody>
          <a:bodyPr wrap="square" lIns="0" tIns="0" rIns="0" bIns="0" rtlCol="0" anchor="ctr"/>
          <a:lstStyle/>
          <a:p>
            <a:pPr marL="0" indent="0" algn="ctr">
              <a:buNone/>
            </a:pPr>
            <a:r>
              <a:rPr lang="en-US" sz="1500" b="1" dirty="0">
                <a:solidFill>
                  <a:srgbClr val="F3F6FA"/>
                </a:solidFill>
              </a:rPr>
              <a:t>Adapters IN</a:t>
            </a:r>
            <a:endParaRPr lang="en-US" sz="1500" dirty="0"/>
          </a:p>
        </p:txBody>
      </p:sp>
      <p:sp>
        <p:nvSpPr>
          <p:cNvPr id="8" name="Text 5"/>
          <p:cNvSpPr/>
          <p:nvPr/>
        </p:nvSpPr>
        <p:spPr>
          <a:xfrm>
            <a:off x="685800" y="3172968"/>
            <a:ext cx="2331720" cy="502920"/>
          </a:xfrm>
          <a:prstGeom prst="rect">
            <a:avLst/>
          </a:prstGeom>
          <a:noFill/>
          <a:ln/>
        </p:spPr>
        <p:txBody>
          <a:bodyPr wrap="square" lIns="0" tIns="0" rIns="0" bIns="0" rtlCol="0" anchor="ctr"/>
          <a:lstStyle/>
          <a:p>
            <a:pPr marL="0" indent="0" algn="ctr">
              <a:buNone/>
            </a:pPr>
            <a:r>
              <a:rPr lang="en-US" sz="950" dirty="0">
                <a:solidFill>
                  <a:srgbClr val="5EEAD4"/>
                </a:solidFill>
                <a:latin typeface="Courier New" pitchFamily="34" charset="0"/>
                <a:ea typeface="Courier New" pitchFamily="34" charset="-122"/>
                <a:cs typeface="Courier New" pitchFamily="34" charset="-120"/>
              </a:rPr>
              <a:t>adapter.in.web</a:t>
            </a:r>
            <a:endParaRPr lang="en-US" sz="950" dirty="0"/>
          </a:p>
        </p:txBody>
      </p:sp>
      <p:sp>
        <p:nvSpPr>
          <p:cNvPr id="9" name="Text 6"/>
          <p:cNvSpPr/>
          <p:nvPr/>
        </p:nvSpPr>
        <p:spPr>
          <a:xfrm>
            <a:off x="777240" y="3840480"/>
            <a:ext cx="2148840" cy="1463040"/>
          </a:xfrm>
          <a:prstGeom prst="rect">
            <a:avLst/>
          </a:prstGeom>
          <a:noFill/>
          <a:ln/>
        </p:spPr>
        <p:txBody>
          <a:bodyPr wrap="square" lIns="0" tIns="0" rIns="0" bIns="0" rtlCol="0" anchor="ctr"/>
          <a:lstStyle/>
          <a:p>
            <a:pPr marL="0" indent="0" algn="ctr">
              <a:buNone/>
            </a:pPr>
            <a:r>
              <a:rPr lang="en-US" sz="1050" dirty="0">
                <a:solidFill>
                  <a:srgbClr val="8FA6C2"/>
                </a:solidFill>
              </a:rPr>
              <a:t>Controllers REST, DTOs. Traduce HTTP a casos de uso.</a:t>
            </a:r>
            <a:endParaRPr lang="en-US" sz="1050" dirty="0"/>
          </a:p>
        </p:txBody>
      </p:sp>
      <p:sp>
        <p:nvSpPr>
          <p:cNvPr id="10" name="Shape 7"/>
          <p:cNvSpPr/>
          <p:nvPr/>
        </p:nvSpPr>
        <p:spPr>
          <a:xfrm>
            <a:off x="3172968" y="3657600"/>
            <a:ext cx="192024" cy="0"/>
          </a:xfrm>
          <a:prstGeom prst="line">
            <a:avLst/>
          </a:prstGeom>
          <a:noFill/>
          <a:ln w="25400">
            <a:solidFill>
              <a:srgbClr val="14B8A6"/>
            </a:solidFill>
            <a:prstDash val="solid"/>
            <a:tailEnd type="triangle"/>
          </a:ln>
        </p:spPr>
      </p:sp>
      <p:sp>
        <p:nvSpPr>
          <p:cNvPr id="11" name="Shape 8"/>
          <p:cNvSpPr/>
          <p:nvPr/>
        </p:nvSpPr>
        <p:spPr>
          <a:xfrm>
            <a:off x="3383280" y="1691640"/>
            <a:ext cx="2606040" cy="3931920"/>
          </a:xfrm>
          <a:prstGeom prst="roundRect">
            <a:avLst>
              <a:gd name="adj" fmla="val 3509"/>
            </a:avLst>
          </a:prstGeom>
          <a:solidFill>
            <a:srgbClr val="13233B"/>
          </a:solidFill>
          <a:ln w="12700">
            <a:solidFill>
              <a:srgbClr val="24405F"/>
            </a:solidFill>
            <a:prstDash val="solid"/>
          </a:ln>
        </p:spPr>
      </p:sp>
      <p:sp>
        <p:nvSpPr>
          <p:cNvPr id="12" name="Shape 9"/>
          <p:cNvSpPr/>
          <p:nvPr/>
        </p:nvSpPr>
        <p:spPr>
          <a:xfrm>
            <a:off x="4366260" y="1965960"/>
            <a:ext cx="640080" cy="640080"/>
          </a:xfrm>
          <a:prstGeom prst="ellipse">
            <a:avLst/>
          </a:prstGeom>
          <a:solidFill>
            <a:srgbClr val="1B3654"/>
          </a:solidFill>
          <a:ln/>
        </p:spPr>
      </p:sp>
      <p:pic>
        <p:nvPicPr>
          <p:cNvPr id="13" name="Image 1" descr="preencoded.png"/>
          <p:cNvPicPr>
            <a:picLocks noChangeAspect="1"/>
          </p:cNvPicPr>
          <p:nvPr/>
        </p:nvPicPr>
        <p:blipFill>
          <a:blip r:embed="rId4"/>
          <a:stretch>
            <a:fillRect/>
          </a:stretch>
        </p:blipFill>
        <p:spPr>
          <a:xfrm>
            <a:off x="4510278" y="2109978"/>
            <a:ext cx="352044" cy="352044"/>
          </a:xfrm>
          <a:prstGeom prst="rect">
            <a:avLst/>
          </a:prstGeom>
        </p:spPr>
      </p:pic>
      <p:sp>
        <p:nvSpPr>
          <p:cNvPr id="14" name="Text 10"/>
          <p:cNvSpPr/>
          <p:nvPr/>
        </p:nvSpPr>
        <p:spPr>
          <a:xfrm>
            <a:off x="3520440" y="2788920"/>
            <a:ext cx="2331720" cy="365760"/>
          </a:xfrm>
          <a:prstGeom prst="rect">
            <a:avLst/>
          </a:prstGeom>
          <a:noFill/>
          <a:ln/>
        </p:spPr>
        <p:txBody>
          <a:bodyPr wrap="square" lIns="0" tIns="0" rIns="0" bIns="0" rtlCol="0" anchor="ctr"/>
          <a:lstStyle/>
          <a:p>
            <a:pPr marL="0" indent="0" algn="ctr">
              <a:buNone/>
            </a:pPr>
            <a:r>
              <a:rPr lang="en-US" sz="1500" b="1" dirty="0">
                <a:solidFill>
                  <a:srgbClr val="F3F6FA"/>
                </a:solidFill>
              </a:rPr>
              <a:t>Application</a:t>
            </a:r>
            <a:endParaRPr lang="en-US" sz="1500" dirty="0"/>
          </a:p>
        </p:txBody>
      </p:sp>
      <p:sp>
        <p:nvSpPr>
          <p:cNvPr id="15" name="Text 11"/>
          <p:cNvSpPr/>
          <p:nvPr/>
        </p:nvSpPr>
        <p:spPr>
          <a:xfrm>
            <a:off x="3520440" y="3172968"/>
            <a:ext cx="2331720" cy="502920"/>
          </a:xfrm>
          <a:prstGeom prst="rect">
            <a:avLst/>
          </a:prstGeom>
          <a:noFill/>
          <a:ln/>
        </p:spPr>
        <p:txBody>
          <a:bodyPr wrap="square" lIns="0" tIns="0" rIns="0" bIns="0" rtlCol="0" anchor="ctr"/>
          <a:lstStyle/>
          <a:p>
            <a:pPr marL="0" indent="0" algn="ctr">
              <a:buNone/>
            </a:pPr>
            <a:r>
              <a:rPr lang="en-US" sz="950" dirty="0">
                <a:solidFill>
                  <a:srgbClr val="5EEAD4"/>
                </a:solidFill>
                <a:latin typeface="Courier New" pitchFamily="34" charset="0"/>
                <a:ea typeface="Courier New" pitchFamily="34" charset="-122"/>
                <a:cs typeface="Courier New" pitchFamily="34" charset="-120"/>
              </a:rPr>
              <a:t>port.in / port.out / service</a:t>
            </a:r>
            <a:endParaRPr lang="en-US" sz="950" dirty="0"/>
          </a:p>
        </p:txBody>
      </p:sp>
      <p:sp>
        <p:nvSpPr>
          <p:cNvPr id="16" name="Text 12"/>
          <p:cNvSpPr/>
          <p:nvPr/>
        </p:nvSpPr>
        <p:spPr>
          <a:xfrm>
            <a:off x="3611880" y="3840480"/>
            <a:ext cx="2148840" cy="1463040"/>
          </a:xfrm>
          <a:prstGeom prst="rect">
            <a:avLst/>
          </a:prstGeom>
          <a:noFill/>
          <a:ln/>
        </p:spPr>
        <p:txBody>
          <a:bodyPr wrap="square" lIns="0" tIns="0" rIns="0" bIns="0" rtlCol="0" anchor="ctr"/>
          <a:lstStyle/>
          <a:p>
            <a:pPr marL="0" indent="0" algn="ctr">
              <a:buNone/>
            </a:pPr>
            <a:r>
              <a:rPr lang="en-US" sz="1050" dirty="0">
                <a:solidFill>
                  <a:srgbClr val="8FA6C2"/>
                </a:solidFill>
              </a:rPr>
              <a:t>Casos de uso: orquesta domain + puertos de salida.</a:t>
            </a:r>
            <a:endParaRPr lang="en-US" sz="1050" dirty="0"/>
          </a:p>
        </p:txBody>
      </p:sp>
      <p:sp>
        <p:nvSpPr>
          <p:cNvPr id="17" name="Shape 13"/>
          <p:cNvSpPr/>
          <p:nvPr/>
        </p:nvSpPr>
        <p:spPr>
          <a:xfrm>
            <a:off x="6007608" y="3657600"/>
            <a:ext cx="192024" cy="0"/>
          </a:xfrm>
          <a:prstGeom prst="line">
            <a:avLst/>
          </a:prstGeom>
          <a:noFill/>
          <a:ln w="25400">
            <a:solidFill>
              <a:srgbClr val="14B8A6"/>
            </a:solidFill>
            <a:prstDash val="solid"/>
            <a:tailEnd type="triangle"/>
          </a:ln>
        </p:spPr>
      </p:sp>
      <p:sp>
        <p:nvSpPr>
          <p:cNvPr id="18" name="Shape 14"/>
          <p:cNvSpPr/>
          <p:nvPr/>
        </p:nvSpPr>
        <p:spPr>
          <a:xfrm>
            <a:off x="6217920" y="1691640"/>
            <a:ext cx="2606040" cy="3931920"/>
          </a:xfrm>
          <a:prstGeom prst="roundRect">
            <a:avLst>
              <a:gd name="adj" fmla="val 3509"/>
            </a:avLst>
          </a:prstGeom>
          <a:solidFill>
            <a:srgbClr val="0F2A3D"/>
          </a:solidFill>
          <a:ln w="22225">
            <a:solidFill>
              <a:srgbClr val="14B8A6"/>
            </a:solidFill>
            <a:prstDash val="solid"/>
          </a:ln>
        </p:spPr>
      </p:sp>
      <p:sp>
        <p:nvSpPr>
          <p:cNvPr id="19" name="Shape 15"/>
          <p:cNvSpPr/>
          <p:nvPr/>
        </p:nvSpPr>
        <p:spPr>
          <a:xfrm>
            <a:off x="7200900" y="1965960"/>
            <a:ext cx="640080" cy="640080"/>
          </a:xfrm>
          <a:prstGeom prst="ellipse">
            <a:avLst/>
          </a:prstGeom>
          <a:solidFill>
            <a:srgbClr val="0B3A3A"/>
          </a:solidFill>
          <a:ln/>
        </p:spPr>
      </p:sp>
      <p:pic>
        <p:nvPicPr>
          <p:cNvPr id="20" name="Image 2" descr="preencoded.png"/>
          <p:cNvPicPr>
            <a:picLocks noChangeAspect="1"/>
          </p:cNvPicPr>
          <p:nvPr/>
        </p:nvPicPr>
        <p:blipFill>
          <a:blip r:embed="rId5"/>
          <a:stretch>
            <a:fillRect/>
          </a:stretch>
        </p:blipFill>
        <p:spPr>
          <a:xfrm>
            <a:off x="7344918" y="2109978"/>
            <a:ext cx="352044" cy="352044"/>
          </a:xfrm>
          <a:prstGeom prst="rect">
            <a:avLst/>
          </a:prstGeom>
        </p:spPr>
      </p:pic>
      <p:sp>
        <p:nvSpPr>
          <p:cNvPr id="21" name="Text 16"/>
          <p:cNvSpPr/>
          <p:nvPr/>
        </p:nvSpPr>
        <p:spPr>
          <a:xfrm>
            <a:off x="6355080" y="2788920"/>
            <a:ext cx="2331720" cy="365760"/>
          </a:xfrm>
          <a:prstGeom prst="rect">
            <a:avLst/>
          </a:prstGeom>
          <a:noFill/>
          <a:ln/>
        </p:spPr>
        <p:txBody>
          <a:bodyPr wrap="square" lIns="0" tIns="0" rIns="0" bIns="0" rtlCol="0" anchor="ctr"/>
          <a:lstStyle/>
          <a:p>
            <a:pPr marL="0" indent="0" algn="ctr">
              <a:buNone/>
            </a:pPr>
            <a:r>
              <a:rPr lang="en-US" sz="1500" b="1" dirty="0">
                <a:solidFill>
                  <a:srgbClr val="F3F6FA"/>
                </a:solidFill>
              </a:rPr>
              <a:t>Domain</a:t>
            </a:r>
            <a:endParaRPr lang="en-US" sz="1500" dirty="0"/>
          </a:p>
        </p:txBody>
      </p:sp>
      <p:sp>
        <p:nvSpPr>
          <p:cNvPr id="22" name="Text 17"/>
          <p:cNvSpPr/>
          <p:nvPr/>
        </p:nvSpPr>
        <p:spPr>
          <a:xfrm>
            <a:off x="6355080" y="3172968"/>
            <a:ext cx="2331720" cy="502920"/>
          </a:xfrm>
          <a:prstGeom prst="rect">
            <a:avLst/>
          </a:prstGeom>
          <a:noFill/>
          <a:ln/>
        </p:spPr>
        <p:txBody>
          <a:bodyPr wrap="square" lIns="0" tIns="0" rIns="0" bIns="0" rtlCol="0" anchor="ctr"/>
          <a:lstStyle/>
          <a:p>
            <a:pPr marL="0" indent="0" algn="ctr">
              <a:buNone/>
            </a:pPr>
            <a:r>
              <a:rPr lang="en-US" sz="950" dirty="0">
                <a:solidFill>
                  <a:srgbClr val="5EEAD4"/>
                </a:solidFill>
                <a:latin typeface="Courier New" pitchFamily="34" charset="0"/>
                <a:ea typeface="Courier New" pitchFamily="34" charset="-122"/>
                <a:cs typeface="Courier New" pitchFamily="34" charset="-120"/>
              </a:rPr>
              <a:t>model / service / exception</a:t>
            </a:r>
            <a:endParaRPr lang="en-US" sz="950" dirty="0"/>
          </a:p>
        </p:txBody>
      </p:sp>
      <p:sp>
        <p:nvSpPr>
          <p:cNvPr id="23" name="Text 18"/>
          <p:cNvSpPr/>
          <p:nvPr/>
        </p:nvSpPr>
        <p:spPr>
          <a:xfrm>
            <a:off x="6446520" y="3840480"/>
            <a:ext cx="2148840" cy="1463040"/>
          </a:xfrm>
          <a:prstGeom prst="rect">
            <a:avLst/>
          </a:prstGeom>
          <a:noFill/>
          <a:ln/>
        </p:spPr>
        <p:txBody>
          <a:bodyPr wrap="square" lIns="0" tIns="0" rIns="0" bIns="0" rtlCol="0" anchor="ctr"/>
          <a:lstStyle/>
          <a:p>
            <a:pPr marL="0" indent="0" algn="ctr">
              <a:buNone/>
            </a:pPr>
            <a:r>
              <a:rPr lang="en-US" sz="1050" dirty="0">
                <a:solidFill>
                  <a:srgbClr val="8FA6C2"/>
                </a:solidFill>
              </a:rPr>
              <a:t>Java puro. Cero Spring, cero HTTP, cero persistencia.</a:t>
            </a:r>
            <a:endParaRPr lang="en-US" sz="1050" dirty="0"/>
          </a:p>
        </p:txBody>
      </p:sp>
      <p:sp>
        <p:nvSpPr>
          <p:cNvPr id="24" name="Shape 19"/>
          <p:cNvSpPr/>
          <p:nvPr/>
        </p:nvSpPr>
        <p:spPr>
          <a:xfrm>
            <a:off x="8842248" y="3657600"/>
            <a:ext cx="192024" cy="0"/>
          </a:xfrm>
          <a:prstGeom prst="line">
            <a:avLst/>
          </a:prstGeom>
          <a:noFill/>
          <a:ln w="25400">
            <a:solidFill>
              <a:srgbClr val="14B8A6"/>
            </a:solidFill>
            <a:prstDash val="solid"/>
            <a:tailEnd type="triangle"/>
          </a:ln>
        </p:spPr>
      </p:sp>
      <p:sp>
        <p:nvSpPr>
          <p:cNvPr id="25" name="Shape 20"/>
          <p:cNvSpPr/>
          <p:nvPr/>
        </p:nvSpPr>
        <p:spPr>
          <a:xfrm>
            <a:off x="9052560" y="1691640"/>
            <a:ext cx="2606040" cy="3931920"/>
          </a:xfrm>
          <a:prstGeom prst="roundRect">
            <a:avLst>
              <a:gd name="adj" fmla="val 3509"/>
            </a:avLst>
          </a:prstGeom>
          <a:solidFill>
            <a:srgbClr val="13233B"/>
          </a:solidFill>
          <a:ln w="12700">
            <a:solidFill>
              <a:srgbClr val="24405F"/>
            </a:solidFill>
            <a:prstDash val="solid"/>
          </a:ln>
        </p:spPr>
      </p:sp>
      <p:sp>
        <p:nvSpPr>
          <p:cNvPr id="26" name="Shape 21"/>
          <p:cNvSpPr/>
          <p:nvPr/>
        </p:nvSpPr>
        <p:spPr>
          <a:xfrm>
            <a:off x="10035540" y="1965960"/>
            <a:ext cx="640080" cy="640080"/>
          </a:xfrm>
          <a:prstGeom prst="ellipse">
            <a:avLst/>
          </a:prstGeom>
          <a:solidFill>
            <a:srgbClr val="1B3654"/>
          </a:solidFill>
          <a:ln/>
        </p:spPr>
      </p:sp>
      <p:pic>
        <p:nvPicPr>
          <p:cNvPr id="27" name="Image 3" descr="preencoded.png"/>
          <p:cNvPicPr>
            <a:picLocks noChangeAspect="1"/>
          </p:cNvPicPr>
          <p:nvPr/>
        </p:nvPicPr>
        <p:blipFill>
          <a:blip r:embed="rId6"/>
          <a:stretch>
            <a:fillRect/>
          </a:stretch>
        </p:blipFill>
        <p:spPr>
          <a:xfrm>
            <a:off x="10179558" y="2109978"/>
            <a:ext cx="352044" cy="352044"/>
          </a:xfrm>
          <a:prstGeom prst="rect">
            <a:avLst/>
          </a:prstGeom>
        </p:spPr>
      </p:pic>
      <p:sp>
        <p:nvSpPr>
          <p:cNvPr id="28" name="Text 22"/>
          <p:cNvSpPr/>
          <p:nvPr/>
        </p:nvSpPr>
        <p:spPr>
          <a:xfrm>
            <a:off x="9189720" y="2788920"/>
            <a:ext cx="2331720" cy="365760"/>
          </a:xfrm>
          <a:prstGeom prst="rect">
            <a:avLst/>
          </a:prstGeom>
          <a:noFill/>
          <a:ln/>
        </p:spPr>
        <p:txBody>
          <a:bodyPr wrap="square" lIns="0" tIns="0" rIns="0" bIns="0" rtlCol="0" anchor="ctr"/>
          <a:lstStyle/>
          <a:p>
            <a:pPr marL="0" indent="0" algn="ctr">
              <a:buNone/>
            </a:pPr>
            <a:r>
              <a:rPr lang="en-US" sz="1500" b="1" dirty="0">
                <a:solidFill>
                  <a:srgbClr val="F3F6FA"/>
                </a:solidFill>
              </a:rPr>
              <a:t>Adapters OUT</a:t>
            </a:r>
            <a:endParaRPr lang="en-US" sz="1500" dirty="0"/>
          </a:p>
        </p:txBody>
      </p:sp>
      <p:sp>
        <p:nvSpPr>
          <p:cNvPr id="29" name="Text 23"/>
          <p:cNvSpPr/>
          <p:nvPr/>
        </p:nvSpPr>
        <p:spPr>
          <a:xfrm>
            <a:off x="9189720" y="3172968"/>
            <a:ext cx="2331720" cy="502920"/>
          </a:xfrm>
          <a:prstGeom prst="rect">
            <a:avLst/>
          </a:prstGeom>
          <a:noFill/>
          <a:ln/>
        </p:spPr>
        <p:txBody>
          <a:bodyPr wrap="square" lIns="0" tIns="0" rIns="0" bIns="0" rtlCol="0" anchor="ctr"/>
          <a:lstStyle/>
          <a:p>
            <a:pPr marL="0" indent="0" algn="ctr">
              <a:buNone/>
            </a:pPr>
            <a:r>
              <a:rPr lang="en-US" sz="950" dirty="0">
                <a:solidFill>
                  <a:srgbClr val="5EEAD4"/>
                </a:solidFill>
                <a:latin typeface="Courier New" pitchFamily="34" charset="0"/>
                <a:ea typeface="Courier New" pitchFamily="34" charset="-122"/>
                <a:cs typeface="Courier New" pitchFamily="34" charset="-120"/>
              </a:rPr>
              <a:t>persistence · observability</a:t>
            </a:r>
            <a:endParaRPr lang="en-US" sz="950" dirty="0"/>
          </a:p>
        </p:txBody>
      </p:sp>
      <p:sp>
        <p:nvSpPr>
          <p:cNvPr id="30" name="Text 24"/>
          <p:cNvSpPr/>
          <p:nvPr/>
        </p:nvSpPr>
        <p:spPr>
          <a:xfrm>
            <a:off x="9281160" y="3840480"/>
            <a:ext cx="2148840" cy="1463040"/>
          </a:xfrm>
          <a:prstGeom prst="rect">
            <a:avLst/>
          </a:prstGeom>
          <a:noFill/>
          <a:ln/>
        </p:spPr>
        <p:txBody>
          <a:bodyPr wrap="square" lIns="0" tIns="0" rIns="0" bIns="0" rtlCol="0" anchor="ctr"/>
          <a:lstStyle/>
          <a:p>
            <a:pPr marL="0" indent="0" algn="ctr">
              <a:buNone/>
            </a:pPr>
            <a:r>
              <a:rPr lang="en-US" sz="1050" dirty="0">
                <a:solidFill>
                  <a:srgbClr val="8FA6C2"/>
                </a:solidFill>
              </a:rPr>
              <a:t>Memoria, JPA/H2, logging y métricas.</a:t>
            </a:r>
            <a:endParaRPr lang="en-US" sz="1050" dirty="0"/>
          </a:p>
        </p:txBody>
      </p:sp>
      <p:sp>
        <p:nvSpPr>
          <p:cNvPr id="31" name="Text 25"/>
          <p:cNvSpPr/>
          <p:nvPr/>
        </p:nvSpPr>
        <p:spPr>
          <a:xfrm>
            <a:off x="548640" y="5897880"/>
            <a:ext cx="11064240" cy="365760"/>
          </a:xfrm>
          <a:prstGeom prst="rect">
            <a:avLst/>
          </a:prstGeom>
          <a:noFill/>
          <a:ln/>
        </p:spPr>
        <p:txBody>
          <a:bodyPr wrap="square" lIns="0" tIns="0" rIns="0" bIns="0" rtlCol="0" anchor="ctr"/>
          <a:lstStyle/>
          <a:p>
            <a:pPr marL="0" indent="0">
              <a:buNone/>
            </a:pPr>
            <a:r>
              <a:rPr lang="en-US" sz="1100" b="1" dirty="0">
                <a:solidFill>
                  <a:srgbClr val="8FA6C2"/>
                </a:solidFill>
              </a:rPr>
              <a:t>Verificado con grep real, no solo un diagrama:  </a:t>
            </a:r>
            <a:r>
              <a:rPr lang="en-US" sz="1100" dirty="0">
                <a:solidFill>
                  <a:srgbClr val="5EEAD4"/>
                </a:solidFill>
                <a:latin typeface="Courier New" pitchFamily="34" charset="0"/>
                <a:ea typeface="Courier New" pitchFamily="34" charset="-122"/>
                <a:cs typeface="Courier New" pitchFamily="34" charset="-120"/>
              </a:rPr>
              <a:t>grep -rn "org.springframework" domain/</a:t>
            </a:r>
            <a:r>
              <a:rPr lang="en-US" sz="1100" dirty="0">
                <a:solidFill>
                  <a:srgbClr val="8FA6C2"/>
                </a:solidFill>
              </a:rPr>
              <a:t>  → 0 resultados</a:t>
            </a:r>
            <a:endParaRPr lang="en-US" sz="1100" dirty="0"/>
          </a:p>
        </p:txBody>
      </p:sp>
      <p:sp>
        <p:nvSpPr>
          <p:cNvPr id="32" name="Text 26"/>
          <p:cNvSpPr/>
          <p:nvPr/>
        </p:nvSpPr>
        <p:spPr>
          <a:xfrm>
            <a:off x="11000232" y="6400800"/>
            <a:ext cx="914400" cy="274320"/>
          </a:xfrm>
          <a:prstGeom prst="rect">
            <a:avLst/>
          </a:prstGeom>
          <a:noFill/>
          <a:ln/>
        </p:spPr>
        <p:txBody>
          <a:bodyPr wrap="square" lIns="0" tIns="0" rIns="0" bIns="0" rtlCol="0" anchor="ctr"/>
          <a:lstStyle/>
          <a:p>
            <a:pPr marL="0" indent="0" algn="r">
              <a:buNone/>
            </a:pPr>
            <a:r>
              <a:rPr lang="en-US" sz="1000" dirty="0">
                <a:solidFill>
                  <a:srgbClr val="8FA6C2"/>
                </a:solidFill>
              </a:rPr>
              <a:t>03 / 12</a:t>
            </a:r>
            <a:endParaRPr lang="en-US" sz="1000" dirty="0"/>
          </a:p>
        </p:txBody>
      </p:sp>
      <p:sp>
        <p:nvSpPr>
          <p:cNvPr id="33" name="Text 27"/>
          <p:cNvSpPr/>
          <p:nvPr/>
        </p:nvSpPr>
        <p:spPr>
          <a:xfrm>
            <a:off x="457200" y="6400800"/>
            <a:ext cx="4572000" cy="274320"/>
          </a:xfrm>
          <a:prstGeom prst="rect">
            <a:avLst/>
          </a:prstGeom>
          <a:noFill/>
          <a:ln/>
        </p:spPr>
        <p:txBody>
          <a:bodyPr wrap="square" lIns="0" tIns="0" rIns="0" bIns="0" rtlCol="0" anchor="ctr"/>
          <a:lstStyle/>
          <a:p>
            <a:pPr marL="0" indent="0">
              <a:buNone/>
            </a:pPr>
            <a:r>
              <a:rPr lang="en-US" sz="1000" kern="0" spc="100" dirty="0">
                <a:solidFill>
                  <a:srgbClr val="8FA6C2"/>
                </a:solidFill>
              </a:rPr>
              <a:t>MINI BROKER DE MENSAJES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929"/>
        </a:solidFill>
        <a:effectLst/>
      </p:bgPr>
    </p:bg>
    <p:spTree>
      <p:nvGrpSpPr>
        <p:cNvPr id="1" name=""/>
        <p:cNvGrpSpPr/>
        <p:nvPr/>
      </p:nvGrpSpPr>
      <p:grpSpPr>
        <a:xfrm>
          <a:off x="0" y="0"/>
          <a:ext cx="0" cy="0"/>
          <a:chOff x="0" y="0"/>
          <a:chExt cx="0" cy="0"/>
        </a:xfrm>
      </p:grpSpPr>
      <p:sp>
        <p:nvSpPr>
          <p:cNvPr id="2" name="Text 0"/>
          <p:cNvSpPr/>
          <p:nvPr/>
        </p:nvSpPr>
        <p:spPr>
          <a:xfrm>
            <a:off x="548640" y="411480"/>
            <a:ext cx="5486400" cy="320040"/>
          </a:xfrm>
          <a:prstGeom prst="rect">
            <a:avLst/>
          </a:prstGeom>
          <a:noFill/>
          <a:ln/>
        </p:spPr>
        <p:txBody>
          <a:bodyPr wrap="square" lIns="0" tIns="0" rIns="0" bIns="0" rtlCol="0" anchor="ctr"/>
          <a:lstStyle/>
          <a:p>
            <a:pPr marL="0" indent="0">
              <a:buNone/>
            </a:pPr>
            <a:r>
              <a:rPr lang="en-US" sz="1200" b="1" kern="0" spc="200" dirty="0">
                <a:solidFill>
                  <a:srgbClr val="5EEAD4"/>
                </a:solidFill>
                <a:latin typeface="Calibri" pitchFamily="34" charset="0"/>
                <a:ea typeface="Calibri" pitchFamily="34" charset="-122"/>
                <a:cs typeface="Calibri" pitchFamily="34" charset="-120"/>
              </a:rPr>
              <a:t>03 · MODELO DE DOMINIO</a:t>
            </a:r>
            <a:endParaRPr lang="en-US" sz="1200" dirty="0"/>
          </a:p>
        </p:txBody>
      </p:sp>
      <p:sp>
        <p:nvSpPr>
          <p:cNvPr id="3" name="Text 1"/>
          <p:cNvSpPr/>
          <p:nvPr/>
        </p:nvSpPr>
        <p:spPr>
          <a:xfrm>
            <a:off x="548640" y="713232"/>
            <a:ext cx="8229600" cy="640080"/>
          </a:xfrm>
          <a:prstGeom prst="rect">
            <a:avLst/>
          </a:prstGeom>
          <a:noFill/>
          <a:ln/>
        </p:spPr>
        <p:txBody>
          <a:bodyPr wrap="square" lIns="0" tIns="0" rIns="0" bIns="0" rtlCol="0" anchor="ctr"/>
          <a:lstStyle/>
          <a:p>
            <a:pPr marL="0" indent="0">
              <a:buNone/>
            </a:pPr>
            <a:r>
              <a:rPr lang="en-US" sz="3000" b="1" dirty="0">
                <a:solidFill>
                  <a:srgbClr val="F3F6FA"/>
                </a:solidFill>
                <a:latin typeface="Cambria" pitchFamily="34" charset="0"/>
                <a:ea typeface="Cambria" pitchFamily="34" charset="-122"/>
                <a:cs typeface="Cambria" pitchFamily="34" charset="-120"/>
              </a:rPr>
              <a:t>Message vs. MessageDelivery</a:t>
            </a:r>
            <a:endParaRPr lang="en-US" sz="3000" dirty="0"/>
          </a:p>
        </p:txBody>
      </p:sp>
      <p:sp>
        <p:nvSpPr>
          <p:cNvPr id="4" name="Text 2"/>
          <p:cNvSpPr/>
          <p:nvPr/>
        </p:nvSpPr>
        <p:spPr>
          <a:xfrm>
            <a:off x="548640" y="1353312"/>
            <a:ext cx="10515600" cy="365760"/>
          </a:xfrm>
          <a:prstGeom prst="rect">
            <a:avLst/>
          </a:prstGeom>
          <a:noFill/>
          <a:ln/>
        </p:spPr>
        <p:txBody>
          <a:bodyPr wrap="square" lIns="0" tIns="0" rIns="0" bIns="0" rtlCol="0" anchor="ctr"/>
          <a:lstStyle/>
          <a:p>
            <a:pPr marL="0" indent="0">
              <a:buNone/>
            </a:pPr>
            <a:r>
              <a:rPr lang="en-US" sz="1300" dirty="0">
                <a:solidFill>
                  <a:srgbClr val="8FA6C2"/>
                </a:solidFill>
              </a:rPr>
              <a:t>Si 3 consumidores están suscritos a un topic, cada uno necesita su propio estado de entrega.</a:t>
            </a:r>
            <a:endParaRPr lang="en-US" sz="1300" dirty="0"/>
          </a:p>
        </p:txBody>
      </p:sp>
      <p:sp>
        <p:nvSpPr>
          <p:cNvPr id="5" name="Shape 3"/>
          <p:cNvSpPr/>
          <p:nvPr/>
        </p:nvSpPr>
        <p:spPr>
          <a:xfrm>
            <a:off x="548640" y="1965960"/>
            <a:ext cx="5303520" cy="3429000"/>
          </a:xfrm>
          <a:prstGeom prst="roundRect">
            <a:avLst>
              <a:gd name="adj" fmla="val 2667"/>
            </a:avLst>
          </a:prstGeom>
          <a:solidFill>
            <a:srgbClr val="13233B"/>
          </a:solidFill>
          <a:ln w="12700">
            <a:solidFill>
              <a:srgbClr val="24405F"/>
            </a:solidFill>
            <a:prstDash val="solid"/>
          </a:ln>
        </p:spPr>
      </p:sp>
      <p:sp>
        <p:nvSpPr>
          <p:cNvPr id="6" name="Shape 4"/>
          <p:cNvSpPr/>
          <p:nvPr/>
        </p:nvSpPr>
        <p:spPr>
          <a:xfrm>
            <a:off x="868680" y="2286000"/>
            <a:ext cx="594360" cy="594360"/>
          </a:xfrm>
          <a:prstGeom prst="ellipse">
            <a:avLst/>
          </a:prstGeom>
          <a:solidFill>
            <a:srgbClr val="1B3654"/>
          </a:solidFill>
          <a:ln/>
        </p:spPr>
      </p:sp>
      <p:pic>
        <p:nvPicPr>
          <p:cNvPr id="7" name="Image 0" descr="preencoded.png"/>
          <p:cNvPicPr>
            <a:picLocks noChangeAspect="1"/>
          </p:cNvPicPr>
          <p:nvPr/>
        </p:nvPicPr>
        <p:blipFill>
          <a:blip r:embed="rId3"/>
          <a:stretch>
            <a:fillRect/>
          </a:stretch>
        </p:blipFill>
        <p:spPr>
          <a:xfrm>
            <a:off x="1002411" y="2419731"/>
            <a:ext cx="326898" cy="326898"/>
          </a:xfrm>
          <a:prstGeom prst="rect">
            <a:avLst/>
          </a:prstGeom>
        </p:spPr>
      </p:pic>
      <p:sp>
        <p:nvSpPr>
          <p:cNvPr id="8" name="Text 5"/>
          <p:cNvSpPr/>
          <p:nvPr/>
        </p:nvSpPr>
        <p:spPr>
          <a:xfrm>
            <a:off x="1600200" y="2331720"/>
            <a:ext cx="3657600" cy="457200"/>
          </a:xfrm>
          <a:prstGeom prst="rect">
            <a:avLst/>
          </a:prstGeom>
          <a:noFill/>
          <a:ln/>
        </p:spPr>
        <p:txBody>
          <a:bodyPr wrap="square" lIns="0" tIns="0" rIns="0" bIns="0" rtlCol="0" anchor="ctr"/>
          <a:lstStyle/>
          <a:p>
            <a:pPr marL="0" indent="0">
              <a:buNone/>
            </a:pPr>
            <a:r>
              <a:rPr lang="en-US" sz="1900" b="1" dirty="0">
                <a:solidFill>
                  <a:srgbClr val="F3F6FA"/>
                </a:solidFill>
              </a:rPr>
              <a:t>Message</a:t>
            </a:r>
            <a:endParaRPr lang="en-US" sz="1900" dirty="0"/>
          </a:p>
        </p:txBody>
      </p:sp>
      <p:sp>
        <p:nvSpPr>
          <p:cNvPr id="9" name="Text 6"/>
          <p:cNvSpPr/>
          <p:nvPr/>
        </p:nvSpPr>
        <p:spPr>
          <a:xfrm>
            <a:off x="1600200" y="2715768"/>
            <a:ext cx="3657600" cy="320040"/>
          </a:xfrm>
          <a:prstGeom prst="rect">
            <a:avLst/>
          </a:prstGeom>
          <a:noFill/>
          <a:ln/>
        </p:spPr>
        <p:txBody>
          <a:bodyPr wrap="square" lIns="0" tIns="0" rIns="0" bIns="0" rtlCol="0" anchor="ctr"/>
          <a:lstStyle/>
          <a:p>
            <a:pPr marL="0" indent="0">
              <a:buNone/>
            </a:pPr>
            <a:r>
              <a:rPr lang="en-US" sz="1100" dirty="0">
                <a:solidFill>
                  <a:srgbClr val="5EEAD4"/>
                </a:solidFill>
              </a:rPr>
              <a:t>Inmutable · una copia por topic</a:t>
            </a:r>
            <a:endParaRPr lang="en-US" sz="1100" dirty="0"/>
          </a:p>
        </p:txBody>
      </p:sp>
      <p:sp>
        <p:nvSpPr>
          <p:cNvPr id="10" name="Text 7"/>
          <p:cNvSpPr/>
          <p:nvPr/>
        </p:nvSpPr>
        <p:spPr>
          <a:xfrm>
            <a:off x="868680" y="3337560"/>
            <a:ext cx="4663440" cy="1828800"/>
          </a:xfrm>
          <a:prstGeom prst="rect">
            <a:avLst/>
          </a:prstGeom>
          <a:noFill/>
          <a:ln/>
        </p:spPr>
        <p:txBody>
          <a:bodyPr wrap="square" lIns="0" tIns="0" rIns="0" bIns="0" rtlCol="0" anchor="ctr"/>
          <a:lstStyle/>
          <a:p>
            <a:pPr marL="342900" indent="-342900">
              <a:spcAft>
                <a:spcPts val="1000"/>
              </a:spcAft>
              <a:buSzPct val="100000"/>
              <a:buChar char="•"/>
            </a:pPr>
            <a:r>
              <a:rPr lang="en-US" sz="1250" dirty="0">
                <a:solidFill>
                  <a:srgbClr val="8FA6C2"/>
                </a:solidFill>
              </a:rPr>
              <a:t>id, topicName, payload, producerId, publishedAt</a:t>
            </a:r>
            <a:endParaRPr lang="en-US" sz="1250" dirty="0"/>
          </a:p>
          <a:p>
            <a:pPr marL="342900" indent="-342900">
              <a:spcAft>
                <a:spcPts val="1000"/>
              </a:spcAft>
              <a:buSzPct val="100000"/>
              <a:buChar char="•"/>
            </a:pPr>
            <a:r>
              <a:rPr lang="en-US" sz="1250" dirty="0">
                <a:solidFill>
                  <a:srgbClr val="8FA6C2"/>
                </a:solidFill>
              </a:rPr>
              <a:t>Se crea una única vez al publicar</a:t>
            </a:r>
            <a:endParaRPr lang="en-US" sz="1250" dirty="0"/>
          </a:p>
          <a:p>
            <a:pPr marL="342900" indent="-342900">
              <a:spcAft>
                <a:spcPts val="1000"/>
              </a:spcAft>
              <a:buSzPct val="100000"/>
              <a:buChar char="•"/>
            </a:pPr>
            <a:r>
              <a:rPr lang="en-US" sz="1250" dirty="0">
                <a:solidFill>
                  <a:srgbClr val="8FA6C2"/>
                </a:solidFill>
              </a:rPr>
              <a:t>El contenido nunca cambia</a:t>
            </a:r>
            <a:endParaRPr lang="en-US" sz="1250" dirty="0"/>
          </a:p>
        </p:txBody>
      </p:sp>
      <p:sp>
        <p:nvSpPr>
          <p:cNvPr id="11" name="Shape 8"/>
          <p:cNvSpPr/>
          <p:nvPr/>
        </p:nvSpPr>
        <p:spPr>
          <a:xfrm>
            <a:off x="6126480" y="1965960"/>
            <a:ext cx="5440680" cy="3429000"/>
          </a:xfrm>
          <a:prstGeom prst="roundRect">
            <a:avLst>
              <a:gd name="adj" fmla="val 2667"/>
            </a:avLst>
          </a:prstGeom>
          <a:solidFill>
            <a:srgbClr val="2A2440"/>
          </a:solidFill>
          <a:ln w="19050">
            <a:solidFill>
              <a:srgbClr val="F2A65A"/>
            </a:solidFill>
            <a:prstDash val="solid"/>
          </a:ln>
        </p:spPr>
      </p:sp>
      <p:sp>
        <p:nvSpPr>
          <p:cNvPr id="12" name="Shape 9"/>
          <p:cNvSpPr/>
          <p:nvPr/>
        </p:nvSpPr>
        <p:spPr>
          <a:xfrm>
            <a:off x="6446520" y="2286000"/>
            <a:ext cx="594360" cy="594360"/>
          </a:xfrm>
          <a:prstGeom prst="ellipse">
            <a:avLst/>
          </a:prstGeom>
          <a:solidFill>
            <a:srgbClr val="3A2E1E"/>
          </a:solidFill>
          <a:ln/>
        </p:spPr>
      </p:sp>
      <p:pic>
        <p:nvPicPr>
          <p:cNvPr id="13" name="Image 1" descr="preencoded.png"/>
          <p:cNvPicPr>
            <a:picLocks noChangeAspect="1"/>
          </p:cNvPicPr>
          <p:nvPr/>
        </p:nvPicPr>
        <p:blipFill>
          <a:blip r:embed="rId3"/>
          <a:stretch>
            <a:fillRect/>
          </a:stretch>
        </p:blipFill>
        <p:spPr>
          <a:xfrm>
            <a:off x="6580251" y="2419731"/>
            <a:ext cx="326898" cy="326898"/>
          </a:xfrm>
          <a:prstGeom prst="rect">
            <a:avLst/>
          </a:prstGeom>
        </p:spPr>
      </p:pic>
      <p:sp>
        <p:nvSpPr>
          <p:cNvPr id="14" name="Text 10"/>
          <p:cNvSpPr/>
          <p:nvPr/>
        </p:nvSpPr>
        <p:spPr>
          <a:xfrm>
            <a:off x="7178040" y="2331720"/>
            <a:ext cx="4206240" cy="457200"/>
          </a:xfrm>
          <a:prstGeom prst="rect">
            <a:avLst/>
          </a:prstGeom>
          <a:noFill/>
          <a:ln/>
        </p:spPr>
        <p:txBody>
          <a:bodyPr wrap="square" lIns="0" tIns="0" rIns="0" bIns="0" rtlCol="0" anchor="ctr"/>
          <a:lstStyle/>
          <a:p>
            <a:pPr marL="0" indent="0">
              <a:buNone/>
            </a:pPr>
            <a:r>
              <a:rPr lang="en-US" sz="1900" b="1" dirty="0">
                <a:solidFill>
                  <a:srgbClr val="F3F6FA"/>
                </a:solidFill>
              </a:rPr>
              <a:t>MessageDelivery</a:t>
            </a:r>
            <a:endParaRPr lang="en-US" sz="1900" dirty="0"/>
          </a:p>
        </p:txBody>
      </p:sp>
      <p:sp>
        <p:nvSpPr>
          <p:cNvPr id="15" name="Text 11"/>
          <p:cNvSpPr/>
          <p:nvPr/>
        </p:nvSpPr>
        <p:spPr>
          <a:xfrm>
            <a:off x="7178040" y="2715768"/>
            <a:ext cx="4206240" cy="320040"/>
          </a:xfrm>
          <a:prstGeom prst="rect">
            <a:avLst/>
          </a:prstGeom>
          <a:noFill/>
          <a:ln/>
        </p:spPr>
        <p:txBody>
          <a:bodyPr wrap="square" lIns="0" tIns="0" rIns="0" bIns="0" rtlCol="0" anchor="ctr"/>
          <a:lstStyle/>
          <a:p>
            <a:pPr marL="0" indent="0">
              <a:buNone/>
            </a:pPr>
            <a:r>
              <a:rPr lang="en-US" sz="1100" dirty="0">
                <a:solidFill>
                  <a:srgbClr val="FBCB8E"/>
                </a:solidFill>
              </a:rPr>
              <a:t>Mutable · una copia por suscripción</a:t>
            </a:r>
            <a:endParaRPr lang="en-US" sz="1100" dirty="0"/>
          </a:p>
        </p:txBody>
      </p:sp>
      <p:sp>
        <p:nvSpPr>
          <p:cNvPr id="16" name="Text 12"/>
          <p:cNvSpPr/>
          <p:nvPr/>
        </p:nvSpPr>
        <p:spPr>
          <a:xfrm>
            <a:off x="6446520" y="3337560"/>
            <a:ext cx="4846320" cy="1828800"/>
          </a:xfrm>
          <a:prstGeom prst="rect">
            <a:avLst/>
          </a:prstGeom>
          <a:noFill/>
          <a:ln/>
        </p:spPr>
        <p:txBody>
          <a:bodyPr wrap="square" lIns="0" tIns="0" rIns="0" bIns="0" rtlCol="0" anchor="ctr"/>
          <a:lstStyle/>
          <a:p>
            <a:pPr marL="342900" indent="-342900">
              <a:spcAft>
                <a:spcPts val="1000"/>
              </a:spcAft>
              <a:buSzPct val="100000"/>
              <a:buChar char="•"/>
            </a:pPr>
            <a:r>
              <a:rPr lang="en-US" sz="1250" dirty="0">
                <a:solidFill>
                  <a:srgbClr val="D8CCEF"/>
                </a:solidFill>
              </a:rPr>
              <a:t>id, messageId, subscriptionId, consumerId, status…</a:t>
            </a:r>
            <a:endParaRPr lang="en-US" sz="1250" dirty="0"/>
          </a:p>
          <a:p>
            <a:pPr marL="342900" indent="-342900">
              <a:spcAft>
                <a:spcPts val="1000"/>
              </a:spcAft>
              <a:buSzPct val="100000"/>
              <a:buChar char="•"/>
            </a:pPr>
            <a:r>
              <a:rPr lang="en-US" sz="1250" dirty="0">
                <a:solidFill>
                  <a:srgbClr val="D8CCEF"/>
                </a:solidFill>
              </a:rPr>
              <a:t>El estado de ACK vive aquí, nunca en Message</a:t>
            </a:r>
            <a:endParaRPr lang="en-US" sz="1250" dirty="0"/>
          </a:p>
          <a:p>
            <a:pPr marL="342900" indent="-342900">
              <a:spcAft>
                <a:spcPts val="1000"/>
              </a:spcAft>
              <a:buSzPct val="100000"/>
              <a:buChar char="•"/>
            </a:pPr>
            <a:r>
              <a:rPr lang="en-US" sz="1250" dirty="0">
                <a:solidFill>
                  <a:srgbClr val="D8CCEF"/>
                </a:solidFill>
              </a:rPr>
              <a:t>El ACK de un consumidor jamás afecta a otro</a:t>
            </a:r>
            <a:endParaRPr lang="en-US" sz="1250" dirty="0"/>
          </a:p>
        </p:txBody>
      </p:sp>
      <p:sp>
        <p:nvSpPr>
          <p:cNvPr id="17" name="Text 13"/>
          <p:cNvSpPr/>
          <p:nvPr/>
        </p:nvSpPr>
        <p:spPr>
          <a:xfrm>
            <a:off x="11000232" y="6400800"/>
            <a:ext cx="914400" cy="274320"/>
          </a:xfrm>
          <a:prstGeom prst="rect">
            <a:avLst/>
          </a:prstGeom>
          <a:noFill/>
          <a:ln/>
        </p:spPr>
        <p:txBody>
          <a:bodyPr wrap="square" lIns="0" tIns="0" rIns="0" bIns="0" rtlCol="0" anchor="ctr"/>
          <a:lstStyle/>
          <a:p>
            <a:pPr marL="0" indent="0" algn="r">
              <a:buNone/>
            </a:pPr>
            <a:r>
              <a:rPr lang="en-US" sz="1000" dirty="0">
                <a:solidFill>
                  <a:srgbClr val="8FA6C2"/>
                </a:solidFill>
              </a:rPr>
              <a:t>04 / 12</a:t>
            </a:r>
            <a:endParaRPr lang="en-US" sz="1000" dirty="0"/>
          </a:p>
        </p:txBody>
      </p:sp>
      <p:sp>
        <p:nvSpPr>
          <p:cNvPr id="18" name="Text 14"/>
          <p:cNvSpPr/>
          <p:nvPr/>
        </p:nvSpPr>
        <p:spPr>
          <a:xfrm>
            <a:off x="457200" y="6400800"/>
            <a:ext cx="4572000" cy="274320"/>
          </a:xfrm>
          <a:prstGeom prst="rect">
            <a:avLst/>
          </a:prstGeom>
          <a:noFill/>
          <a:ln/>
        </p:spPr>
        <p:txBody>
          <a:bodyPr wrap="square" lIns="0" tIns="0" rIns="0" bIns="0" rtlCol="0" anchor="ctr"/>
          <a:lstStyle/>
          <a:p>
            <a:pPr marL="0" indent="0">
              <a:buNone/>
            </a:pPr>
            <a:r>
              <a:rPr lang="en-US" sz="1000" kern="0" spc="100" dirty="0">
                <a:solidFill>
                  <a:srgbClr val="8FA6C2"/>
                </a:solidFill>
              </a:rPr>
              <a:t>MINI BROKER DE MENSAJES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929"/>
        </a:solidFill>
        <a:effectLst/>
      </p:bgPr>
    </p:bg>
    <p:spTree>
      <p:nvGrpSpPr>
        <p:cNvPr id="1" name=""/>
        <p:cNvGrpSpPr/>
        <p:nvPr/>
      </p:nvGrpSpPr>
      <p:grpSpPr>
        <a:xfrm>
          <a:off x="0" y="0"/>
          <a:ext cx="0" cy="0"/>
          <a:chOff x="0" y="0"/>
          <a:chExt cx="0" cy="0"/>
        </a:xfrm>
      </p:grpSpPr>
      <p:sp>
        <p:nvSpPr>
          <p:cNvPr id="2" name="Text 0"/>
          <p:cNvSpPr/>
          <p:nvPr/>
        </p:nvSpPr>
        <p:spPr>
          <a:xfrm>
            <a:off x="548640" y="411480"/>
            <a:ext cx="5486400" cy="320040"/>
          </a:xfrm>
          <a:prstGeom prst="rect">
            <a:avLst/>
          </a:prstGeom>
          <a:noFill/>
          <a:ln/>
        </p:spPr>
        <p:txBody>
          <a:bodyPr wrap="square" lIns="0" tIns="0" rIns="0" bIns="0" rtlCol="0" anchor="ctr"/>
          <a:lstStyle/>
          <a:p>
            <a:pPr marL="0" indent="0">
              <a:buNone/>
            </a:pPr>
            <a:r>
              <a:rPr lang="en-US" sz="1200" b="1" kern="0" spc="200" dirty="0">
                <a:solidFill>
                  <a:srgbClr val="5EEAD4"/>
                </a:solidFill>
                <a:latin typeface="Calibri" pitchFamily="34" charset="0"/>
                <a:ea typeface="Calibri" pitchFamily="34" charset="-122"/>
                <a:cs typeface="Calibri" pitchFamily="34" charset="-120"/>
              </a:rPr>
              <a:t>03 · MODELO DE DOMINIO</a:t>
            </a:r>
            <a:endParaRPr lang="en-US" sz="1200" dirty="0"/>
          </a:p>
        </p:txBody>
      </p:sp>
      <p:sp>
        <p:nvSpPr>
          <p:cNvPr id="3" name="Text 1"/>
          <p:cNvSpPr/>
          <p:nvPr/>
        </p:nvSpPr>
        <p:spPr>
          <a:xfrm>
            <a:off x="548640" y="713232"/>
            <a:ext cx="10058400" cy="640080"/>
          </a:xfrm>
          <a:prstGeom prst="rect">
            <a:avLst/>
          </a:prstGeom>
          <a:noFill/>
          <a:ln/>
        </p:spPr>
        <p:txBody>
          <a:bodyPr wrap="square" lIns="0" tIns="0" rIns="0" bIns="0" rtlCol="0" anchor="ctr"/>
          <a:lstStyle/>
          <a:p>
            <a:pPr marL="0" indent="0">
              <a:buNone/>
            </a:pPr>
            <a:r>
              <a:rPr lang="en-US" sz="2700" b="1" dirty="0">
                <a:solidFill>
                  <a:srgbClr val="F3F6FA"/>
                </a:solidFill>
                <a:latin typeface="Cambria" pitchFamily="34" charset="0"/>
                <a:ea typeface="Cambria" pitchFamily="34" charset="-122"/>
                <a:cs typeface="Cambria" pitchFamily="34" charset="-120"/>
              </a:rPr>
              <a:t>La máquina de estados de MessageDelivery</a:t>
            </a:r>
            <a:endParaRPr lang="en-US" sz="2700" dirty="0"/>
          </a:p>
        </p:txBody>
      </p:sp>
      <p:sp>
        <p:nvSpPr>
          <p:cNvPr id="4" name="Shape 2"/>
          <p:cNvSpPr/>
          <p:nvPr/>
        </p:nvSpPr>
        <p:spPr>
          <a:xfrm>
            <a:off x="1280160" y="1737360"/>
            <a:ext cx="2194560" cy="914400"/>
          </a:xfrm>
          <a:prstGeom prst="roundRect">
            <a:avLst>
              <a:gd name="adj" fmla="val 15000"/>
            </a:avLst>
          </a:prstGeom>
          <a:solidFill>
            <a:srgbClr val="1B3654"/>
          </a:solidFill>
          <a:ln w="12700">
            <a:solidFill>
              <a:srgbClr val="24405F"/>
            </a:solidFill>
            <a:prstDash val="solid"/>
          </a:ln>
        </p:spPr>
      </p:sp>
      <p:sp>
        <p:nvSpPr>
          <p:cNvPr id="5" name="Text 3"/>
          <p:cNvSpPr/>
          <p:nvPr/>
        </p:nvSpPr>
        <p:spPr>
          <a:xfrm>
            <a:off x="1280160" y="1737360"/>
            <a:ext cx="2194560" cy="914400"/>
          </a:xfrm>
          <a:prstGeom prst="rect">
            <a:avLst/>
          </a:prstGeom>
          <a:noFill/>
          <a:ln/>
        </p:spPr>
        <p:txBody>
          <a:bodyPr wrap="square" lIns="0" tIns="0" rIns="0" bIns="0" rtlCol="0" anchor="ctr"/>
          <a:lstStyle/>
          <a:p>
            <a:pPr marL="0" indent="0" algn="ctr">
              <a:buNone/>
            </a:pPr>
            <a:r>
              <a:rPr lang="en-US" sz="1600" b="1" dirty="0">
                <a:solidFill>
                  <a:srgbClr val="F3F6FA"/>
                </a:solidFill>
              </a:rPr>
              <a:t>PENDING</a:t>
            </a:r>
            <a:endParaRPr lang="en-US" sz="1600" dirty="0"/>
          </a:p>
        </p:txBody>
      </p:sp>
      <p:sp>
        <p:nvSpPr>
          <p:cNvPr id="6" name="Shape 4"/>
          <p:cNvSpPr/>
          <p:nvPr/>
        </p:nvSpPr>
        <p:spPr>
          <a:xfrm>
            <a:off x="3474720" y="2194560"/>
            <a:ext cx="1051560" cy="0"/>
          </a:xfrm>
          <a:prstGeom prst="line">
            <a:avLst/>
          </a:prstGeom>
          <a:noFill/>
          <a:ln w="31750">
            <a:solidFill>
              <a:srgbClr val="14B8A6"/>
            </a:solidFill>
            <a:prstDash val="solid"/>
            <a:tailEnd type="triangle"/>
          </a:ln>
        </p:spPr>
      </p:sp>
      <p:sp>
        <p:nvSpPr>
          <p:cNvPr id="7" name="Text 5"/>
          <p:cNvSpPr/>
          <p:nvPr/>
        </p:nvSpPr>
        <p:spPr>
          <a:xfrm>
            <a:off x="3383280" y="1691640"/>
            <a:ext cx="1234440" cy="320040"/>
          </a:xfrm>
          <a:prstGeom prst="rect">
            <a:avLst/>
          </a:prstGeom>
          <a:noFill/>
          <a:ln/>
        </p:spPr>
        <p:txBody>
          <a:bodyPr wrap="square" lIns="0" tIns="0" rIns="0" bIns="0" rtlCol="0" anchor="ctr"/>
          <a:lstStyle/>
          <a:p>
            <a:pPr marL="0" indent="0" algn="ctr">
              <a:buNone/>
            </a:pPr>
            <a:r>
              <a:rPr lang="en-US" sz="950" dirty="0">
                <a:solidFill>
                  <a:srgbClr val="8FA6C2"/>
                </a:solidFill>
                <a:latin typeface="Courier New" pitchFamily="34" charset="0"/>
                <a:ea typeface="Courier New" pitchFamily="34" charset="-122"/>
                <a:cs typeface="Courier New" pitchFamily="34" charset="-120"/>
              </a:rPr>
              <a:t>markDelivered()</a:t>
            </a:r>
            <a:endParaRPr lang="en-US" sz="950" dirty="0"/>
          </a:p>
        </p:txBody>
      </p:sp>
      <p:sp>
        <p:nvSpPr>
          <p:cNvPr id="8" name="Shape 6"/>
          <p:cNvSpPr/>
          <p:nvPr/>
        </p:nvSpPr>
        <p:spPr>
          <a:xfrm>
            <a:off x="4526280" y="1737360"/>
            <a:ext cx="2194560" cy="914400"/>
          </a:xfrm>
          <a:prstGeom prst="roundRect">
            <a:avLst>
              <a:gd name="adj" fmla="val 15000"/>
            </a:avLst>
          </a:prstGeom>
          <a:solidFill>
            <a:srgbClr val="0F2A3D"/>
          </a:solidFill>
          <a:ln w="12700">
            <a:solidFill>
              <a:srgbClr val="24405F"/>
            </a:solidFill>
            <a:prstDash val="solid"/>
          </a:ln>
        </p:spPr>
      </p:sp>
      <p:sp>
        <p:nvSpPr>
          <p:cNvPr id="9" name="Text 7"/>
          <p:cNvSpPr/>
          <p:nvPr/>
        </p:nvSpPr>
        <p:spPr>
          <a:xfrm>
            <a:off x="4526280" y="1737360"/>
            <a:ext cx="2194560" cy="914400"/>
          </a:xfrm>
          <a:prstGeom prst="rect">
            <a:avLst/>
          </a:prstGeom>
          <a:noFill/>
          <a:ln/>
        </p:spPr>
        <p:txBody>
          <a:bodyPr wrap="square" lIns="0" tIns="0" rIns="0" bIns="0" rtlCol="0" anchor="ctr"/>
          <a:lstStyle/>
          <a:p>
            <a:pPr marL="0" indent="0" algn="ctr">
              <a:buNone/>
            </a:pPr>
            <a:r>
              <a:rPr lang="en-US" sz="1600" b="1" dirty="0">
                <a:solidFill>
                  <a:srgbClr val="F3F6FA"/>
                </a:solidFill>
              </a:rPr>
              <a:t>DELIVERED</a:t>
            </a:r>
            <a:endParaRPr lang="en-US" sz="1600" dirty="0"/>
          </a:p>
        </p:txBody>
      </p:sp>
      <p:sp>
        <p:nvSpPr>
          <p:cNvPr id="10" name="Shape 8"/>
          <p:cNvSpPr/>
          <p:nvPr/>
        </p:nvSpPr>
        <p:spPr>
          <a:xfrm>
            <a:off x="6720840" y="2194560"/>
            <a:ext cx="1051560" cy="0"/>
          </a:xfrm>
          <a:prstGeom prst="line">
            <a:avLst/>
          </a:prstGeom>
          <a:noFill/>
          <a:ln w="31750">
            <a:solidFill>
              <a:srgbClr val="14B8A6"/>
            </a:solidFill>
            <a:prstDash val="solid"/>
            <a:tailEnd type="triangle"/>
          </a:ln>
        </p:spPr>
      </p:sp>
      <p:sp>
        <p:nvSpPr>
          <p:cNvPr id="11" name="Text 9"/>
          <p:cNvSpPr/>
          <p:nvPr/>
        </p:nvSpPr>
        <p:spPr>
          <a:xfrm>
            <a:off x="6629400" y="1691640"/>
            <a:ext cx="1234440" cy="320040"/>
          </a:xfrm>
          <a:prstGeom prst="rect">
            <a:avLst/>
          </a:prstGeom>
          <a:noFill/>
          <a:ln/>
        </p:spPr>
        <p:txBody>
          <a:bodyPr wrap="square" lIns="0" tIns="0" rIns="0" bIns="0" rtlCol="0" anchor="ctr"/>
          <a:lstStyle/>
          <a:p>
            <a:pPr marL="0" indent="0" algn="ctr">
              <a:buNone/>
            </a:pPr>
            <a:r>
              <a:rPr lang="en-US" sz="950" dirty="0">
                <a:solidFill>
                  <a:srgbClr val="8FA6C2"/>
                </a:solidFill>
                <a:latin typeface="Courier New" pitchFamily="34" charset="0"/>
                <a:ea typeface="Courier New" pitchFamily="34" charset="-122"/>
                <a:cs typeface="Courier New" pitchFamily="34" charset="-120"/>
              </a:rPr>
              <a:t>markAcked()</a:t>
            </a:r>
            <a:endParaRPr lang="en-US" sz="950" dirty="0"/>
          </a:p>
        </p:txBody>
      </p:sp>
      <p:sp>
        <p:nvSpPr>
          <p:cNvPr id="12" name="Shape 10"/>
          <p:cNvSpPr/>
          <p:nvPr/>
        </p:nvSpPr>
        <p:spPr>
          <a:xfrm>
            <a:off x="7772400" y="1737360"/>
            <a:ext cx="2194560" cy="914400"/>
          </a:xfrm>
          <a:prstGeom prst="roundRect">
            <a:avLst>
              <a:gd name="adj" fmla="val 15000"/>
            </a:avLst>
          </a:prstGeom>
          <a:solidFill>
            <a:srgbClr val="0B3A3A"/>
          </a:solidFill>
          <a:ln w="19050">
            <a:solidFill>
              <a:srgbClr val="14B8A6"/>
            </a:solidFill>
            <a:prstDash val="solid"/>
          </a:ln>
        </p:spPr>
      </p:sp>
      <p:sp>
        <p:nvSpPr>
          <p:cNvPr id="13" name="Text 11"/>
          <p:cNvSpPr/>
          <p:nvPr/>
        </p:nvSpPr>
        <p:spPr>
          <a:xfrm>
            <a:off x="7772400" y="1737360"/>
            <a:ext cx="2194560" cy="914400"/>
          </a:xfrm>
          <a:prstGeom prst="rect">
            <a:avLst/>
          </a:prstGeom>
          <a:noFill/>
          <a:ln/>
        </p:spPr>
        <p:txBody>
          <a:bodyPr wrap="square" lIns="0" tIns="0" rIns="0" bIns="0" rtlCol="0" anchor="ctr"/>
          <a:lstStyle/>
          <a:p>
            <a:pPr marL="0" indent="0" algn="ctr">
              <a:buNone/>
            </a:pPr>
            <a:r>
              <a:rPr lang="en-US" sz="1600" b="1" dirty="0">
                <a:solidFill>
                  <a:srgbClr val="F3F6FA"/>
                </a:solidFill>
              </a:rPr>
              <a:t>ACKED</a:t>
            </a:r>
            <a:endParaRPr lang="en-US" sz="1600" dirty="0"/>
          </a:p>
        </p:txBody>
      </p:sp>
      <p:sp>
        <p:nvSpPr>
          <p:cNvPr id="14" name="Shape 12"/>
          <p:cNvSpPr/>
          <p:nvPr/>
        </p:nvSpPr>
        <p:spPr>
          <a:xfrm>
            <a:off x="548640" y="3108960"/>
            <a:ext cx="11064240" cy="2697480"/>
          </a:xfrm>
          <a:prstGeom prst="roundRect">
            <a:avLst>
              <a:gd name="adj" fmla="val 3390"/>
            </a:avLst>
          </a:prstGeom>
          <a:solidFill>
            <a:srgbClr val="13233B"/>
          </a:solidFill>
          <a:ln w="12700">
            <a:solidFill>
              <a:srgbClr val="24405F"/>
            </a:solidFill>
            <a:prstDash val="solid"/>
          </a:ln>
        </p:spPr>
      </p:sp>
      <p:sp>
        <p:nvSpPr>
          <p:cNvPr id="15" name="Shape 13"/>
          <p:cNvSpPr/>
          <p:nvPr/>
        </p:nvSpPr>
        <p:spPr>
          <a:xfrm>
            <a:off x="868680" y="3429000"/>
            <a:ext cx="594360" cy="594360"/>
          </a:xfrm>
          <a:prstGeom prst="ellipse">
            <a:avLst/>
          </a:prstGeom>
          <a:solidFill>
            <a:srgbClr val="3A2E1E"/>
          </a:solidFill>
          <a:ln/>
        </p:spPr>
      </p:sp>
      <p:pic>
        <p:nvPicPr>
          <p:cNvPr id="16" name="Image 0" descr="preencoded.png"/>
          <p:cNvPicPr>
            <a:picLocks noChangeAspect="1"/>
          </p:cNvPicPr>
          <p:nvPr/>
        </p:nvPicPr>
        <p:blipFill>
          <a:blip r:embed="rId3"/>
          <a:stretch>
            <a:fillRect/>
          </a:stretch>
        </p:blipFill>
        <p:spPr>
          <a:xfrm>
            <a:off x="1002411" y="3562731"/>
            <a:ext cx="326898" cy="326898"/>
          </a:xfrm>
          <a:prstGeom prst="rect">
            <a:avLst/>
          </a:prstGeom>
        </p:spPr>
      </p:pic>
      <p:sp>
        <p:nvSpPr>
          <p:cNvPr id="17" name="Text 14"/>
          <p:cNvSpPr/>
          <p:nvPr/>
        </p:nvSpPr>
        <p:spPr>
          <a:xfrm>
            <a:off x="1691640" y="3474720"/>
            <a:ext cx="9692640" cy="457200"/>
          </a:xfrm>
          <a:prstGeom prst="rect">
            <a:avLst/>
          </a:prstGeom>
          <a:noFill/>
          <a:ln/>
        </p:spPr>
        <p:txBody>
          <a:bodyPr wrap="square" lIns="0" tIns="0" rIns="0" bIns="0" rtlCol="0" anchor="ctr"/>
          <a:lstStyle/>
          <a:p>
            <a:pPr marL="0" indent="0">
              <a:buNone/>
            </a:pPr>
            <a:r>
              <a:rPr lang="en-US" sz="1500" b="1" dirty="0">
                <a:solidFill>
                  <a:srgbClr val="F3F6FA"/>
                </a:solidFill>
              </a:rPr>
              <a:t>Por qué AtomicReference.compareAndSet y no un if/asignación simple</a:t>
            </a:r>
            <a:endParaRPr lang="en-US" sz="1500" dirty="0"/>
          </a:p>
        </p:txBody>
      </p:sp>
      <p:sp>
        <p:nvSpPr>
          <p:cNvPr id="18" name="Text 15"/>
          <p:cNvSpPr/>
          <p:nvPr/>
        </p:nvSpPr>
        <p:spPr>
          <a:xfrm>
            <a:off x="868680" y="4069080"/>
            <a:ext cx="10424160" cy="777240"/>
          </a:xfrm>
          <a:prstGeom prst="rect">
            <a:avLst/>
          </a:prstGeom>
          <a:noFill/>
          <a:ln/>
        </p:spPr>
        <p:txBody>
          <a:bodyPr wrap="square" lIns="0" tIns="0" rIns="0" bIns="0" rtlCol="0" anchor="ctr"/>
          <a:lstStyle/>
          <a:p>
            <a:pPr marL="0" indent="0">
              <a:buNone/>
            </a:pPr>
            <a:r>
              <a:rPr lang="en-US" sz="1250" dirty="0">
                <a:solidFill>
                  <a:srgbClr val="8FA6C2"/>
                </a:solidFill>
              </a:rPr>
              <a:t>Con 20 hilos intentando el mismo ACK a la vez, un check-then-act simple deja que más de uno lea DELIVERED antes de que cualquiera escriba ACKED — y ambos “ganan”. compareAndSet es atómico: solo un hilo gana la transición; el resto ve el estado ya cambiado y recibe InvalidMessageStateException.</a:t>
            </a:r>
            <a:endParaRPr lang="en-US" sz="1250" dirty="0"/>
          </a:p>
        </p:txBody>
      </p:sp>
      <p:sp>
        <p:nvSpPr>
          <p:cNvPr id="19" name="Shape 16"/>
          <p:cNvSpPr/>
          <p:nvPr/>
        </p:nvSpPr>
        <p:spPr>
          <a:xfrm>
            <a:off x="868680" y="4937760"/>
            <a:ext cx="10424160" cy="685800"/>
          </a:xfrm>
          <a:prstGeom prst="roundRect">
            <a:avLst>
              <a:gd name="adj" fmla="val 8000"/>
            </a:avLst>
          </a:prstGeom>
          <a:solidFill>
            <a:srgbClr val="0A1524"/>
          </a:solidFill>
          <a:ln w="12700">
            <a:solidFill>
              <a:srgbClr val="24405F"/>
            </a:solidFill>
            <a:prstDash val="solid"/>
          </a:ln>
        </p:spPr>
      </p:sp>
      <p:sp>
        <p:nvSpPr>
          <p:cNvPr id="20" name="Text 17"/>
          <p:cNvSpPr/>
          <p:nvPr/>
        </p:nvSpPr>
        <p:spPr>
          <a:xfrm>
            <a:off x="1051560" y="4937760"/>
            <a:ext cx="10058400" cy="685800"/>
          </a:xfrm>
          <a:prstGeom prst="rect">
            <a:avLst/>
          </a:prstGeom>
          <a:noFill/>
          <a:ln/>
        </p:spPr>
        <p:txBody>
          <a:bodyPr wrap="square" lIns="0" tIns="0" rIns="0" bIns="0" rtlCol="0" anchor="ctr"/>
          <a:lstStyle/>
          <a:p>
            <a:pPr marL="0" indent="0">
              <a:buNone/>
            </a:pPr>
            <a:r>
              <a:rPr lang="en-US" sz="1200" dirty="0">
                <a:solidFill>
                  <a:srgbClr val="5EEAD4"/>
                </a:solidFill>
                <a:latin typeface="Courier New" pitchFamily="34" charset="0"/>
                <a:ea typeface="Courier New" pitchFamily="34" charset="-122"/>
                <a:cs typeface="Courier New" pitchFamily="34" charset="-120"/>
              </a:rPr>
              <a:t>if (!status.compareAndSet(DELIVERED, ACKED)) throw new InvalidMessageStateException(...);</a:t>
            </a:r>
            <a:endParaRPr lang="en-US" sz="1200" dirty="0"/>
          </a:p>
        </p:txBody>
      </p:sp>
      <p:sp>
        <p:nvSpPr>
          <p:cNvPr id="21" name="Text 18"/>
          <p:cNvSpPr/>
          <p:nvPr/>
        </p:nvSpPr>
        <p:spPr>
          <a:xfrm>
            <a:off x="11000232" y="6400800"/>
            <a:ext cx="914400" cy="274320"/>
          </a:xfrm>
          <a:prstGeom prst="rect">
            <a:avLst/>
          </a:prstGeom>
          <a:noFill/>
          <a:ln/>
        </p:spPr>
        <p:txBody>
          <a:bodyPr wrap="square" lIns="0" tIns="0" rIns="0" bIns="0" rtlCol="0" anchor="ctr"/>
          <a:lstStyle/>
          <a:p>
            <a:pPr marL="0" indent="0" algn="r">
              <a:buNone/>
            </a:pPr>
            <a:r>
              <a:rPr lang="en-US" sz="1000" dirty="0">
                <a:solidFill>
                  <a:srgbClr val="8FA6C2"/>
                </a:solidFill>
              </a:rPr>
              <a:t>05 / 12</a:t>
            </a:r>
            <a:endParaRPr lang="en-US" sz="1000" dirty="0"/>
          </a:p>
        </p:txBody>
      </p:sp>
      <p:sp>
        <p:nvSpPr>
          <p:cNvPr id="22" name="Text 19"/>
          <p:cNvSpPr/>
          <p:nvPr/>
        </p:nvSpPr>
        <p:spPr>
          <a:xfrm>
            <a:off x="457200" y="6400800"/>
            <a:ext cx="4572000" cy="274320"/>
          </a:xfrm>
          <a:prstGeom prst="rect">
            <a:avLst/>
          </a:prstGeom>
          <a:noFill/>
          <a:ln/>
        </p:spPr>
        <p:txBody>
          <a:bodyPr wrap="square" lIns="0" tIns="0" rIns="0" bIns="0" rtlCol="0" anchor="ctr"/>
          <a:lstStyle/>
          <a:p>
            <a:pPr marL="0" indent="0">
              <a:buNone/>
            </a:pPr>
            <a:r>
              <a:rPr lang="en-US" sz="1000" kern="0" spc="100" dirty="0">
                <a:solidFill>
                  <a:srgbClr val="8FA6C2"/>
                </a:solidFill>
              </a:rPr>
              <a:t>MINI BROKER DE MENSAJES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929"/>
        </a:solidFill>
        <a:effectLst/>
      </p:bgPr>
    </p:bg>
    <p:spTree>
      <p:nvGrpSpPr>
        <p:cNvPr id="1" name=""/>
        <p:cNvGrpSpPr/>
        <p:nvPr/>
      </p:nvGrpSpPr>
      <p:grpSpPr>
        <a:xfrm>
          <a:off x="0" y="0"/>
          <a:ext cx="0" cy="0"/>
          <a:chOff x="0" y="0"/>
          <a:chExt cx="0" cy="0"/>
        </a:xfrm>
      </p:grpSpPr>
      <p:sp>
        <p:nvSpPr>
          <p:cNvPr id="2" name="Text 0"/>
          <p:cNvSpPr/>
          <p:nvPr/>
        </p:nvSpPr>
        <p:spPr>
          <a:xfrm>
            <a:off x="548640" y="411480"/>
            <a:ext cx="5486400" cy="320040"/>
          </a:xfrm>
          <a:prstGeom prst="rect">
            <a:avLst/>
          </a:prstGeom>
          <a:noFill/>
          <a:ln/>
        </p:spPr>
        <p:txBody>
          <a:bodyPr wrap="square" lIns="0" tIns="0" rIns="0" bIns="0" rtlCol="0" anchor="ctr"/>
          <a:lstStyle/>
          <a:p>
            <a:pPr marL="0" indent="0">
              <a:buNone/>
            </a:pPr>
            <a:r>
              <a:rPr lang="en-US" sz="1200" b="1" kern="0" spc="200" dirty="0">
                <a:solidFill>
                  <a:srgbClr val="5EEAD4"/>
                </a:solidFill>
                <a:latin typeface="Calibri" pitchFamily="34" charset="0"/>
                <a:ea typeface="Calibri" pitchFamily="34" charset="-122"/>
                <a:cs typeface="Calibri" pitchFamily="34" charset="-120"/>
              </a:rPr>
              <a:t>04 · APLICACIÓN</a:t>
            </a:r>
            <a:endParaRPr lang="en-US" sz="1200" dirty="0"/>
          </a:p>
        </p:txBody>
      </p:sp>
      <p:sp>
        <p:nvSpPr>
          <p:cNvPr id="3" name="Text 1"/>
          <p:cNvSpPr/>
          <p:nvPr/>
        </p:nvSpPr>
        <p:spPr>
          <a:xfrm>
            <a:off x="548640" y="713232"/>
            <a:ext cx="10515600" cy="640080"/>
          </a:xfrm>
          <a:prstGeom prst="rect">
            <a:avLst/>
          </a:prstGeom>
          <a:noFill/>
          <a:ln/>
        </p:spPr>
        <p:txBody>
          <a:bodyPr wrap="square" lIns="0" tIns="0" rIns="0" bIns="0" rtlCol="0" anchor="ctr"/>
          <a:lstStyle/>
          <a:p>
            <a:pPr marL="0" indent="0">
              <a:buNone/>
            </a:pPr>
            <a:r>
              <a:rPr lang="en-US" sz="2700" b="1" dirty="0">
                <a:solidFill>
                  <a:srgbClr val="F3F6FA"/>
                </a:solidFill>
                <a:latin typeface="Cambria" pitchFamily="34" charset="0"/>
                <a:ea typeface="Cambria" pitchFamily="34" charset="-122"/>
                <a:cs typeface="Cambria" pitchFamily="34" charset="-120"/>
              </a:rPr>
              <a:t>Casos de uso: el menú de operaciones del broker</a:t>
            </a:r>
            <a:endParaRPr lang="en-US" sz="2700" dirty="0"/>
          </a:p>
        </p:txBody>
      </p:sp>
      <p:sp>
        <p:nvSpPr>
          <p:cNvPr id="4" name="Text 2"/>
          <p:cNvSpPr/>
          <p:nvPr/>
        </p:nvSpPr>
        <p:spPr>
          <a:xfrm>
            <a:off x="548640" y="1353312"/>
            <a:ext cx="10789920" cy="365760"/>
          </a:xfrm>
          <a:prstGeom prst="rect">
            <a:avLst/>
          </a:prstGeom>
          <a:noFill/>
          <a:ln/>
        </p:spPr>
        <p:txBody>
          <a:bodyPr wrap="square" lIns="0" tIns="0" rIns="0" bIns="0" rtlCol="0" anchor="ctr"/>
          <a:lstStyle/>
          <a:p>
            <a:pPr marL="0" indent="0">
              <a:buNone/>
            </a:pPr>
            <a:r>
              <a:rPr lang="en-US" sz="1250" dirty="0">
                <a:solidFill>
                  <a:srgbClr val="8FA6C2"/>
                </a:solidFill>
              </a:rPr>
              <a:t>Interface Segregation: cada interfaz tiene un solo método; nadie depende de operaciones que no usa.</a:t>
            </a:r>
            <a:endParaRPr lang="en-US" sz="12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11064240" cy="4206240"/>
        </p:xfrm>
        <a:graphic>
          <a:graphicData uri="http://schemas.openxmlformats.org/drawingml/2006/table">
            <a:tbl>
              <a:tblPr/>
              <a:tblGrid>
                <a:gridCol w="3291840">
                  <a:extLst>
                    <a:ext uri="{9D8B030D-6E8A-4147-A177-3AD203B41FA5}">
                      <a16:colId xmlns:a16="http://schemas.microsoft.com/office/drawing/2014/main" val="20000"/>
                    </a:ext>
                  </a:extLst>
                </a:gridCol>
                <a:gridCol w="475488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tblGrid>
              <a:tr h="525780">
                <a:tc>
                  <a:txBody>
                    <a:bodyPr/>
                    <a:lstStyle/>
                    <a:p>
                      <a:pPr marL="0" indent="0">
                        <a:buNone/>
                      </a:pPr>
                      <a:r>
                        <a:rPr lang="en-US" sz="1150" b="1" dirty="0">
                          <a:solidFill>
                            <a:srgbClr val="F3F6FA"/>
                          </a:solidFill>
                        </a:rPr>
                        <a:t>Interfaz</a:t>
                      </a:r>
                      <a:endParaRPr lang="en-US" sz="1150" dirty="0"/>
                    </a:p>
                  </a:txBody>
                  <a:tcPr anchor="ctr">
                    <a:lnL w="6350" cap="flat" cmpd="sng" algn="ctr">
                      <a:solidFill>
                        <a:srgbClr val="24405F"/>
                      </a:solidFill>
                      <a:prstDash val="solid"/>
                      <a:round/>
                      <a:headEnd type="none" w="med" len="med"/>
                      <a:tailEnd type="none" w="med" len="med"/>
                    </a:lnL>
                    <a:lnR w="6350" cap="flat" cmpd="sng" algn="ctr">
                      <a:solidFill>
                        <a:srgbClr val="24405F"/>
                      </a:solidFill>
                      <a:prstDash val="solid"/>
                      <a:round/>
                      <a:headEnd type="none" w="med" len="med"/>
                      <a:tailEnd type="none" w="med" len="med"/>
                    </a:lnR>
                    <a:lnT w="6350" cap="flat" cmpd="sng" algn="ctr">
                      <a:solidFill>
                        <a:srgbClr val="24405F"/>
                      </a:solidFill>
                      <a:prstDash val="solid"/>
                      <a:round/>
                      <a:headEnd type="none" w="med" len="med"/>
                      <a:tailEnd type="none" w="med" len="med"/>
                    </a:lnT>
                    <a:lnB w="6350" cap="flat" cmpd="sng" algn="ctr">
                      <a:solidFill>
                        <a:srgbClr val="24405F"/>
                      </a:solidFill>
                      <a:prstDash val="solid"/>
                      <a:round/>
                      <a:headEnd type="none" w="med" len="med"/>
                      <a:tailEnd type="none" w="med" len="med"/>
                    </a:lnB>
                    <a:solidFill>
                      <a:srgbClr val="0F2A3D"/>
                    </a:solidFill>
                  </a:tcPr>
                </a:tc>
                <a:tc>
                  <a:txBody>
                    <a:bodyPr/>
                    <a:lstStyle/>
                    <a:p>
                      <a:pPr marL="0" indent="0">
                        <a:buNone/>
                      </a:pPr>
                      <a:r>
                        <a:rPr lang="en-US" sz="1150" b="1" dirty="0">
                          <a:solidFill>
                            <a:srgbClr val="F3F6FA"/>
                          </a:solidFill>
                        </a:rPr>
                        <a:t>Método</a:t>
                      </a:r>
                      <a:endParaRPr lang="en-US" sz="1150" dirty="0"/>
                    </a:p>
                  </a:txBody>
                  <a:tcPr anchor="ctr">
                    <a:lnL w="6350" cap="flat" cmpd="sng" algn="ctr">
                      <a:solidFill>
                        <a:srgbClr val="24405F"/>
                      </a:solidFill>
                      <a:prstDash val="solid"/>
                      <a:round/>
                      <a:headEnd type="none" w="med" len="med"/>
                      <a:tailEnd type="none" w="med" len="med"/>
                    </a:lnL>
                    <a:lnR w="6350" cap="flat" cmpd="sng" algn="ctr">
                      <a:solidFill>
                        <a:srgbClr val="24405F"/>
                      </a:solidFill>
                      <a:prstDash val="solid"/>
                      <a:round/>
                      <a:headEnd type="none" w="med" len="med"/>
                      <a:tailEnd type="none" w="med" len="med"/>
                    </a:lnR>
                    <a:lnT w="6350" cap="flat" cmpd="sng" algn="ctr">
                      <a:solidFill>
                        <a:srgbClr val="24405F"/>
                      </a:solidFill>
                      <a:prstDash val="solid"/>
                      <a:round/>
                      <a:headEnd type="none" w="med" len="med"/>
                      <a:tailEnd type="none" w="med" len="med"/>
                    </a:lnT>
                    <a:lnB w="6350" cap="flat" cmpd="sng" algn="ctr">
                      <a:solidFill>
                        <a:srgbClr val="24405F"/>
                      </a:solidFill>
                      <a:prstDash val="solid"/>
                      <a:round/>
                      <a:headEnd type="none" w="med" len="med"/>
                      <a:tailEnd type="none" w="med" len="med"/>
                    </a:lnB>
                    <a:solidFill>
                      <a:srgbClr val="0F2A3D"/>
                    </a:solidFill>
                  </a:tcPr>
                </a:tc>
                <a:tc>
                  <a:txBody>
                    <a:bodyPr/>
                    <a:lstStyle/>
                    <a:p>
                      <a:pPr marL="0" indent="0">
                        <a:buNone/>
                      </a:pPr>
                      <a:r>
                        <a:rPr lang="en-US" sz="1150" b="1" dirty="0">
                          <a:solidFill>
                            <a:srgbClr val="F3F6FA"/>
                          </a:solidFill>
                        </a:rPr>
                        <a:t>Implementación</a:t>
                      </a:r>
                      <a:endParaRPr lang="en-US" sz="1150" dirty="0"/>
                    </a:p>
                  </a:txBody>
                  <a:tcPr anchor="ctr">
                    <a:lnL w="6350" cap="flat" cmpd="sng" algn="ctr">
                      <a:solidFill>
                        <a:srgbClr val="24405F"/>
                      </a:solidFill>
                      <a:prstDash val="solid"/>
                      <a:round/>
                      <a:headEnd type="none" w="med" len="med"/>
                      <a:tailEnd type="none" w="med" len="med"/>
                    </a:lnL>
                    <a:lnR w="6350" cap="flat" cmpd="sng" algn="ctr">
                      <a:solidFill>
                        <a:srgbClr val="24405F"/>
                      </a:solidFill>
                      <a:prstDash val="solid"/>
                      <a:round/>
                      <a:headEnd type="none" w="med" len="med"/>
                      <a:tailEnd type="none" w="med" len="med"/>
                    </a:lnR>
                    <a:lnT w="6350" cap="flat" cmpd="sng" algn="ctr">
                      <a:solidFill>
                        <a:srgbClr val="24405F"/>
                      </a:solidFill>
                      <a:prstDash val="solid"/>
                      <a:round/>
                      <a:headEnd type="none" w="med" len="med"/>
                      <a:tailEnd type="none" w="med" len="med"/>
                    </a:lnT>
                    <a:lnB w="6350" cap="flat" cmpd="sng" algn="ctr">
                      <a:solidFill>
                        <a:srgbClr val="24405F"/>
                      </a:solidFill>
                      <a:prstDash val="solid"/>
                      <a:round/>
                      <a:headEnd type="none" w="med" len="med"/>
                      <a:tailEnd type="none" w="med" len="med"/>
                    </a:lnB>
                    <a:solidFill>
                      <a:srgbClr val="0F2A3D"/>
                    </a:solidFill>
                  </a:tcPr>
                </a:tc>
                <a:extLst>
                  <a:ext uri="{0D108BD9-81ED-4DB2-BD59-A6C34878D82A}">
                    <a16:rowId xmlns:a16="http://schemas.microsoft.com/office/drawing/2014/main" val="10000"/>
                  </a:ext>
                </a:extLst>
              </a:tr>
              <a:tr h="525780">
                <a:tc>
                  <a:txBody>
                    <a:bodyPr/>
                    <a:lstStyle/>
                    <a:p>
                      <a:pPr marL="0" indent="0">
                        <a:buNone/>
                      </a:pPr>
                      <a:r>
                        <a:rPr lang="en-US" sz="1150" dirty="0">
                          <a:solidFill>
                            <a:srgbClr val="8FA6C2"/>
                          </a:solidFill>
                          <a:latin typeface="Calibri" pitchFamily="34" charset="0"/>
                          <a:ea typeface="Calibri" pitchFamily="34" charset="-122"/>
                          <a:cs typeface="Calibri" pitchFamily="34" charset="-120"/>
                        </a:rPr>
                        <a:t>RegisterTopicUseCase</a:t>
                      </a:r>
                      <a:endParaRPr lang="en-US" sz="1150" dirty="0">
                        <a:latin typeface="Calibri" charset="0"/>
                        <a:ea typeface="Calibri" charset="0"/>
                        <a:cs typeface="Calibri" charset="0"/>
                      </a:endParaRPr>
                    </a:p>
                  </a:txBody>
                  <a:tcPr anchor="ctr">
                    <a:lnL w="6350" cap="flat" cmpd="sng" algn="ctr">
                      <a:solidFill>
                        <a:srgbClr val="24405F"/>
                      </a:solidFill>
                      <a:prstDash val="solid"/>
                      <a:round/>
                      <a:headEnd type="none" w="med" len="med"/>
                      <a:tailEnd type="none" w="med" len="med"/>
                    </a:lnL>
                    <a:lnR w="6350" cap="flat" cmpd="sng" algn="ctr">
                      <a:solidFill>
                        <a:srgbClr val="24405F"/>
                      </a:solidFill>
                      <a:prstDash val="solid"/>
                      <a:round/>
                      <a:headEnd type="none" w="med" len="med"/>
                      <a:tailEnd type="none" w="med" len="med"/>
                    </a:lnR>
                    <a:lnT w="6350" cap="flat" cmpd="sng" algn="ctr">
                      <a:solidFill>
                        <a:srgbClr val="24405F"/>
                      </a:solidFill>
                      <a:prstDash val="solid"/>
                      <a:round/>
                      <a:headEnd type="none" w="med" len="med"/>
                      <a:tailEnd type="none" w="med" len="med"/>
                    </a:lnT>
                    <a:lnB w="6350" cap="flat" cmpd="sng" algn="ctr">
                      <a:solidFill>
                        <a:srgbClr val="24405F"/>
                      </a:solidFill>
                      <a:prstDash val="solid"/>
                      <a:round/>
                      <a:headEnd type="none" w="med" len="med"/>
                      <a:tailEnd type="none" w="med" len="med"/>
                    </a:lnB>
                    <a:solidFill>
                      <a:srgbClr val="13233B"/>
                    </a:solidFill>
                  </a:tcPr>
                </a:tc>
                <a:tc>
                  <a:txBody>
                    <a:bodyPr/>
                    <a:lstStyle/>
                    <a:p>
                      <a:pPr marL="0" indent="0">
                        <a:buNone/>
                      </a:pPr>
                      <a:r>
                        <a:rPr lang="en-US" sz="1150" dirty="0">
                          <a:solidFill>
                            <a:srgbClr val="5EEAD4"/>
                          </a:solidFill>
                          <a:latin typeface="Courier New" pitchFamily="34" charset="0"/>
                          <a:ea typeface="Courier New" pitchFamily="34" charset="-122"/>
                          <a:cs typeface="Courier New" pitchFamily="34" charset="-120"/>
                        </a:rPr>
                        <a:t>registerTopic(name)</a:t>
                      </a:r>
                      <a:endParaRPr lang="en-US" sz="1150" dirty="0">
                        <a:latin typeface="Courier New" charset="0"/>
                        <a:ea typeface="Courier New" charset="0"/>
                        <a:cs typeface="Courier New" charset="0"/>
                      </a:endParaRPr>
                    </a:p>
                  </a:txBody>
                  <a:tcPr anchor="ctr">
                    <a:lnL w="6350" cap="flat" cmpd="sng" algn="ctr">
                      <a:solidFill>
                        <a:srgbClr val="24405F"/>
                      </a:solidFill>
                      <a:prstDash val="solid"/>
                      <a:round/>
                      <a:headEnd type="none" w="med" len="med"/>
                      <a:tailEnd type="none" w="med" len="med"/>
                    </a:lnL>
                    <a:lnR w="6350" cap="flat" cmpd="sng" algn="ctr">
                      <a:solidFill>
                        <a:srgbClr val="24405F"/>
                      </a:solidFill>
                      <a:prstDash val="solid"/>
                      <a:round/>
                      <a:headEnd type="none" w="med" len="med"/>
                      <a:tailEnd type="none" w="med" len="med"/>
                    </a:lnR>
                    <a:lnT w="6350" cap="flat" cmpd="sng" algn="ctr">
                      <a:solidFill>
                        <a:srgbClr val="24405F"/>
                      </a:solidFill>
                      <a:prstDash val="solid"/>
                      <a:round/>
                      <a:headEnd type="none" w="med" len="med"/>
                      <a:tailEnd type="none" w="med" len="med"/>
                    </a:lnT>
                    <a:lnB w="6350" cap="flat" cmpd="sng" algn="ctr">
                      <a:solidFill>
                        <a:srgbClr val="24405F"/>
                      </a:solidFill>
                      <a:prstDash val="solid"/>
                      <a:round/>
                      <a:headEnd type="none" w="med" len="med"/>
                      <a:tailEnd type="none" w="med" len="med"/>
                    </a:lnB>
                    <a:solidFill>
                      <a:srgbClr val="13233B"/>
                    </a:solidFill>
                  </a:tcPr>
                </a:tc>
                <a:tc>
                  <a:txBody>
                    <a:bodyPr/>
                    <a:lstStyle/>
                    <a:p>
                      <a:pPr marL="0" indent="0">
                        <a:buNone/>
                      </a:pPr>
                      <a:r>
                        <a:rPr lang="en-US" sz="1150" dirty="0">
                          <a:solidFill>
                            <a:srgbClr val="8FA6C2"/>
                          </a:solidFill>
                          <a:latin typeface="Calibri" pitchFamily="34" charset="0"/>
                          <a:ea typeface="Calibri" pitchFamily="34" charset="-122"/>
                          <a:cs typeface="Calibri" pitchFamily="34" charset="-120"/>
                        </a:rPr>
                        <a:t>TopicService</a:t>
                      </a:r>
                      <a:endParaRPr lang="en-US" sz="1150" dirty="0">
                        <a:latin typeface="Calibri" charset="0"/>
                        <a:ea typeface="Calibri" charset="0"/>
                        <a:cs typeface="Calibri" charset="0"/>
                      </a:endParaRPr>
                    </a:p>
                  </a:txBody>
                  <a:tcPr anchor="ctr">
                    <a:lnL w="6350" cap="flat" cmpd="sng" algn="ctr">
                      <a:solidFill>
                        <a:srgbClr val="24405F"/>
                      </a:solidFill>
                      <a:prstDash val="solid"/>
                      <a:round/>
                      <a:headEnd type="none" w="med" len="med"/>
                      <a:tailEnd type="none" w="med" len="med"/>
                    </a:lnL>
                    <a:lnR w="6350" cap="flat" cmpd="sng" algn="ctr">
                      <a:solidFill>
                        <a:srgbClr val="24405F"/>
                      </a:solidFill>
                      <a:prstDash val="solid"/>
                      <a:round/>
                      <a:headEnd type="none" w="med" len="med"/>
                      <a:tailEnd type="none" w="med" len="med"/>
                    </a:lnR>
                    <a:lnT w="6350" cap="flat" cmpd="sng" algn="ctr">
                      <a:solidFill>
                        <a:srgbClr val="24405F"/>
                      </a:solidFill>
                      <a:prstDash val="solid"/>
                      <a:round/>
                      <a:headEnd type="none" w="med" len="med"/>
                      <a:tailEnd type="none" w="med" len="med"/>
                    </a:lnT>
                    <a:lnB w="6350" cap="flat" cmpd="sng" algn="ctr">
                      <a:solidFill>
                        <a:srgbClr val="24405F"/>
                      </a:solidFill>
                      <a:prstDash val="solid"/>
                      <a:round/>
                      <a:headEnd type="none" w="med" len="med"/>
                      <a:tailEnd type="none" w="med" len="med"/>
                    </a:lnB>
                    <a:solidFill>
                      <a:srgbClr val="13233B"/>
                    </a:solidFill>
                  </a:tcPr>
                </a:tc>
                <a:extLst>
                  <a:ext uri="{0D108BD9-81ED-4DB2-BD59-A6C34878D82A}">
                    <a16:rowId xmlns:a16="http://schemas.microsoft.com/office/drawing/2014/main" val="10001"/>
                  </a:ext>
                </a:extLst>
              </a:tr>
              <a:tr h="525780">
                <a:tc>
                  <a:txBody>
                    <a:bodyPr/>
                    <a:lstStyle/>
                    <a:p>
                      <a:pPr marL="0" indent="0">
                        <a:buNone/>
                      </a:pPr>
                      <a:r>
                        <a:rPr lang="en-US" sz="1150" dirty="0">
                          <a:solidFill>
                            <a:srgbClr val="8FA6C2"/>
                          </a:solidFill>
                          <a:latin typeface="Calibri" pitchFamily="34" charset="0"/>
                          <a:ea typeface="Calibri" pitchFamily="34" charset="-122"/>
                          <a:cs typeface="Calibri" pitchFamily="34" charset="-120"/>
                        </a:rPr>
                        <a:t>SubscribeUseCase</a:t>
                      </a:r>
                      <a:endParaRPr lang="en-US" sz="1150" dirty="0">
                        <a:latin typeface="Calibri" charset="0"/>
                        <a:ea typeface="Calibri" charset="0"/>
                        <a:cs typeface="Calibri" charset="0"/>
                      </a:endParaRPr>
                    </a:p>
                  </a:txBody>
                  <a:tcPr anchor="ctr">
                    <a:lnL w="6350" cap="flat" cmpd="sng" algn="ctr">
                      <a:solidFill>
                        <a:srgbClr val="24405F"/>
                      </a:solidFill>
                      <a:prstDash val="solid"/>
                      <a:round/>
                      <a:headEnd type="none" w="med" len="med"/>
                      <a:tailEnd type="none" w="med" len="med"/>
                    </a:lnL>
                    <a:lnR w="6350" cap="flat" cmpd="sng" algn="ctr">
                      <a:solidFill>
                        <a:srgbClr val="24405F"/>
                      </a:solidFill>
                      <a:prstDash val="solid"/>
                      <a:round/>
                      <a:headEnd type="none" w="med" len="med"/>
                      <a:tailEnd type="none" w="med" len="med"/>
                    </a:lnR>
                    <a:lnT w="6350" cap="flat" cmpd="sng" algn="ctr">
                      <a:solidFill>
                        <a:srgbClr val="24405F"/>
                      </a:solidFill>
                      <a:prstDash val="solid"/>
                      <a:round/>
                      <a:headEnd type="none" w="med" len="med"/>
                      <a:tailEnd type="none" w="med" len="med"/>
                    </a:lnT>
                    <a:lnB w="6350" cap="flat" cmpd="sng" algn="ctr">
                      <a:solidFill>
                        <a:srgbClr val="24405F"/>
                      </a:solidFill>
                      <a:prstDash val="solid"/>
                      <a:round/>
                      <a:headEnd type="none" w="med" len="med"/>
                      <a:tailEnd type="none" w="med" len="med"/>
                    </a:lnB>
                    <a:solidFill>
                      <a:srgbClr val="13233B"/>
                    </a:solidFill>
                  </a:tcPr>
                </a:tc>
                <a:tc>
                  <a:txBody>
                    <a:bodyPr/>
                    <a:lstStyle/>
                    <a:p>
                      <a:pPr marL="0" indent="0">
                        <a:buNone/>
                      </a:pPr>
                      <a:r>
                        <a:rPr lang="en-US" sz="1150" dirty="0">
                          <a:solidFill>
                            <a:srgbClr val="5EEAD4"/>
                          </a:solidFill>
                          <a:latin typeface="Courier New" pitchFamily="34" charset="0"/>
                          <a:ea typeface="Courier New" pitchFamily="34" charset="-122"/>
                          <a:cs typeface="Courier New" pitchFamily="34" charset="-120"/>
                        </a:rPr>
                        <a:t>subscribe(topic, consumerId, name)</a:t>
                      </a:r>
                      <a:endParaRPr lang="en-US" sz="1150" dirty="0">
                        <a:latin typeface="Courier New" charset="0"/>
                        <a:ea typeface="Courier New" charset="0"/>
                        <a:cs typeface="Courier New" charset="0"/>
                      </a:endParaRPr>
                    </a:p>
                  </a:txBody>
                  <a:tcPr anchor="ctr">
                    <a:lnL w="6350" cap="flat" cmpd="sng" algn="ctr">
                      <a:solidFill>
                        <a:srgbClr val="24405F"/>
                      </a:solidFill>
                      <a:prstDash val="solid"/>
                      <a:round/>
                      <a:headEnd type="none" w="med" len="med"/>
                      <a:tailEnd type="none" w="med" len="med"/>
                    </a:lnL>
                    <a:lnR w="6350" cap="flat" cmpd="sng" algn="ctr">
                      <a:solidFill>
                        <a:srgbClr val="24405F"/>
                      </a:solidFill>
                      <a:prstDash val="solid"/>
                      <a:round/>
                      <a:headEnd type="none" w="med" len="med"/>
                      <a:tailEnd type="none" w="med" len="med"/>
                    </a:lnR>
                    <a:lnT w="6350" cap="flat" cmpd="sng" algn="ctr">
                      <a:solidFill>
                        <a:srgbClr val="24405F"/>
                      </a:solidFill>
                      <a:prstDash val="solid"/>
                      <a:round/>
                      <a:headEnd type="none" w="med" len="med"/>
                      <a:tailEnd type="none" w="med" len="med"/>
                    </a:lnT>
                    <a:lnB w="6350" cap="flat" cmpd="sng" algn="ctr">
                      <a:solidFill>
                        <a:srgbClr val="24405F"/>
                      </a:solidFill>
                      <a:prstDash val="solid"/>
                      <a:round/>
                      <a:headEnd type="none" w="med" len="med"/>
                      <a:tailEnd type="none" w="med" len="med"/>
                    </a:lnB>
                    <a:solidFill>
                      <a:srgbClr val="13233B"/>
                    </a:solidFill>
                  </a:tcPr>
                </a:tc>
                <a:tc>
                  <a:txBody>
                    <a:bodyPr/>
                    <a:lstStyle/>
                    <a:p>
                      <a:pPr marL="0" indent="0">
                        <a:buNone/>
                      </a:pPr>
                      <a:r>
                        <a:rPr lang="en-US" sz="1150" dirty="0">
                          <a:solidFill>
                            <a:srgbClr val="8FA6C2"/>
                          </a:solidFill>
                          <a:latin typeface="Calibri" pitchFamily="34" charset="0"/>
                          <a:ea typeface="Calibri" pitchFamily="34" charset="-122"/>
                          <a:cs typeface="Calibri" pitchFamily="34" charset="-120"/>
                        </a:rPr>
                        <a:t>SubscriptionService</a:t>
                      </a:r>
                      <a:endParaRPr lang="en-US" sz="1150" dirty="0">
                        <a:latin typeface="Calibri" charset="0"/>
                        <a:ea typeface="Calibri" charset="0"/>
                        <a:cs typeface="Calibri" charset="0"/>
                      </a:endParaRPr>
                    </a:p>
                  </a:txBody>
                  <a:tcPr anchor="ctr">
                    <a:lnL w="6350" cap="flat" cmpd="sng" algn="ctr">
                      <a:solidFill>
                        <a:srgbClr val="24405F"/>
                      </a:solidFill>
                      <a:prstDash val="solid"/>
                      <a:round/>
                      <a:headEnd type="none" w="med" len="med"/>
                      <a:tailEnd type="none" w="med" len="med"/>
                    </a:lnL>
                    <a:lnR w="6350" cap="flat" cmpd="sng" algn="ctr">
                      <a:solidFill>
                        <a:srgbClr val="24405F"/>
                      </a:solidFill>
                      <a:prstDash val="solid"/>
                      <a:round/>
                      <a:headEnd type="none" w="med" len="med"/>
                      <a:tailEnd type="none" w="med" len="med"/>
                    </a:lnR>
                    <a:lnT w="6350" cap="flat" cmpd="sng" algn="ctr">
                      <a:solidFill>
                        <a:srgbClr val="24405F"/>
                      </a:solidFill>
                      <a:prstDash val="solid"/>
                      <a:round/>
                      <a:headEnd type="none" w="med" len="med"/>
                      <a:tailEnd type="none" w="med" len="med"/>
                    </a:lnT>
                    <a:lnB w="6350" cap="flat" cmpd="sng" algn="ctr">
                      <a:solidFill>
                        <a:srgbClr val="24405F"/>
                      </a:solidFill>
                      <a:prstDash val="solid"/>
                      <a:round/>
                      <a:headEnd type="none" w="med" len="med"/>
                      <a:tailEnd type="none" w="med" len="med"/>
                    </a:lnB>
                    <a:solidFill>
                      <a:srgbClr val="13233B"/>
                    </a:solidFill>
                  </a:tcPr>
                </a:tc>
                <a:extLst>
                  <a:ext uri="{0D108BD9-81ED-4DB2-BD59-A6C34878D82A}">
                    <a16:rowId xmlns:a16="http://schemas.microsoft.com/office/drawing/2014/main" val="10002"/>
                  </a:ext>
                </a:extLst>
              </a:tr>
              <a:tr h="525780">
                <a:tc>
                  <a:txBody>
                    <a:bodyPr/>
                    <a:lstStyle/>
                    <a:p>
                      <a:pPr marL="0" indent="0">
                        <a:buNone/>
                      </a:pPr>
                      <a:r>
                        <a:rPr lang="en-US" sz="1150" dirty="0">
                          <a:solidFill>
                            <a:srgbClr val="8FA6C2"/>
                          </a:solidFill>
                          <a:latin typeface="Calibri" pitchFamily="34" charset="0"/>
                          <a:ea typeface="Calibri" pitchFamily="34" charset="-122"/>
                          <a:cs typeface="Calibri" pitchFamily="34" charset="-120"/>
                        </a:rPr>
                        <a:t>PublishMessageUseCase</a:t>
                      </a:r>
                      <a:endParaRPr lang="en-US" sz="1150" dirty="0">
                        <a:latin typeface="Calibri" charset="0"/>
                        <a:ea typeface="Calibri" charset="0"/>
                        <a:cs typeface="Calibri" charset="0"/>
                      </a:endParaRPr>
                    </a:p>
                  </a:txBody>
                  <a:tcPr anchor="ctr">
                    <a:lnL w="6350" cap="flat" cmpd="sng" algn="ctr">
                      <a:solidFill>
                        <a:srgbClr val="24405F"/>
                      </a:solidFill>
                      <a:prstDash val="solid"/>
                      <a:round/>
                      <a:headEnd type="none" w="med" len="med"/>
                      <a:tailEnd type="none" w="med" len="med"/>
                    </a:lnL>
                    <a:lnR w="6350" cap="flat" cmpd="sng" algn="ctr">
                      <a:solidFill>
                        <a:srgbClr val="24405F"/>
                      </a:solidFill>
                      <a:prstDash val="solid"/>
                      <a:round/>
                      <a:headEnd type="none" w="med" len="med"/>
                      <a:tailEnd type="none" w="med" len="med"/>
                    </a:lnR>
                    <a:lnT w="6350" cap="flat" cmpd="sng" algn="ctr">
                      <a:solidFill>
                        <a:srgbClr val="24405F"/>
                      </a:solidFill>
                      <a:prstDash val="solid"/>
                      <a:round/>
                      <a:headEnd type="none" w="med" len="med"/>
                      <a:tailEnd type="none" w="med" len="med"/>
                    </a:lnT>
                    <a:lnB w="6350" cap="flat" cmpd="sng" algn="ctr">
                      <a:solidFill>
                        <a:srgbClr val="24405F"/>
                      </a:solidFill>
                      <a:prstDash val="solid"/>
                      <a:round/>
                      <a:headEnd type="none" w="med" len="med"/>
                      <a:tailEnd type="none" w="med" len="med"/>
                    </a:lnB>
                    <a:solidFill>
                      <a:srgbClr val="13233B"/>
                    </a:solidFill>
                  </a:tcPr>
                </a:tc>
                <a:tc>
                  <a:txBody>
                    <a:bodyPr/>
                    <a:lstStyle/>
                    <a:p>
                      <a:pPr marL="0" indent="0">
                        <a:buNone/>
                      </a:pPr>
                      <a:r>
                        <a:rPr lang="en-US" sz="1150" dirty="0">
                          <a:solidFill>
                            <a:srgbClr val="5EEAD4"/>
                          </a:solidFill>
                          <a:latin typeface="Courier New" pitchFamily="34" charset="0"/>
                          <a:ea typeface="Courier New" pitchFamily="34" charset="-122"/>
                          <a:cs typeface="Courier New" pitchFamily="34" charset="-120"/>
                        </a:rPr>
                        <a:t>publish(topic, payload, producerId)</a:t>
                      </a:r>
                      <a:endParaRPr lang="en-US" sz="1150" dirty="0">
                        <a:latin typeface="Courier New" charset="0"/>
                        <a:ea typeface="Courier New" charset="0"/>
                        <a:cs typeface="Courier New" charset="0"/>
                      </a:endParaRPr>
                    </a:p>
                  </a:txBody>
                  <a:tcPr anchor="ctr">
                    <a:lnL w="6350" cap="flat" cmpd="sng" algn="ctr">
                      <a:solidFill>
                        <a:srgbClr val="24405F"/>
                      </a:solidFill>
                      <a:prstDash val="solid"/>
                      <a:round/>
                      <a:headEnd type="none" w="med" len="med"/>
                      <a:tailEnd type="none" w="med" len="med"/>
                    </a:lnL>
                    <a:lnR w="6350" cap="flat" cmpd="sng" algn="ctr">
                      <a:solidFill>
                        <a:srgbClr val="24405F"/>
                      </a:solidFill>
                      <a:prstDash val="solid"/>
                      <a:round/>
                      <a:headEnd type="none" w="med" len="med"/>
                      <a:tailEnd type="none" w="med" len="med"/>
                    </a:lnR>
                    <a:lnT w="6350" cap="flat" cmpd="sng" algn="ctr">
                      <a:solidFill>
                        <a:srgbClr val="24405F"/>
                      </a:solidFill>
                      <a:prstDash val="solid"/>
                      <a:round/>
                      <a:headEnd type="none" w="med" len="med"/>
                      <a:tailEnd type="none" w="med" len="med"/>
                    </a:lnT>
                    <a:lnB w="6350" cap="flat" cmpd="sng" algn="ctr">
                      <a:solidFill>
                        <a:srgbClr val="24405F"/>
                      </a:solidFill>
                      <a:prstDash val="solid"/>
                      <a:round/>
                      <a:headEnd type="none" w="med" len="med"/>
                      <a:tailEnd type="none" w="med" len="med"/>
                    </a:lnB>
                    <a:solidFill>
                      <a:srgbClr val="13233B"/>
                    </a:solidFill>
                  </a:tcPr>
                </a:tc>
                <a:tc>
                  <a:txBody>
                    <a:bodyPr/>
                    <a:lstStyle/>
                    <a:p>
                      <a:pPr marL="0" indent="0">
                        <a:buNone/>
                      </a:pPr>
                      <a:r>
                        <a:rPr lang="en-US" sz="1150" dirty="0">
                          <a:solidFill>
                            <a:srgbClr val="8FA6C2"/>
                          </a:solidFill>
                          <a:latin typeface="Calibri" pitchFamily="34" charset="0"/>
                          <a:ea typeface="Calibri" pitchFamily="34" charset="-122"/>
                          <a:cs typeface="Calibri" pitchFamily="34" charset="-120"/>
                        </a:rPr>
                        <a:t>PublishService</a:t>
                      </a:r>
                      <a:endParaRPr lang="en-US" sz="1150" dirty="0">
                        <a:latin typeface="Calibri" charset="0"/>
                        <a:ea typeface="Calibri" charset="0"/>
                        <a:cs typeface="Calibri" charset="0"/>
                      </a:endParaRPr>
                    </a:p>
                  </a:txBody>
                  <a:tcPr anchor="ctr">
                    <a:lnL w="6350" cap="flat" cmpd="sng" algn="ctr">
                      <a:solidFill>
                        <a:srgbClr val="24405F"/>
                      </a:solidFill>
                      <a:prstDash val="solid"/>
                      <a:round/>
                      <a:headEnd type="none" w="med" len="med"/>
                      <a:tailEnd type="none" w="med" len="med"/>
                    </a:lnL>
                    <a:lnR w="6350" cap="flat" cmpd="sng" algn="ctr">
                      <a:solidFill>
                        <a:srgbClr val="24405F"/>
                      </a:solidFill>
                      <a:prstDash val="solid"/>
                      <a:round/>
                      <a:headEnd type="none" w="med" len="med"/>
                      <a:tailEnd type="none" w="med" len="med"/>
                    </a:lnR>
                    <a:lnT w="6350" cap="flat" cmpd="sng" algn="ctr">
                      <a:solidFill>
                        <a:srgbClr val="24405F"/>
                      </a:solidFill>
                      <a:prstDash val="solid"/>
                      <a:round/>
                      <a:headEnd type="none" w="med" len="med"/>
                      <a:tailEnd type="none" w="med" len="med"/>
                    </a:lnT>
                    <a:lnB w="6350" cap="flat" cmpd="sng" algn="ctr">
                      <a:solidFill>
                        <a:srgbClr val="24405F"/>
                      </a:solidFill>
                      <a:prstDash val="solid"/>
                      <a:round/>
                      <a:headEnd type="none" w="med" len="med"/>
                      <a:tailEnd type="none" w="med" len="med"/>
                    </a:lnB>
                    <a:solidFill>
                      <a:srgbClr val="13233B"/>
                    </a:solidFill>
                  </a:tcPr>
                </a:tc>
                <a:extLst>
                  <a:ext uri="{0D108BD9-81ED-4DB2-BD59-A6C34878D82A}">
                    <a16:rowId xmlns:a16="http://schemas.microsoft.com/office/drawing/2014/main" val="10003"/>
                  </a:ext>
                </a:extLst>
              </a:tr>
              <a:tr h="525780">
                <a:tc>
                  <a:txBody>
                    <a:bodyPr/>
                    <a:lstStyle/>
                    <a:p>
                      <a:pPr marL="0" indent="0">
                        <a:buNone/>
                      </a:pPr>
                      <a:r>
                        <a:rPr lang="en-US" sz="1150" dirty="0">
                          <a:solidFill>
                            <a:srgbClr val="8FA6C2"/>
                          </a:solidFill>
                          <a:latin typeface="Calibri" pitchFamily="34" charset="0"/>
                          <a:ea typeface="Calibri" pitchFamily="34" charset="-122"/>
                          <a:cs typeface="Calibri" pitchFamily="34" charset="-120"/>
                        </a:rPr>
                        <a:t>ConsumeMessageUseCase</a:t>
                      </a:r>
                      <a:endParaRPr lang="en-US" sz="1150" dirty="0">
                        <a:latin typeface="Calibri" charset="0"/>
                        <a:ea typeface="Calibri" charset="0"/>
                        <a:cs typeface="Calibri" charset="0"/>
                      </a:endParaRPr>
                    </a:p>
                  </a:txBody>
                  <a:tcPr anchor="ctr">
                    <a:lnL w="6350" cap="flat" cmpd="sng" algn="ctr">
                      <a:solidFill>
                        <a:srgbClr val="24405F"/>
                      </a:solidFill>
                      <a:prstDash val="solid"/>
                      <a:round/>
                      <a:headEnd type="none" w="med" len="med"/>
                      <a:tailEnd type="none" w="med" len="med"/>
                    </a:lnL>
                    <a:lnR w="6350" cap="flat" cmpd="sng" algn="ctr">
                      <a:solidFill>
                        <a:srgbClr val="24405F"/>
                      </a:solidFill>
                      <a:prstDash val="solid"/>
                      <a:round/>
                      <a:headEnd type="none" w="med" len="med"/>
                      <a:tailEnd type="none" w="med" len="med"/>
                    </a:lnR>
                    <a:lnT w="6350" cap="flat" cmpd="sng" algn="ctr">
                      <a:solidFill>
                        <a:srgbClr val="24405F"/>
                      </a:solidFill>
                      <a:prstDash val="solid"/>
                      <a:round/>
                      <a:headEnd type="none" w="med" len="med"/>
                      <a:tailEnd type="none" w="med" len="med"/>
                    </a:lnT>
                    <a:lnB w="6350" cap="flat" cmpd="sng" algn="ctr">
                      <a:solidFill>
                        <a:srgbClr val="24405F"/>
                      </a:solidFill>
                      <a:prstDash val="solid"/>
                      <a:round/>
                      <a:headEnd type="none" w="med" len="med"/>
                      <a:tailEnd type="none" w="med" len="med"/>
                    </a:lnB>
                    <a:solidFill>
                      <a:srgbClr val="13233B"/>
                    </a:solidFill>
                  </a:tcPr>
                </a:tc>
                <a:tc>
                  <a:txBody>
                    <a:bodyPr/>
                    <a:lstStyle/>
                    <a:p>
                      <a:pPr marL="0" indent="0">
                        <a:buNone/>
                      </a:pPr>
                      <a:r>
                        <a:rPr lang="en-US" sz="1150" dirty="0">
                          <a:solidFill>
                            <a:srgbClr val="5EEAD4"/>
                          </a:solidFill>
                          <a:latin typeface="Courier New" pitchFamily="34" charset="0"/>
                          <a:ea typeface="Courier New" pitchFamily="34" charset="-122"/>
                          <a:cs typeface="Courier New" pitchFamily="34" charset="-120"/>
                        </a:rPr>
                        <a:t>consume(consumerId, max)</a:t>
                      </a:r>
                      <a:endParaRPr lang="en-US" sz="1150" dirty="0">
                        <a:latin typeface="Courier New" charset="0"/>
                        <a:ea typeface="Courier New" charset="0"/>
                        <a:cs typeface="Courier New" charset="0"/>
                      </a:endParaRPr>
                    </a:p>
                  </a:txBody>
                  <a:tcPr anchor="ctr">
                    <a:lnL w="6350" cap="flat" cmpd="sng" algn="ctr">
                      <a:solidFill>
                        <a:srgbClr val="24405F"/>
                      </a:solidFill>
                      <a:prstDash val="solid"/>
                      <a:round/>
                      <a:headEnd type="none" w="med" len="med"/>
                      <a:tailEnd type="none" w="med" len="med"/>
                    </a:lnL>
                    <a:lnR w="6350" cap="flat" cmpd="sng" algn="ctr">
                      <a:solidFill>
                        <a:srgbClr val="24405F"/>
                      </a:solidFill>
                      <a:prstDash val="solid"/>
                      <a:round/>
                      <a:headEnd type="none" w="med" len="med"/>
                      <a:tailEnd type="none" w="med" len="med"/>
                    </a:lnR>
                    <a:lnT w="6350" cap="flat" cmpd="sng" algn="ctr">
                      <a:solidFill>
                        <a:srgbClr val="24405F"/>
                      </a:solidFill>
                      <a:prstDash val="solid"/>
                      <a:round/>
                      <a:headEnd type="none" w="med" len="med"/>
                      <a:tailEnd type="none" w="med" len="med"/>
                    </a:lnT>
                    <a:lnB w="6350" cap="flat" cmpd="sng" algn="ctr">
                      <a:solidFill>
                        <a:srgbClr val="24405F"/>
                      </a:solidFill>
                      <a:prstDash val="solid"/>
                      <a:round/>
                      <a:headEnd type="none" w="med" len="med"/>
                      <a:tailEnd type="none" w="med" len="med"/>
                    </a:lnB>
                    <a:solidFill>
                      <a:srgbClr val="13233B"/>
                    </a:solidFill>
                  </a:tcPr>
                </a:tc>
                <a:tc>
                  <a:txBody>
                    <a:bodyPr/>
                    <a:lstStyle/>
                    <a:p>
                      <a:pPr marL="0" indent="0">
                        <a:buNone/>
                      </a:pPr>
                      <a:r>
                        <a:rPr lang="en-US" sz="1150" dirty="0">
                          <a:solidFill>
                            <a:srgbClr val="8FA6C2"/>
                          </a:solidFill>
                          <a:latin typeface="Calibri" pitchFamily="34" charset="0"/>
                          <a:ea typeface="Calibri" pitchFamily="34" charset="-122"/>
                          <a:cs typeface="Calibri" pitchFamily="34" charset="-120"/>
                        </a:rPr>
                        <a:t>ConsumeService</a:t>
                      </a:r>
                      <a:endParaRPr lang="en-US" sz="1150" dirty="0">
                        <a:latin typeface="Calibri" charset="0"/>
                        <a:ea typeface="Calibri" charset="0"/>
                        <a:cs typeface="Calibri" charset="0"/>
                      </a:endParaRPr>
                    </a:p>
                  </a:txBody>
                  <a:tcPr anchor="ctr">
                    <a:lnL w="6350" cap="flat" cmpd="sng" algn="ctr">
                      <a:solidFill>
                        <a:srgbClr val="24405F"/>
                      </a:solidFill>
                      <a:prstDash val="solid"/>
                      <a:round/>
                      <a:headEnd type="none" w="med" len="med"/>
                      <a:tailEnd type="none" w="med" len="med"/>
                    </a:lnL>
                    <a:lnR w="6350" cap="flat" cmpd="sng" algn="ctr">
                      <a:solidFill>
                        <a:srgbClr val="24405F"/>
                      </a:solidFill>
                      <a:prstDash val="solid"/>
                      <a:round/>
                      <a:headEnd type="none" w="med" len="med"/>
                      <a:tailEnd type="none" w="med" len="med"/>
                    </a:lnR>
                    <a:lnT w="6350" cap="flat" cmpd="sng" algn="ctr">
                      <a:solidFill>
                        <a:srgbClr val="24405F"/>
                      </a:solidFill>
                      <a:prstDash val="solid"/>
                      <a:round/>
                      <a:headEnd type="none" w="med" len="med"/>
                      <a:tailEnd type="none" w="med" len="med"/>
                    </a:lnT>
                    <a:lnB w="6350" cap="flat" cmpd="sng" algn="ctr">
                      <a:solidFill>
                        <a:srgbClr val="24405F"/>
                      </a:solidFill>
                      <a:prstDash val="solid"/>
                      <a:round/>
                      <a:headEnd type="none" w="med" len="med"/>
                      <a:tailEnd type="none" w="med" len="med"/>
                    </a:lnB>
                    <a:solidFill>
                      <a:srgbClr val="13233B"/>
                    </a:solidFill>
                  </a:tcPr>
                </a:tc>
                <a:extLst>
                  <a:ext uri="{0D108BD9-81ED-4DB2-BD59-A6C34878D82A}">
                    <a16:rowId xmlns:a16="http://schemas.microsoft.com/office/drawing/2014/main" val="10004"/>
                  </a:ext>
                </a:extLst>
              </a:tr>
              <a:tr h="525780">
                <a:tc>
                  <a:txBody>
                    <a:bodyPr/>
                    <a:lstStyle/>
                    <a:p>
                      <a:pPr marL="0" indent="0">
                        <a:buNone/>
                      </a:pPr>
                      <a:r>
                        <a:rPr lang="en-US" sz="1150" dirty="0">
                          <a:solidFill>
                            <a:srgbClr val="8FA6C2"/>
                          </a:solidFill>
                          <a:latin typeface="Calibri" pitchFamily="34" charset="0"/>
                          <a:ea typeface="Calibri" pitchFamily="34" charset="-122"/>
                          <a:cs typeface="Calibri" pitchFamily="34" charset="-120"/>
                        </a:rPr>
                        <a:t>AckMessageUseCase</a:t>
                      </a:r>
                      <a:endParaRPr lang="en-US" sz="1150" dirty="0">
                        <a:latin typeface="Calibri" charset="0"/>
                        <a:ea typeface="Calibri" charset="0"/>
                        <a:cs typeface="Calibri" charset="0"/>
                      </a:endParaRPr>
                    </a:p>
                  </a:txBody>
                  <a:tcPr anchor="ctr">
                    <a:lnL w="6350" cap="flat" cmpd="sng" algn="ctr">
                      <a:solidFill>
                        <a:srgbClr val="24405F"/>
                      </a:solidFill>
                      <a:prstDash val="solid"/>
                      <a:round/>
                      <a:headEnd type="none" w="med" len="med"/>
                      <a:tailEnd type="none" w="med" len="med"/>
                    </a:lnL>
                    <a:lnR w="6350" cap="flat" cmpd="sng" algn="ctr">
                      <a:solidFill>
                        <a:srgbClr val="24405F"/>
                      </a:solidFill>
                      <a:prstDash val="solid"/>
                      <a:round/>
                      <a:headEnd type="none" w="med" len="med"/>
                      <a:tailEnd type="none" w="med" len="med"/>
                    </a:lnR>
                    <a:lnT w="6350" cap="flat" cmpd="sng" algn="ctr">
                      <a:solidFill>
                        <a:srgbClr val="24405F"/>
                      </a:solidFill>
                      <a:prstDash val="solid"/>
                      <a:round/>
                      <a:headEnd type="none" w="med" len="med"/>
                      <a:tailEnd type="none" w="med" len="med"/>
                    </a:lnT>
                    <a:lnB w="6350" cap="flat" cmpd="sng" algn="ctr">
                      <a:solidFill>
                        <a:srgbClr val="24405F"/>
                      </a:solidFill>
                      <a:prstDash val="solid"/>
                      <a:round/>
                      <a:headEnd type="none" w="med" len="med"/>
                      <a:tailEnd type="none" w="med" len="med"/>
                    </a:lnB>
                    <a:solidFill>
                      <a:srgbClr val="13233B"/>
                    </a:solidFill>
                  </a:tcPr>
                </a:tc>
                <a:tc>
                  <a:txBody>
                    <a:bodyPr/>
                    <a:lstStyle/>
                    <a:p>
                      <a:pPr marL="0" indent="0">
                        <a:buNone/>
                      </a:pPr>
                      <a:r>
                        <a:rPr lang="en-US" sz="1150" dirty="0">
                          <a:solidFill>
                            <a:srgbClr val="5EEAD4"/>
                          </a:solidFill>
                          <a:latin typeface="Courier New" pitchFamily="34" charset="0"/>
                          <a:ea typeface="Courier New" pitchFamily="34" charset="-122"/>
                          <a:cs typeface="Courier New" pitchFamily="34" charset="-120"/>
                        </a:rPr>
                        <a:t>ack(consumerId, deliveryId)</a:t>
                      </a:r>
                      <a:endParaRPr lang="en-US" sz="1150" dirty="0">
                        <a:latin typeface="Courier New" charset="0"/>
                        <a:ea typeface="Courier New" charset="0"/>
                        <a:cs typeface="Courier New" charset="0"/>
                      </a:endParaRPr>
                    </a:p>
                  </a:txBody>
                  <a:tcPr anchor="ctr">
                    <a:lnL w="6350" cap="flat" cmpd="sng" algn="ctr">
                      <a:solidFill>
                        <a:srgbClr val="24405F"/>
                      </a:solidFill>
                      <a:prstDash val="solid"/>
                      <a:round/>
                      <a:headEnd type="none" w="med" len="med"/>
                      <a:tailEnd type="none" w="med" len="med"/>
                    </a:lnL>
                    <a:lnR w="6350" cap="flat" cmpd="sng" algn="ctr">
                      <a:solidFill>
                        <a:srgbClr val="24405F"/>
                      </a:solidFill>
                      <a:prstDash val="solid"/>
                      <a:round/>
                      <a:headEnd type="none" w="med" len="med"/>
                      <a:tailEnd type="none" w="med" len="med"/>
                    </a:lnR>
                    <a:lnT w="6350" cap="flat" cmpd="sng" algn="ctr">
                      <a:solidFill>
                        <a:srgbClr val="24405F"/>
                      </a:solidFill>
                      <a:prstDash val="solid"/>
                      <a:round/>
                      <a:headEnd type="none" w="med" len="med"/>
                      <a:tailEnd type="none" w="med" len="med"/>
                    </a:lnT>
                    <a:lnB w="6350" cap="flat" cmpd="sng" algn="ctr">
                      <a:solidFill>
                        <a:srgbClr val="24405F"/>
                      </a:solidFill>
                      <a:prstDash val="solid"/>
                      <a:round/>
                      <a:headEnd type="none" w="med" len="med"/>
                      <a:tailEnd type="none" w="med" len="med"/>
                    </a:lnB>
                    <a:solidFill>
                      <a:srgbClr val="13233B"/>
                    </a:solidFill>
                  </a:tcPr>
                </a:tc>
                <a:tc>
                  <a:txBody>
                    <a:bodyPr/>
                    <a:lstStyle/>
                    <a:p>
                      <a:pPr marL="0" indent="0">
                        <a:buNone/>
                      </a:pPr>
                      <a:r>
                        <a:rPr lang="en-US" sz="1150" dirty="0">
                          <a:solidFill>
                            <a:srgbClr val="8FA6C2"/>
                          </a:solidFill>
                          <a:latin typeface="Calibri" pitchFamily="34" charset="0"/>
                          <a:ea typeface="Calibri" pitchFamily="34" charset="-122"/>
                          <a:cs typeface="Calibri" pitchFamily="34" charset="-120"/>
                        </a:rPr>
                        <a:t>AckService</a:t>
                      </a:r>
                      <a:endParaRPr lang="en-US" sz="1150" dirty="0">
                        <a:latin typeface="Calibri" charset="0"/>
                        <a:ea typeface="Calibri" charset="0"/>
                        <a:cs typeface="Calibri" charset="0"/>
                      </a:endParaRPr>
                    </a:p>
                  </a:txBody>
                  <a:tcPr anchor="ctr">
                    <a:lnL w="6350" cap="flat" cmpd="sng" algn="ctr">
                      <a:solidFill>
                        <a:srgbClr val="24405F"/>
                      </a:solidFill>
                      <a:prstDash val="solid"/>
                      <a:round/>
                      <a:headEnd type="none" w="med" len="med"/>
                      <a:tailEnd type="none" w="med" len="med"/>
                    </a:lnL>
                    <a:lnR w="6350" cap="flat" cmpd="sng" algn="ctr">
                      <a:solidFill>
                        <a:srgbClr val="24405F"/>
                      </a:solidFill>
                      <a:prstDash val="solid"/>
                      <a:round/>
                      <a:headEnd type="none" w="med" len="med"/>
                      <a:tailEnd type="none" w="med" len="med"/>
                    </a:lnR>
                    <a:lnT w="6350" cap="flat" cmpd="sng" algn="ctr">
                      <a:solidFill>
                        <a:srgbClr val="24405F"/>
                      </a:solidFill>
                      <a:prstDash val="solid"/>
                      <a:round/>
                      <a:headEnd type="none" w="med" len="med"/>
                      <a:tailEnd type="none" w="med" len="med"/>
                    </a:lnT>
                    <a:lnB w="6350" cap="flat" cmpd="sng" algn="ctr">
                      <a:solidFill>
                        <a:srgbClr val="24405F"/>
                      </a:solidFill>
                      <a:prstDash val="solid"/>
                      <a:round/>
                      <a:headEnd type="none" w="med" len="med"/>
                      <a:tailEnd type="none" w="med" len="med"/>
                    </a:lnB>
                    <a:solidFill>
                      <a:srgbClr val="13233B"/>
                    </a:solidFill>
                  </a:tcPr>
                </a:tc>
                <a:extLst>
                  <a:ext uri="{0D108BD9-81ED-4DB2-BD59-A6C34878D82A}">
                    <a16:rowId xmlns:a16="http://schemas.microsoft.com/office/drawing/2014/main" val="10005"/>
                  </a:ext>
                </a:extLst>
              </a:tr>
              <a:tr h="525780">
                <a:tc>
                  <a:txBody>
                    <a:bodyPr/>
                    <a:lstStyle/>
                    <a:p>
                      <a:pPr marL="0" indent="0">
                        <a:buNone/>
                      </a:pPr>
                      <a:r>
                        <a:rPr lang="en-US" sz="1150" dirty="0">
                          <a:solidFill>
                            <a:srgbClr val="8FA6C2"/>
                          </a:solidFill>
                          <a:latin typeface="Calibri" pitchFamily="34" charset="0"/>
                          <a:ea typeface="Calibri" pitchFamily="34" charset="-122"/>
                          <a:cs typeface="Calibri" pitchFamily="34" charset="-120"/>
                        </a:rPr>
                        <a:t>QueryLogsUseCase</a:t>
                      </a:r>
                      <a:endParaRPr lang="en-US" sz="1150" dirty="0">
                        <a:latin typeface="Calibri" charset="0"/>
                        <a:ea typeface="Calibri" charset="0"/>
                        <a:cs typeface="Calibri" charset="0"/>
                      </a:endParaRPr>
                    </a:p>
                  </a:txBody>
                  <a:tcPr anchor="ctr">
                    <a:lnL w="6350" cap="flat" cmpd="sng" algn="ctr">
                      <a:solidFill>
                        <a:srgbClr val="24405F"/>
                      </a:solidFill>
                      <a:prstDash val="solid"/>
                      <a:round/>
                      <a:headEnd type="none" w="med" len="med"/>
                      <a:tailEnd type="none" w="med" len="med"/>
                    </a:lnL>
                    <a:lnR w="6350" cap="flat" cmpd="sng" algn="ctr">
                      <a:solidFill>
                        <a:srgbClr val="24405F"/>
                      </a:solidFill>
                      <a:prstDash val="solid"/>
                      <a:round/>
                      <a:headEnd type="none" w="med" len="med"/>
                      <a:tailEnd type="none" w="med" len="med"/>
                    </a:lnR>
                    <a:lnT w="6350" cap="flat" cmpd="sng" algn="ctr">
                      <a:solidFill>
                        <a:srgbClr val="24405F"/>
                      </a:solidFill>
                      <a:prstDash val="solid"/>
                      <a:round/>
                      <a:headEnd type="none" w="med" len="med"/>
                      <a:tailEnd type="none" w="med" len="med"/>
                    </a:lnT>
                    <a:lnB w="6350" cap="flat" cmpd="sng" algn="ctr">
                      <a:solidFill>
                        <a:srgbClr val="24405F"/>
                      </a:solidFill>
                      <a:prstDash val="solid"/>
                      <a:round/>
                      <a:headEnd type="none" w="med" len="med"/>
                      <a:tailEnd type="none" w="med" len="med"/>
                    </a:lnB>
                    <a:solidFill>
                      <a:srgbClr val="13233B"/>
                    </a:solidFill>
                  </a:tcPr>
                </a:tc>
                <a:tc>
                  <a:txBody>
                    <a:bodyPr/>
                    <a:lstStyle/>
                    <a:p>
                      <a:pPr marL="0" indent="0">
                        <a:buNone/>
                      </a:pPr>
                      <a:r>
                        <a:rPr lang="en-US" sz="1150" dirty="0">
                          <a:solidFill>
                            <a:srgbClr val="5EEAD4"/>
                          </a:solidFill>
                          <a:latin typeface="Courier New" pitchFamily="34" charset="0"/>
                          <a:ea typeface="Courier New" pitchFamily="34" charset="-122"/>
                          <a:cs typeface="Courier New" pitchFamily="34" charset="-120"/>
                        </a:rPr>
                        <a:t>getLogs(typeFilter, limit)</a:t>
                      </a:r>
                      <a:endParaRPr lang="en-US" sz="1150" dirty="0">
                        <a:latin typeface="Courier New" charset="0"/>
                        <a:ea typeface="Courier New" charset="0"/>
                        <a:cs typeface="Courier New" charset="0"/>
                      </a:endParaRPr>
                    </a:p>
                  </a:txBody>
                  <a:tcPr anchor="ctr">
                    <a:lnL w="6350" cap="flat" cmpd="sng" algn="ctr">
                      <a:solidFill>
                        <a:srgbClr val="24405F"/>
                      </a:solidFill>
                      <a:prstDash val="solid"/>
                      <a:round/>
                      <a:headEnd type="none" w="med" len="med"/>
                      <a:tailEnd type="none" w="med" len="med"/>
                    </a:lnL>
                    <a:lnR w="6350" cap="flat" cmpd="sng" algn="ctr">
                      <a:solidFill>
                        <a:srgbClr val="24405F"/>
                      </a:solidFill>
                      <a:prstDash val="solid"/>
                      <a:round/>
                      <a:headEnd type="none" w="med" len="med"/>
                      <a:tailEnd type="none" w="med" len="med"/>
                    </a:lnR>
                    <a:lnT w="6350" cap="flat" cmpd="sng" algn="ctr">
                      <a:solidFill>
                        <a:srgbClr val="24405F"/>
                      </a:solidFill>
                      <a:prstDash val="solid"/>
                      <a:round/>
                      <a:headEnd type="none" w="med" len="med"/>
                      <a:tailEnd type="none" w="med" len="med"/>
                    </a:lnT>
                    <a:lnB w="6350" cap="flat" cmpd="sng" algn="ctr">
                      <a:solidFill>
                        <a:srgbClr val="24405F"/>
                      </a:solidFill>
                      <a:prstDash val="solid"/>
                      <a:round/>
                      <a:headEnd type="none" w="med" len="med"/>
                      <a:tailEnd type="none" w="med" len="med"/>
                    </a:lnB>
                    <a:solidFill>
                      <a:srgbClr val="13233B"/>
                    </a:solidFill>
                  </a:tcPr>
                </a:tc>
                <a:tc>
                  <a:txBody>
                    <a:bodyPr/>
                    <a:lstStyle/>
                    <a:p>
                      <a:pPr marL="0" indent="0">
                        <a:buNone/>
                      </a:pPr>
                      <a:r>
                        <a:rPr lang="en-US" sz="1150" dirty="0">
                          <a:solidFill>
                            <a:srgbClr val="8FA6C2"/>
                          </a:solidFill>
                          <a:latin typeface="Calibri" pitchFamily="34" charset="0"/>
                          <a:ea typeface="Calibri" pitchFamily="34" charset="-122"/>
                          <a:cs typeface="Calibri" pitchFamily="34" charset="-120"/>
                        </a:rPr>
                        <a:t>QueryLogsService</a:t>
                      </a:r>
                      <a:endParaRPr lang="en-US" sz="1150" dirty="0">
                        <a:latin typeface="Calibri" charset="0"/>
                        <a:ea typeface="Calibri" charset="0"/>
                        <a:cs typeface="Calibri" charset="0"/>
                      </a:endParaRPr>
                    </a:p>
                  </a:txBody>
                  <a:tcPr anchor="ctr">
                    <a:lnL w="6350" cap="flat" cmpd="sng" algn="ctr">
                      <a:solidFill>
                        <a:srgbClr val="24405F"/>
                      </a:solidFill>
                      <a:prstDash val="solid"/>
                      <a:round/>
                      <a:headEnd type="none" w="med" len="med"/>
                      <a:tailEnd type="none" w="med" len="med"/>
                    </a:lnL>
                    <a:lnR w="6350" cap="flat" cmpd="sng" algn="ctr">
                      <a:solidFill>
                        <a:srgbClr val="24405F"/>
                      </a:solidFill>
                      <a:prstDash val="solid"/>
                      <a:round/>
                      <a:headEnd type="none" w="med" len="med"/>
                      <a:tailEnd type="none" w="med" len="med"/>
                    </a:lnR>
                    <a:lnT w="6350" cap="flat" cmpd="sng" algn="ctr">
                      <a:solidFill>
                        <a:srgbClr val="24405F"/>
                      </a:solidFill>
                      <a:prstDash val="solid"/>
                      <a:round/>
                      <a:headEnd type="none" w="med" len="med"/>
                      <a:tailEnd type="none" w="med" len="med"/>
                    </a:lnT>
                    <a:lnB w="6350" cap="flat" cmpd="sng" algn="ctr">
                      <a:solidFill>
                        <a:srgbClr val="24405F"/>
                      </a:solidFill>
                      <a:prstDash val="solid"/>
                      <a:round/>
                      <a:headEnd type="none" w="med" len="med"/>
                      <a:tailEnd type="none" w="med" len="med"/>
                    </a:lnB>
                    <a:solidFill>
                      <a:srgbClr val="13233B"/>
                    </a:solidFill>
                  </a:tcPr>
                </a:tc>
                <a:extLst>
                  <a:ext uri="{0D108BD9-81ED-4DB2-BD59-A6C34878D82A}">
                    <a16:rowId xmlns:a16="http://schemas.microsoft.com/office/drawing/2014/main" val="10006"/>
                  </a:ext>
                </a:extLst>
              </a:tr>
              <a:tr h="525780">
                <a:tc>
                  <a:txBody>
                    <a:bodyPr/>
                    <a:lstStyle/>
                    <a:p>
                      <a:pPr marL="0" indent="0">
                        <a:buNone/>
                      </a:pPr>
                      <a:r>
                        <a:rPr lang="en-US" sz="1150" dirty="0">
                          <a:solidFill>
                            <a:srgbClr val="8FA6C2"/>
                          </a:solidFill>
                          <a:latin typeface="Calibri" pitchFamily="34" charset="0"/>
                          <a:ea typeface="Calibri" pitchFamily="34" charset="-122"/>
                          <a:cs typeface="Calibri" pitchFamily="34" charset="-120"/>
                        </a:rPr>
                        <a:t>QueryMetricsUseCase</a:t>
                      </a:r>
                      <a:endParaRPr lang="en-US" sz="1150" dirty="0">
                        <a:latin typeface="Calibri" charset="0"/>
                        <a:ea typeface="Calibri" charset="0"/>
                        <a:cs typeface="Calibri" charset="0"/>
                      </a:endParaRPr>
                    </a:p>
                  </a:txBody>
                  <a:tcPr anchor="ctr">
                    <a:lnL w="6350" cap="flat" cmpd="sng" algn="ctr">
                      <a:solidFill>
                        <a:srgbClr val="24405F"/>
                      </a:solidFill>
                      <a:prstDash val="solid"/>
                      <a:round/>
                      <a:headEnd type="none" w="med" len="med"/>
                      <a:tailEnd type="none" w="med" len="med"/>
                    </a:lnL>
                    <a:lnR w="6350" cap="flat" cmpd="sng" algn="ctr">
                      <a:solidFill>
                        <a:srgbClr val="24405F"/>
                      </a:solidFill>
                      <a:prstDash val="solid"/>
                      <a:round/>
                      <a:headEnd type="none" w="med" len="med"/>
                      <a:tailEnd type="none" w="med" len="med"/>
                    </a:lnR>
                    <a:lnT w="6350" cap="flat" cmpd="sng" algn="ctr">
                      <a:solidFill>
                        <a:srgbClr val="24405F"/>
                      </a:solidFill>
                      <a:prstDash val="solid"/>
                      <a:round/>
                      <a:headEnd type="none" w="med" len="med"/>
                      <a:tailEnd type="none" w="med" len="med"/>
                    </a:lnT>
                    <a:lnB w="6350" cap="flat" cmpd="sng" algn="ctr">
                      <a:solidFill>
                        <a:srgbClr val="24405F"/>
                      </a:solidFill>
                      <a:prstDash val="solid"/>
                      <a:round/>
                      <a:headEnd type="none" w="med" len="med"/>
                      <a:tailEnd type="none" w="med" len="med"/>
                    </a:lnB>
                    <a:solidFill>
                      <a:srgbClr val="13233B"/>
                    </a:solidFill>
                  </a:tcPr>
                </a:tc>
                <a:tc>
                  <a:txBody>
                    <a:bodyPr/>
                    <a:lstStyle/>
                    <a:p>
                      <a:pPr marL="0" indent="0">
                        <a:buNone/>
                      </a:pPr>
                      <a:r>
                        <a:rPr lang="en-US" sz="1150" dirty="0">
                          <a:solidFill>
                            <a:srgbClr val="5EEAD4"/>
                          </a:solidFill>
                          <a:latin typeface="Courier New" pitchFamily="34" charset="0"/>
                          <a:ea typeface="Courier New" pitchFamily="34" charset="-122"/>
                          <a:cs typeface="Courier New" pitchFamily="34" charset="-120"/>
                        </a:rPr>
                        <a:t>getMetrics()</a:t>
                      </a:r>
                      <a:endParaRPr lang="en-US" sz="1150" dirty="0">
                        <a:latin typeface="Courier New" charset="0"/>
                        <a:ea typeface="Courier New" charset="0"/>
                        <a:cs typeface="Courier New" charset="0"/>
                      </a:endParaRPr>
                    </a:p>
                  </a:txBody>
                  <a:tcPr anchor="ctr">
                    <a:lnL w="6350" cap="flat" cmpd="sng" algn="ctr">
                      <a:solidFill>
                        <a:srgbClr val="24405F"/>
                      </a:solidFill>
                      <a:prstDash val="solid"/>
                      <a:round/>
                      <a:headEnd type="none" w="med" len="med"/>
                      <a:tailEnd type="none" w="med" len="med"/>
                    </a:lnL>
                    <a:lnR w="6350" cap="flat" cmpd="sng" algn="ctr">
                      <a:solidFill>
                        <a:srgbClr val="24405F"/>
                      </a:solidFill>
                      <a:prstDash val="solid"/>
                      <a:round/>
                      <a:headEnd type="none" w="med" len="med"/>
                      <a:tailEnd type="none" w="med" len="med"/>
                    </a:lnR>
                    <a:lnT w="6350" cap="flat" cmpd="sng" algn="ctr">
                      <a:solidFill>
                        <a:srgbClr val="24405F"/>
                      </a:solidFill>
                      <a:prstDash val="solid"/>
                      <a:round/>
                      <a:headEnd type="none" w="med" len="med"/>
                      <a:tailEnd type="none" w="med" len="med"/>
                    </a:lnT>
                    <a:lnB w="6350" cap="flat" cmpd="sng" algn="ctr">
                      <a:solidFill>
                        <a:srgbClr val="24405F"/>
                      </a:solidFill>
                      <a:prstDash val="solid"/>
                      <a:round/>
                      <a:headEnd type="none" w="med" len="med"/>
                      <a:tailEnd type="none" w="med" len="med"/>
                    </a:lnB>
                    <a:solidFill>
                      <a:srgbClr val="13233B"/>
                    </a:solidFill>
                  </a:tcPr>
                </a:tc>
                <a:tc>
                  <a:txBody>
                    <a:bodyPr/>
                    <a:lstStyle/>
                    <a:p>
                      <a:pPr marL="0" indent="0">
                        <a:buNone/>
                      </a:pPr>
                      <a:r>
                        <a:rPr lang="en-US" sz="1150" dirty="0">
                          <a:solidFill>
                            <a:srgbClr val="8FA6C2"/>
                          </a:solidFill>
                          <a:latin typeface="Calibri" pitchFamily="34" charset="0"/>
                          <a:ea typeface="Calibri" pitchFamily="34" charset="-122"/>
                          <a:cs typeface="Calibri" pitchFamily="34" charset="-120"/>
                        </a:rPr>
                        <a:t>QueryMetricsService</a:t>
                      </a:r>
                      <a:endParaRPr lang="en-US" sz="1150" dirty="0">
                        <a:latin typeface="Calibri" charset="0"/>
                        <a:ea typeface="Calibri" charset="0"/>
                        <a:cs typeface="Calibri" charset="0"/>
                      </a:endParaRPr>
                    </a:p>
                  </a:txBody>
                  <a:tcPr anchor="ctr">
                    <a:lnL w="6350" cap="flat" cmpd="sng" algn="ctr">
                      <a:solidFill>
                        <a:srgbClr val="24405F"/>
                      </a:solidFill>
                      <a:prstDash val="solid"/>
                      <a:round/>
                      <a:headEnd type="none" w="med" len="med"/>
                      <a:tailEnd type="none" w="med" len="med"/>
                    </a:lnL>
                    <a:lnR w="6350" cap="flat" cmpd="sng" algn="ctr">
                      <a:solidFill>
                        <a:srgbClr val="24405F"/>
                      </a:solidFill>
                      <a:prstDash val="solid"/>
                      <a:round/>
                      <a:headEnd type="none" w="med" len="med"/>
                      <a:tailEnd type="none" w="med" len="med"/>
                    </a:lnR>
                    <a:lnT w="6350" cap="flat" cmpd="sng" algn="ctr">
                      <a:solidFill>
                        <a:srgbClr val="24405F"/>
                      </a:solidFill>
                      <a:prstDash val="solid"/>
                      <a:round/>
                      <a:headEnd type="none" w="med" len="med"/>
                      <a:tailEnd type="none" w="med" len="med"/>
                    </a:lnT>
                    <a:lnB w="6350" cap="flat" cmpd="sng" algn="ctr">
                      <a:solidFill>
                        <a:srgbClr val="24405F"/>
                      </a:solidFill>
                      <a:prstDash val="solid"/>
                      <a:round/>
                      <a:headEnd type="none" w="med" len="med"/>
                      <a:tailEnd type="none" w="med" len="med"/>
                    </a:lnB>
                    <a:solidFill>
                      <a:srgbClr val="13233B"/>
                    </a:solidFill>
                  </a:tcPr>
                </a:tc>
                <a:extLst>
                  <a:ext uri="{0D108BD9-81ED-4DB2-BD59-A6C34878D82A}">
                    <a16:rowId xmlns:a16="http://schemas.microsoft.com/office/drawing/2014/main" val="10007"/>
                  </a:ext>
                </a:extLst>
              </a:tr>
            </a:tbl>
          </a:graphicData>
        </a:graphic>
      </p:graphicFrame>
      <p:sp>
        <p:nvSpPr>
          <p:cNvPr id="6" name="Text 3"/>
          <p:cNvSpPr/>
          <p:nvPr/>
        </p:nvSpPr>
        <p:spPr>
          <a:xfrm>
            <a:off x="11000232" y="6400800"/>
            <a:ext cx="914400" cy="274320"/>
          </a:xfrm>
          <a:prstGeom prst="rect">
            <a:avLst/>
          </a:prstGeom>
          <a:noFill/>
          <a:ln/>
        </p:spPr>
        <p:txBody>
          <a:bodyPr wrap="square" lIns="0" tIns="0" rIns="0" bIns="0" rtlCol="0" anchor="ctr"/>
          <a:lstStyle/>
          <a:p>
            <a:pPr marL="0" indent="0" algn="r">
              <a:buNone/>
            </a:pPr>
            <a:r>
              <a:rPr lang="en-US" sz="1000" dirty="0">
                <a:solidFill>
                  <a:srgbClr val="8FA6C2"/>
                </a:solidFill>
              </a:rPr>
              <a:t>06 / 12</a:t>
            </a:r>
            <a:endParaRPr lang="en-US" sz="1000" dirty="0"/>
          </a:p>
        </p:txBody>
      </p:sp>
      <p:sp>
        <p:nvSpPr>
          <p:cNvPr id="5" name="Text 4"/>
          <p:cNvSpPr/>
          <p:nvPr/>
        </p:nvSpPr>
        <p:spPr>
          <a:xfrm>
            <a:off x="457200" y="6400800"/>
            <a:ext cx="4572000" cy="274320"/>
          </a:xfrm>
          <a:prstGeom prst="rect">
            <a:avLst/>
          </a:prstGeom>
          <a:noFill/>
          <a:ln/>
        </p:spPr>
        <p:txBody>
          <a:bodyPr wrap="square" lIns="0" tIns="0" rIns="0" bIns="0" rtlCol="0" anchor="ctr"/>
          <a:lstStyle/>
          <a:p>
            <a:pPr marL="0" indent="0">
              <a:buNone/>
            </a:pPr>
            <a:r>
              <a:rPr lang="en-US" sz="1000" kern="0" spc="100" dirty="0">
                <a:solidFill>
                  <a:srgbClr val="8FA6C2"/>
                </a:solidFill>
              </a:rPr>
              <a:t>MINI BROKER DE MENSAJES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929"/>
        </a:solidFill>
        <a:effectLst/>
      </p:bgPr>
    </p:bg>
    <p:spTree>
      <p:nvGrpSpPr>
        <p:cNvPr id="1" name=""/>
        <p:cNvGrpSpPr/>
        <p:nvPr/>
      </p:nvGrpSpPr>
      <p:grpSpPr>
        <a:xfrm>
          <a:off x="0" y="0"/>
          <a:ext cx="0" cy="0"/>
          <a:chOff x="0" y="0"/>
          <a:chExt cx="0" cy="0"/>
        </a:xfrm>
      </p:grpSpPr>
      <p:sp>
        <p:nvSpPr>
          <p:cNvPr id="2" name="Text 0"/>
          <p:cNvSpPr/>
          <p:nvPr/>
        </p:nvSpPr>
        <p:spPr>
          <a:xfrm>
            <a:off x="548640" y="411480"/>
            <a:ext cx="5486400" cy="320040"/>
          </a:xfrm>
          <a:prstGeom prst="rect">
            <a:avLst/>
          </a:prstGeom>
          <a:noFill/>
          <a:ln/>
        </p:spPr>
        <p:txBody>
          <a:bodyPr wrap="square" lIns="0" tIns="0" rIns="0" bIns="0" rtlCol="0" anchor="ctr"/>
          <a:lstStyle/>
          <a:p>
            <a:pPr marL="0" indent="0">
              <a:buNone/>
            </a:pPr>
            <a:r>
              <a:rPr lang="en-US" sz="1200" b="1" kern="0" spc="200" dirty="0">
                <a:solidFill>
                  <a:srgbClr val="5EEAD4"/>
                </a:solidFill>
                <a:latin typeface="Calibri" pitchFamily="34" charset="0"/>
                <a:ea typeface="Calibri" pitchFamily="34" charset="-122"/>
                <a:cs typeface="Calibri" pitchFamily="34" charset="-120"/>
              </a:rPr>
              <a:t>05 · ADAPTER DE ENTRADA</a:t>
            </a:r>
            <a:endParaRPr lang="en-US" sz="1200" dirty="0"/>
          </a:p>
        </p:txBody>
      </p:sp>
      <p:sp>
        <p:nvSpPr>
          <p:cNvPr id="3" name="Text 1"/>
          <p:cNvSpPr/>
          <p:nvPr/>
        </p:nvSpPr>
        <p:spPr>
          <a:xfrm>
            <a:off x="548640" y="713232"/>
            <a:ext cx="8229600" cy="640080"/>
          </a:xfrm>
          <a:prstGeom prst="rect">
            <a:avLst/>
          </a:prstGeom>
          <a:noFill/>
          <a:ln/>
        </p:spPr>
        <p:txBody>
          <a:bodyPr wrap="square" lIns="0" tIns="0" rIns="0" bIns="0" rtlCol="0" anchor="ctr"/>
          <a:lstStyle/>
          <a:p>
            <a:pPr marL="0" indent="0">
              <a:buNone/>
            </a:pPr>
            <a:r>
              <a:rPr lang="en-US" sz="3000" b="1" dirty="0">
                <a:solidFill>
                  <a:srgbClr val="F3F6FA"/>
                </a:solidFill>
                <a:latin typeface="Cambria" pitchFamily="34" charset="0"/>
                <a:ea typeface="Cambria" pitchFamily="34" charset="-122"/>
                <a:cs typeface="Cambria" pitchFamily="34" charset="-120"/>
              </a:rPr>
              <a:t>API REST del broker</a:t>
            </a:r>
            <a:endParaRPr lang="en-US" sz="3000" dirty="0"/>
          </a:p>
        </p:txBody>
      </p:sp>
      <p:sp>
        <p:nvSpPr>
          <p:cNvPr id="4" name="Shape 2"/>
          <p:cNvSpPr/>
          <p:nvPr/>
        </p:nvSpPr>
        <p:spPr>
          <a:xfrm>
            <a:off x="548640" y="1600200"/>
            <a:ext cx="11064240" cy="548640"/>
          </a:xfrm>
          <a:prstGeom prst="roundRect">
            <a:avLst>
              <a:gd name="adj" fmla="val 10000"/>
            </a:avLst>
          </a:prstGeom>
          <a:solidFill>
            <a:srgbClr val="13233B"/>
          </a:solidFill>
          <a:ln/>
        </p:spPr>
      </p:sp>
      <p:sp>
        <p:nvSpPr>
          <p:cNvPr id="5" name="Shape 3"/>
          <p:cNvSpPr/>
          <p:nvPr/>
        </p:nvSpPr>
        <p:spPr>
          <a:xfrm>
            <a:off x="731520" y="1700784"/>
            <a:ext cx="777240" cy="347472"/>
          </a:xfrm>
          <a:prstGeom prst="roundRect">
            <a:avLst>
              <a:gd name="adj" fmla="val 50000"/>
            </a:avLst>
          </a:prstGeom>
          <a:solidFill>
            <a:srgbClr val="F2A65A"/>
          </a:solidFill>
          <a:ln/>
        </p:spPr>
      </p:sp>
      <p:sp>
        <p:nvSpPr>
          <p:cNvPr id="6" name="Text 4"/>
          <p:cNvSpPr/>
          <p:nvPr/>
        </p:nvSpPr>
        <p:spPr>
          <a:xfrm>
            <a:off x="731520" y="1700784"/>
            <a:ext cx="777240" cy="347472"/>
          </a:xfrm>
          <a:prstGeom prst="rect">
            <a:avLst/>
          </a:prstGeom>
          <a:noFill/>
          <a:ln/>
        </p:spPr>
        <p:txBody>
          <a:bodyPr wrap="square" lIns="0" tIns="0" rIns="0" bIns="0" rtlCol="0" anchor="ctr"/>
          <a:lstStyle/>
          <a:p>
            <a:pPr marL="0" indent="0" algn="ctr">
              <a:buNone/>
            </a:pPr>
            <a:r>
              <a:rPr lang="en-US" sz="1050" b="1" dirty="0">
                <a:solidFill>
                  <a:srgbClr val="0B1929"/>
                </a:solidFill>
              </a:rPr>
              <a:t>POST</a:t>
            </a:r>
            <a:endParaRPr lang="en-US" sz="1050" dirty="0"/>
          </a:p>
        </p:txBody>
      </p:sp>
      <p:sp>
        <p:nvSpPr>
          <p:cNvPr id="7" name="Text 5"/>
          <p:cNvSpPr/>
          <p:nvPr/>
        </p:nvSpPr>
        <p:spPr>
          <a:xfrm>
            <a:off x="1691640" y="1600200"/>
            <a:ext cx="3566160" cy="548640"/>
          </a:xfrm>
          <a:prstGeom prst="rect">
            <a:avLst/>
          </a:prstGeom>
          <a:noFill/>
          <a:ln/>
        </p:spPr>
        <p:txBody>
          <a:bodyPr wrap="square" lIns="0" tIns="0" rIns="0" bIns="0" rtlCol="0" anchor="ctr"/>
          <a:lstStyle/>
          <a:p>
            <a:pPr marL="0" indent="0">
              <a:buNone/>
            </a:pPr>
            <a:r>
              <a:rPr lang="en-US" sz="1250" dirty="0">
                <a:solidFill>
                  <a:srgbClr val="F3F6FA"/>
                </a:solidFill>
                <a:latin typeface="Courier New" pitchFamily="34" charset="0"/>
                <a:ea typeface="Courier New" pitchFamily="34" charset="-122"/>
                <a:cs typeface="Courier New" pitchFamily="34" charset="-120"/>
              </a:rPr>
              <a:t>/topics/register</a:t>
            </a:r>
            <a:endParaRPr lang="en-US" sz="1250" dirty="0"/>
          </a:p>
        </p:txBody>
      </p:sp>
      <p:sp>
        <p:nvSpPr>
          <p:cNvPr id="8" name="Text 6"/>
          <p:cNvSpPr/>
          <p:nvPr/>
        </p:nvSpPr>
        <p:spPr>
          <a:xfrm>
            <a:off x="5394960" y="1600200"/>
            <a:ext cx="6035040" cy="548640"/>
          </a:xfrm>
          <a:prstGeom prst="rect">
            <a:avLst/>
          </a:prstGeom>
          <a:noFill/>
          <a:ln/>
        </p:spPr>
        <p:txBody>
          <a:bodyPr wrap="square" lIns="0" tIns="0" rIns="0" bIns="0" rtlCol="0" anchor="ctr"/>
          <a:lstStyle/>
          <a:p>
            <a:pPr marL="0" indent="0">
              <a:buNone/>
            </a:pPr>
            <a:r>
              <a:rPr lang="en-US" sz="1150" dirty="0">
                <a:solidFill>
                  <a:srgbClr val="8FA6C2"/>
                </a:solidFill>
              </a:rPr>
              <a:t>Registra un topic. 409 si ya existe.</a:t>
            </a:r>
            <a:endParaRPr lang="en-US" sz="1150" dirty="0"/>
          </a:p>
        </p:txBody>
      </p:sp>
      <p:sp>
        <p:nvSpPr>
          <p:cNvPr id="9" name="Shape 7"/>
          <p:cNvSpPr/>
          <p:nvPr/>
        </p:nvSpPr>
        <p:spPr>
          <a:xfrm>
            <a:off x="548640" y="2221992"/>
            <a:ext cx="11064240" cy="548640"/>
          </a:xfrm>
          <a:prstGeom prst="roundRect">
            <a:avLst>
              <a:gd name="adj" fmla="val 10000"/>
            </a:avLst>
          </a:prstGeom>
          <a:solidFill>
            <a:srgbClr val="13233B"/>
          </a:solidFill>
          <a:ln/>
        </p:spPr>
      </p:sp>
      <p:sp>
        <p:nvSpPr>
          <p:cNvPr id="10" name="Shape 8"/>
          <p:cNvSpPr/>
          <p:nvPr/>
        </p:nvSpPr>
        <p:spPr>
          <a:xfrm>
            <a:off x="731520" y="2322576"/>
            <a:ext cx="777240" cy="347472"/>
          </a:xfrm>
          <a:prstGeom prst="roundRect">
            <a:avLst>
              <a:gd name="adj" fmla="val 50000"/>
            </a:avLst>
          </a:prstGeom>
          <a:solidFill>
            <a:srgbClr val="F2A65A"/>
          </a:solidFill>
          <a:ln/>
        </p:spPr>
      </p:sp>
      <p:sp>
        <p:nvSpPr>
          <p:cNvPr id="11" name="Text 9"/>
          <p:cNvSpPr/>
          <p:nvPr/>
        </p:nvSpPr>
        <p:spPr>
          <a:xfrm>
            <a:off x="731520" y="2322576"/>
            <a:ext cx="777240" cy="347472"/>
          </a:xfrm>
          <a:prstGeom prst="rect">
            <a:avLst/>
          </a:prstGeom>
          <a:noFill/>
          <a:ln/>
        </p:spPr>
        <p:txBody>
          <a:bodyPr wrap="square" lIns="0" tIns="0" rIns="0" bIns="0" rtlCol="0" anchor="ctr"/>
          <a:lstStyle/>
          <a:p>
            <a:pPr marL="0" indent="0" algn="ctr">
              <a:buNone/>
            </a:pPr>
            <a:r>
              <a:rPr lang="en-US" sz="1050" b="1" dirty="0">
                <a:solidFill>
                  <a:srgbClr val="0B1929"/>
                </a:solidFill>
              </a:rPr>
              <a:t>POST</a:t>
            </a:r>
            <a:endParaRPr lang="en-US" sz="1050" dirty="0"/>
          </a:p>
        </p:txBody>
      </p:sp>
      <p:sp>
        <p:nvSpPr>
          <p:cNvPr id="12" name="Text 10"/>
          <p:cNvSpPr/>
          <p:nvPr/>
        </p:nvSpPr>
        <p:spPr>
          <a:xfrm>
            <a:off x="1691640" y="2221992"/>
            <a:ext cx="3566160" cy="548640"/>
          </a:xfrm>
          <a:prstGeom prst="rect">
            <a:avLst/>
          </a:prstGeom>
          <a:noFill/>
          <a:ln/>
        </p:spPr>
        <p:txBody>
          <a:bodyPr wrap="square" lIns="0" tIns="0" rIns="0" bIns="0" rtlCol="0" anchor="ctr"/>
          <a:lstStyle/>
          <a:p>
            <a:pPr marL="0" indent="0">
              <a:buNone/>
            </a:pPr>
            <a:r>
              <a:rPr lang="en-US" sz="1250" dirty="0">
                <a:solidFill>
                  <a:srgbClr val="F3F6FA"/>
                </a:solidFill>
                <a:latin typeface="Courier New" pitchFamily="34" charset="0"/>
                <a:ea typeface="Courier New" pitchFamily="34" charset="-122"/>
                <a:cs typeface="Courier New" pitchFamily="34" charset="-120"/>
              </a:rPr>
              <a:t>/subscribe</a:t>
            </a:r>
            <a:endParaRPr lang="en-US" sz="1250" dirty="0"/>
          </a:p>
        </p:txBody>
      </p:sp>
      <p:sp>
        <p:nvSpPr>
          <p:cNvPr id="13" name="Text 11"/>
          <p:cNvSpPr/>
          <p:nvPr/>
        </p:nvSpPr>
        <p:spPr>
          <a:xfrm>
            <a:off x="5394960" y="2221992"/>
            <a:ext cx="6035040" cy="548640"/>
          </a:xfrm>
          <a:prstGeom prst="rect">
            <a:avLst/>
          </a:prstGeom>
          <a:noFill/>
          <a:ln/>
        </p:spPr>
        <p:txBody>
          <a:bodyPr wrap="square" lIns="0" tIns="0" rIns="0" bIns="0" rtlCol="0" anchor="ctr"/>
          <a:lstStyle/>
          <a:p>
            <a:pPr marL="0" indent="0">
              <a:buNone/>
            </a:pPr>
            <a:r>
              <a:rPr lang="en-US" sz="1150" dirty="0">
                <a:solidFill>
                  <a:srgbClr val="8FA6C2"/>
                </a:solidFill>
              </a:rPr>
              <a:t>Suscribe (y registra) un consumidor a un topic.</a:t>
            </a:r>
            <a:endParaRPr lang="en-US" sz="1150" dirty="0"/>
          </a:p>
        </p:txBody>
      </p:sp>
      <p:sp>
        <p:nvSpPr>
          <p:cNvPr id="14" name="Shape 12"/>
          <p:cNvSpPr/>
          <p:nvPr/>
        </p:nvSpPr>
        <p:spPr>
          <a:xfrm>
            <a:off x="548640" y="2843784"/>
            <a:ext cx="11064240" cy="548640"/>
          </a:xfrm>
          <a:prstGeom prst="roundRect">
            <a:avLst>
              <a:gd name="adj" fmla="val 10000"/>
            </a:avLst>
          </a:prstGeom>
          <a:solidFill>
            <a:srgbClr val="13233B"/>
          </a:solidFill>
          <a:ln/>
        </p:spPr>
      </p:sp>
      <p:sp>
        <p:nvSpPr>
          <p:cNvPr id="15" name="Shape 13"/>
          <p:cNvSpPr/>
          <p:nvPr/>
        </p:nvSpPr>
        <p:spPr>
          <a:xfrm>
            <a:off x="731520" y="2944368"/>
            <a:ext cx="777240" cy="347472"/>
          </a:xfrm>
          <a:prstGeom prst="roundRect">
            <a:avLst>
              <a:gd name="adj" fmla="val 50000"/>
            </a:avLst>
          </a:prstGeom>
          <a:solidFill>
            <a:srgbClr val="F2A65A"/>
          </a:solidFill>
          <a:ln/>
        </p:spPr>
      </p:sp>
      <p:sp>
        <p:nvSpPr>
          <p:cNvPr id="16" name="Text 14"/>
          <p:cNvSpPr/>
          <p:nvPr/>
        </p:nvSpPr>
        <p:spPr>
          <a:xfrm>
            <a:off x="731520" y="2944368"/>
            <a:ext cx="777240" cy="347472"/>
          </a:xfrm>
          <a:prstGeom prst="rect">
            <a:avLst/>
          </a:prstGeom>
          <a:noFill/>
          <a:ln/>
        </p:spPr>
        <p:txBody>
          <a:bodyPr wrap="square" lIns="0" tIns="0" rIns="0" bIns="0" rtlCol="0" anchor="ctr"/>
          <a:lstStyle/>
          <a:p>
            <a:pPr marL="0" indent="0" algn="ctr">
              <a:buNone/>
            </a:pPr>
            <a:r>
              <a:rPr lang="en-US" sz="1050" b="1" dirty="0">
                <a:solidFill>
                  <a:srgbClr val="0B1929"/>
                </a:solidFill>
              </a:rPr>
              <a:t>POST</a:t>
            </a:r>
            <a:endParaRPr lang="en-US" sz="1050" dirty="0"/>
          </a:p>
        </p:txBody>
      </p:sp>
      <p:sp>
        <p:nvSpPr>
          <p:cNvPr id="17" name="Text 15"/>
          <p:cNvSpPr/>
          <p:nvPr/>
        </p:nvSpPr>
        <p:spPr>
          <a:xfrm>
            <a:off x="1691640" y="2843784"/>
            <a:ext cx="3566160" cy="548640"/>
          </a:xfrm>
          <a:prstGeom prst="rect">
            <a:avLst/>
          </a:prstGeom>
          <a:noFill/>
          <a:ln/>
        </p:spPr>
        <p:txBody>
          <a:bodyPr wrap="square" lIns="0" tIns="0" rIns="0" bIns="0" rtlCol="0" anchor="ctr"/>
          <a:lstStyle/>
          <a:p>
            <a:pPr marL="0" indent="0">
              <a:buNone/>
            </a:pPr>
            <a:r>
              <a:rPr lang="en-US" sz="1250" dirty="0">
                <a:solidFill>
                  <a:srgbClr val="F3F6FA"/>
                </a:solidFill>
                <a:latin typeface="Courier New" pitchFamily="34" charset="0"/>
                <a:ea typeface="Courier New" pitchFamily="34" charset="-122"/>
                <a:cs typeface="Courier New" pitchFamily="34" charset="-120"/>
              </a:rPr>
              <a:t>/publish</a:t>
            </a:r>
            <a:endParaRPr lang="en-US" sz="1250" dirty="0"/>
          </a:p>
        </p:txBody>
      </p:sp>
      <p:sp>
        <p:nvSpPr>
          <p:cNvPr id="18" name="Text 16"/>
          <p:cNvSpPr/>
          <p:nvPr/>
        </p:nvSpPr>
        <p:spPr>
          <a:xfrm>
            <a:off x="5394960" y="2843784"/>
            <a:ext cx="6035040" cy="548640"/>
          </a:xfrm>
          <a:prstGeom prst="rect">
            <a:avLst/>
          </a:prstGeom>
          <a:noFill/>
          <a:ln/>
        </p:spPr>
        <p:txBody>
          <a:bodyPr wrap="square" lIns="0" tIns="0" rIns="0" bIns="0" rtlCol="0" anchor="ctr"/>
          <a:lstStyle/>
          <a:p>
            <a:pPr marL="0" indent="0">
              <a:buNone/>
            </a:pPr>
            <a:r>
              <a:rPr lang="en-US" sz="1150" dirty="0">
                <a:solidFill>
                  <a:srgbClr val="8FA6C2"/>
                </a:solidFill>
              </a:rPr>
              <a:t>Publica y hace fan-out a todas las suscripciones.</a:t>
            </a:r>
            <a:endParaRPr lang="en-US" sz="1150" dirty="0"/>
          </a:p>
        </p:txBody>
      </p:sp>
      <p:sp>
        <p:nvSpPr>
          <p:cNvPr id="19" name="Shape 17"/>
          <p:cNvSpPr/>
          <p:nvPr/>
        </p:nvSpPr>
        <p:spPr>
          <a:xfrm>
            <a:off x="548640" y="3465576"/>
            <a:ext cx="11064240" cy="548640"/>
          </a:xfrm>
          <a:prstGeom prst="roundRect">
            <a:avLst>
              <a:gd name="adj" fmla="val 10000"/>
            </a:avLst>
          </a:prstGeom>
          <a:solidFill>
            <a:srgbClr val="13233B"/>
          </a:solidFill>
          <a:ln/>
        </p:spPr>
      </p:sp>
      <p:sp>
        <p:nvSpPr>
          <p:cNvPr id="20" name="Shape 18"/>
          <p:cNvSpPr/>
          <p:nvPr/>
        </p:nvSpPr>
        <p:spPr>
          <a:xfrm>
            <a:off x="731520" y="3566160"/>
            <a:ext cx="777240" cy="347472"/>
          </a:xfrm>
          <a:prstGeom prst="roundRect">
            <a:avLst>
              <a:gd name="adj" fmla="val 50000"/>
            </a:avLst>
          </a:prstGeom>
          <a:solidFill>
            <a:srgbClr val="14B8A6"/>
          </a:solidFill>
          <a:ln/>
        </p:spPr>
      </p:sp>
      <p:sp>
        <p:nvSpPr>
          <p:cNvPr id="21" name="Text 19"/>
          <p:cNvSpPr/>
          <p:nvPr/>
        </p:nvSpPr>
        <p:spPr>
          <a:xfrm>
            <a:off x="731520" y="3566160"/>
            <a:ext cx="777240" cy="347472"/>
          </a:xfrm>
          <a:prstGeom prst="rect">
            <a:avLst/>
          </a:prstGeom>
          <a:noFill/>
          <a:ln/>
        </p:spPr>
        <p:txBody>
          <a:bodyPr wrap="square" lIns="0" tIns="0" rIns="0" bIns="0" rtlCol="0" anchor="ctr"/>
          <a:lstStyle/>
          <a:p>
            <a:pPr marL="0" indent="0" algn="ctr">
              <a:buNone/>
            </a:pPr>
            <a:r>
              <a:rPr lang="en-US" sz="1050" b="1" dirty="0">
                <a:solidFill>
                  <a:srgbClr val="0B1929"/>
                </a:solidFill>
              </a:rPr>
              <a:t>GET</a:t>
            </a:r>
            <a:endParaRPr lang="en-US" sz="1050" dirty="0"/>
          </a:p>
        </p:txBody>
      </p:sp>
      <p:sp>
        <p:nvSpPr>
          <p:cNvPr id="22" name="Text 20"/>
          <p:cNvSpPr/>
          <p:nvPr/>
        </p:nvSpPr>
        <p:spPr>
          <a:xfrm>
            <a:off x="1691640" y="3465576"/>
            <a:ext cx="3566160" cy="548640"/>
          </a:xfrm>
          <a:prstGeom prst="rect">
            <a:avLst/>
          </a:prstGeom>
          <a:noFill/>
          <a:ln/>
        </p:spPr>
        <p:txBody>
          <a:bodyPr wrap="square" lIns="0" tIns="0" rIns="0" bIns="0" rtlCol="0" anchor="ctr"/>
          <a:lstStyle/>
          <a:p>
            <a:pPr marL="0" indent="0">
              <a:buNone/>
            </a:pPr>
            <a:r>
              <a:rPr lang="en-US" sz="1250" dirty="0">
                <a:solidFill>
                  <a:srgbClr val="F3F6FA"/>
                </a:solidFill>
                <a:latin typeface="Courier New" pitchFamily="34" charset="0"/>
                <a:ea typeface="Courier New" pitchFamily="34" charset="-122"/>
                <a:cs typeface="Courier New" pitchFamily="34" charset="-120"/>
              </a:rPr>
              <a:t>/consume?consumerId&amp;max</a:t>
            </a:r>
            <a:endParaRPr lang="en-US" sz="1250" dirty="0"/>
          </a:p>
        </p:txBody>
      </p:sp>
      <p:sp>
        <p:nvSpPr>
          <p:cNvPr id="23" name="Text 21"/>
          <p:cNvSpPr/>
          <p:nvPr/>
        </p:nvSpPr>
        <p:spPr>
          <a:xfrm>
            <a:off x="5394960" y="3465576"/>
            <a:ext cx="6035040" cy="548640"/>
          </a:xfrm>
          <a:prstGeom prst="rect">
            <a:avLst/>
          </a:prstGeom>
          <a:noFill/>
          <a:ln/>
        </p:spPr>
        <p:txBody>
          <a:bodyPr wrap="square" lIns="0" tIns="0" rIns="0" bIns="0" rtlCol="0" anchor="ctr"/>
          <a:lstStyle/>
          <a:p>
            <a:pPr marL="0" indent="0">
              <a:buNone/>
            </a:pPr>
            <a:r>
              <a:rPr lang="en-US" sz="1150" dirty="0">
                <a:solidFill>
                  <a:srgbClr val="8FA6C2"/>
                </a:solidFill>
              </a:rPr>
              <a:t>Poll de entregas PENDING → DELIVERED. Muta estado.</a:t>
            </a:r>
            <a:endParaRPr lang="en-US" sz="1150" dirty="0"/>
          </a:p>
        </p:txBody>
      </p:sp>
      <p:sp>
        <p:nvSpPr>
          <p:cNvPr id="24" name="Shape 22"/>
          <p:cNvSpPr/>
          <p:nvPr/>
        </p:nvSpPr>
        <p:spPr>
          <a:xfrm>
            <a:off x="548640" y="4087368"/>
            <a:ext cx="11064240" cy="548640"/>
          </a:xfrm>
          <a:prstGeom prst="roundRect">
            <a:avLst>
              <a:gd name="adj" fmla="val 10000"/>
            </a:avLst>
          </a:prstGeom>
          <a:solidFill>
            <a:srgbClr val="13233B"/>
          </a:solidFill>
          <a:ln/>
        </p:spPr>
      </p:sp>
      <p:sp>
        <p:nvSpPr>
          <p:cNvPr id="25" name="Shape 23"/>
          <p:cNvSpPr/>
          <p:nvPr/>
        </p:nvSpPr>
        <p:spPr>
          <a:xfrm>
            <a:off x="731520" y="4187952"/>
            <a:ext cx="777240" cy="347472"/>
          </a:xfrm>
          <a:prstGeom prst="roundRect">
            <a:avLst>
              <a:gd name="adj" fmla="val 50000"/>
            </a:avLst>
          </a:prstGeom>
          <a:solidFill>
            <a:srgbClr val="F2A65A"/>
          </a:solidFill>
          <a:ln/>
        </p:spPr>
      </p:sp>
      <p:sp>
        <p:nvSpPr>
          <p:cNvPr id="26" name="Text 24"/>
          <p:cNvSpPr/>
          <p:nvPr/>
        </p:nvSpPr>
        <p:spPr>
          <a:xfrm>
            <a:off x="731520" y="4187952"/>
            <a:ext cx="777240" cy="347472"/>
          </a:xfrm>
          <a:prstGeom prst="rect">
            <a:avLst/>
          </a:prstGeom>
          <a:noFill/>
          <a:ln/>
        </p:spPr>
        <p:txBody>
          <a:bodyPr wrap="square" lIns="0" tIns="0" rIns="0" bIns="0" rtlCol="0" anchor="ctr"/>
          <a:lstStyle/>
          <a:p>
            <a:pPr marL="0" indent="0" algn="ctr">
              <a:buNone/>
            </a:pPr>
            <a:r>
              <a:rPr lang="en-US" sz="1050" b="1" dirty="0">
                <a:solidFill>
                  <a:srgbClr val="0B1929"/>
                </a:solidFill>
              </a:rPr>
              <a:t>POST</a:t>
            </a:r>
            <a:endParaRPr lang="en-US" sz="1050" dirty="0"/>
          </a:p>
        </p:txBody>
      </p:sp>
      <p:sp>
        <p:nvSpPr>
          <p:cNvPr id="27" name="Text 25"/>
          <p:cNvSpPr/>
          <p:nvPr/>
        </p:nvSpPr>
        <p:spPr>
          <a:xfrm>
            <a:off x="1691640" y="4087368"/>
            <a:ext cx="3566160" cy="548640"/>
          </a:xfrm>
          <a:prstGeom prst="rect">
            <a:avLst/>
          </a:prstGeom>
          <a:noFill/>
          <a:ln/>
        </p:spPr>
        <p:txBody>
          <a:bodyPr wrap="square" lIns="0" tIns="0" rIns="0" bIns="0" rtlCol="0" anchor="ctr"/>
          <a:lstStyle/>
          <a:p>
            <a:pPr marL="0" indent="0">
              <a:buNone/>
            </a:pPr>
            <a:r>
              <a:rPr lang="en-US" sz="1250" dirty="0">
                <a:solidFill>
                  <a:srgbClr val="F3F6FA"/>
                </a:solidFill>
                <a:latin typeface="Courier New" pitchFamily="34" charset="0"/>
                <a:ea typeface="Courier New" pitchFamily="34" charset="-122"/>
                <a:cs typeface="Courier New" pitchFamily="34" charset="-120"/>
              </a:rPr>
              <a:t>/ack</a:t>
            </a:r>
            <a:endParaRPr lang="en-US" sz="1250" dirty="0"/>
          </a:p>
        </p:txBody>
      </p:sp>
      <p:sp>
        <p:nvSpPr>
          <p:cNvPr id="28" name="Text 26"/>
          <p:cNvSpPr/>
          <p:nvPr/>
        </p:nvSpPr>
        <p:spPr>
          <a:xfrm>
            <a:off x="5394960" y="4087368"/>
            <a:ext cx="6035040" cy="548640"/>
          </a:xfrm>
          <a:prstGeom prst="rect">
            <a:avLst/>
          </a:prstGeom>
          <a:noFill/>
          <a:ln/>
        </p:spPr>
        <p:txBody>
          <a:bodyPr wrap="square" lIns="0" tIns="0" rIns="0" bIns="0" rtlCol="0" anchor="ctr"/>
          <a:lstStyle/>
          <a:p>
            <a:pPr marL="0" indent="0">
              <a:buNone/>
            </a:pPr>
            <a:r>
              <a:rPr lang="en-US" sz="1150" dirty="0">
                <a:solidFill>
                  <a:srgbClr val="8FA6C2"/>
                </a:solidFill>
              </a:rPr>
              <a:t>Confirma DELIVERED → ACKED. 409 fuera de orden.</a:t>
            </a:r>
            <a:endParaRPr lang="en-US" sz="1150" dirty="0"/>
          </a:p>
        </p:txBody>
      </p:sp>
      <p:sp>
        <p:nvSpPr>
          <p:cNvPr id="29" name="Shape 27"/>
          <p:cNvSpPr/>
          <p:nvPr/>
        </p:nvSpPr>
        <p:spPr>
          <a:xfrm>
            <a:off x="548640" y="4709160"/>
            <a:ext cx="11064240" cy="548640"/>
          </a:xfrm>
          <a:prstGeom prst="roundRect">
            <a:avLst>
              <a:gd name="adj" fmla="val 10000"/>
            </a:avLst>
          </a:prstGeom>
          <a:solidFill>
            <a:srgbClr val="13233B"/>
          </a:solidFill>
          <a:ln/>
        </p:spPr>
      </p:sp>
      <p:sp>
        <p:nvSpPr>
          <p:cNvPr id="30" name="Shape 28"/>
          <p:cNvSpPr/>
          <p:nvPr/>
        </p:nvSpPr>
        <p:spPr>
          <a:xfrm>
            <a:off x="731520" y="4809744"/>
            <a:ext cx="777240" cy="347472"/>
          </a:xfrm>
          <a:prstGeom prst="roundRect">
            <a:avLst>
              <a:gd name="adj" fmla="val 50000"/>
            </a:avLst>
          </a:prstGeom>
          <a:solidFill>
            <a:srgbClr val="14B8A6"/>
          </a:solidFill>
          <a:ln/>
        </p:spPr>
      </p:sp>
      <p:sp>
        <p:nvSpPr>
          <p:cNvPr id="31" name="Text 29"/>
          <p:cNvSpPr/>
          <p:nvPr/>
        </p:nvSpPr>
        <p:spPr>
          <a:xfrm>
            <a:off x="731520" y="4809744"/>
            <a:ext cx="777240" cy="347472"/>
          </a:xfrm>
          <a:prstGeom prst="rect">
            <a:avLst/>
          </a:prstGeom>
          <a:noFill/>
          <a:ln/>
        </p:spPr>
        <p:txBody>
          <a:bodyPr wrap="square" lIns="0" tIns="0" rIns="0" bIns="0" rtlCol="0" anchor="ctr"/>
          <a:lstStyle/>
          <a:p>
            <a:pPr marL="0" indent="0" algn="ctr">
              <a:buNone/>
            </a:pPr>
            <a:r>
              <a:rPr lang="en-US" sz="1050" b="1" dirty="0">
                <a:solidFill>
                  <a:srgbClr val="0B1929"/>
                </a:solidFill>
              </a:rPr>
              <a:t>GET</a:t>
            </a:r>
            <a:endParaRPr lang="en-US" sz="1050" dirty="0"/>
          </a:p>
        </p:txBody>
      </p:sp>
      <p:sp>
        <p:nvSpPr>
          <p:cNvPr id="32" name="Text 30"/>
          <p:cNvSpPr/>
          <p:nvPr/>
        </p:nvSpPr>
        <p:spPr>
          <a:xfrm>
            <a:off x="1691640" y="4709160"/>
            <a:ext cx="3566160" cy="548640"/>
          </a:xfrm>
          <a:prstGeom prst="rect">
            <a:avLst/>
          </a:prstGeom>
          <a:noFill/>
          <a:ln/>
        </p:spPr>
        <p:txBody>
          <a:bodyPr wrap="square" lIns="0" tIns="0" rIns="0" bIns="0" rtlCol="0" anchor="ctr"/>
          <a:lstStyle/>
          <a:p>
            <a:pPr marL="0" indent="0">
              <a:buNone/>
            </a:pPr>
            <a:r>
              <a:rPr lang="en-US" sz="1250" dirty="0">
                <a:solidFill>
                  <a:srgbClr val="F3F6FA"/>
                </a:solidFill>
                <a:latin typeface="Courier New" pitchFamily="34" charset="0"/>
                <a:ea typeface="Courier New" pitchFamily="34" charset="-122"/>
                <a:cs typeface="Courier New" pitchFamily="34" charset="-120"/>
              </a:rPr>
              <a:t>/metrics</a:t>
            </a:r>
            <a:endParaRPr lang="en-US" sz="1250" dirty="0"/>
          </a:p>
        </p:txBody>
      </p:sp>
      <p:sp>
        <p:nvSpPr>
          <p:cNvPr id="33" name="Text 31"/>
          <p:cNvSpPr/>
          <p:nvPr/>
        </p:nvSpPr>
        <p:spPr>
          <a:xfrm>
            <a:off x="5394960" y="4709160"/>
            <a:ext cx="6035040" cy="548640"/>
          </a:xfrm>
          <a:prstGeom prst="rect">
            <a:avLst/>
          </a:prstGeom>
          <a:noFill/>
          <a:ln/>
        </p:spPr>
        <p:txBody>
          <a:bodyPr wrap="square" lIns="0" tIns="0" rIns="0" bIns="0" rtlCol="0" anchor="ctr"/>
          <a:lstStyle/>
          <a:p>
            <a:pPr marL="0" indent="0">
              <a:buNone/>
            </a:pPr>
            <a:r>
              <a:rPr lang="en-US" sz="1150" dirty="0">
                <a:solidFill>
                  <a:srgbClr val="8FA6C2"/>
                </a:solidFill>
              </a:rPr>
              <a:t>Foto agregada: topics, entregas por estado, perTopic.</a:t>
            </a:r>
            <a:endParaRPr lang="en-US" sz="1150" dirty="0"/>
          </a:p>
        </p:txBody>
      </p:sp>
      <p:sp>
        <p:nvSpPr>
          <p:cNvPr id="34" name="Shape 32"/>
          <p:cNvSpPr/>
          <p:nvPr/>
        </p:nvSpPr>
        <p:spPr>
          <a:xfrm>
            <a:off x="548640" y="5330952"/>
            <a:ext cx="11064240" cy="548640"/>
          </a:xfrm>
          <a:prstGeom prst="roundRect">
            <a:avLst>
              <a:gd name="adj" fmla="val 10000"/>
            </a:avLst>
          </a:prstGeom>
          <a:solidFill>
            <a:srgbClr val="13233B"/>
          </a:solidFill>
          <a:ln/>
        </p:spPr>
      </p:sp>
      <p:sp>
        <p:nvSpPr>
          <p:cNvPr id="35" name="Shape 33"/>
          <p:cNvSpPr/>
          <p:nvPr/>
        </p:nvSpPr>
        <p:spPr>
          <a:xfrm>
            <a:off x="731520" y="5431536"/>
            <a:ext cx="777240" cy="347472"/>
          </a:xfrm>
          <a:prstGeom prst="roundRect">
            <a:avLst>
              <a:gd name="adj" fmla="val 50000"/>
            </a:avLst>
          </a:prstGeom>
          <a:solidFill>
            <a:srgbClr val="14B8A6"/>
          </a:solidFill>
          <a:ln/>
        </p:spPr>
      </p:sp>
      <p:sp>
        <p:nvSpPr>
          <p:cNvPr id="36" name="Text 34"/>
          <p:cNvSpPr/>
          <p:nvPr/>
        </p:nvSpPr>
        <p:spPr>
          <a:xfrm>
            <a:off x="731520" y="5431536"/>
            <a:ext cx="777240" cy="347472"/>
          </a:xfrm>
          <a:prstGeom prst="rect">
            <a:avLst/>
          </a:prstGeom>
          <a:noFill/>
          <a:ln/>
        </p:spPr>
        <p:txBody>
          <a:bodyPr wrap="square" lIns="0" tIns="0" rIns="0" bIns="0" rtlCol="0" anchor="ctr"/>
          <a:lstStyle/>
          <a:p>
            <a:pPr marL="0" indent="0" algn="ctr">
              <a:buNone/>
            </a:pPr>
            <a:r>
              <a:rPr lang="en-US" sz="1050" b="1" dirty="0">
                <a:solidFill>
                  <a:srgbClr val="0B1929"/>
                </a:solidFill>
              </a:rPr>
              <a:t>GET</a:t>
            </a:r>
            <a:endParaRPr lang="en-US" sz="1050" dirty="0"/>
          </a:p>
        </p:txBody>
      </p:sp>
      <p:sp>
        <p:nvSpPr>
          <p:cNvPr id="37" name="Text 35"/>
          <p:cNvSpPr/>
          <p:nvPr/>
        </p:nvSpPr>
        <p:spPr>
          <a:xfrm>
            <a:off x="1691640" y="5330952"/>
            <a:ext cx="3566160" cy="548640"/>
          </a:xfrm>
          <a:prstGeom prst="rect">
            <a:avLst/>
          </a:prstGeom>
          <a:noFill/>
          <a:ln/>
        </p:spPr>
        <p:txBody>
          <a:bodyPr wrap="square" lIns="0" tIns="0" rIns="0" bIns="0" rtlCol="0" anchor="ctr"/>
          <a:lstStyle/>
          <a:p>
            <a:pPr marL="0" indent="0">
              <a:buNone/>
            </a:pPr>
            <a:r>
              <a:rPr lang="en-US" sz="1250" dirty="0">
                <a:solidFill>
                  <a:srgbClr val="F3F6FA"/>
                </a:solidFill>
                <a:latin typeface="Courier New" pitchFamily="34" charset="0"/>
                <a:ea typeface="Courier New" pitchFamily="34" charset="-122"/>
                <a:cs typeface="Courier New" pitchFamily="34" charset="-120"/>
              </a:rPr>
              <a:t>/logs?type&amp;limit</a:t>
            </a:r>
            <a:endParaRPr lang="en-US" sz="1250" dirty="0"/>
          </a:p>
        </p:txBody>
      </p:sp>
      <p:sp>
        <p:nvSpPr>
          <p:cNvPr id="38" name="Text 36"/>
          <p:cNvSpPr/>
          <p:nvPr/>
        </p:nvSpPr>
        <p:spPr>
          <a:xfrm>
            <a:off x="5394960" y="5330952"/>
            <a:ext cx="6035040" cy="548640"/>
          </a:xfrm>
          <a:prstGeom prst="rect">
            <a:avLst/>
          </a:prstGeom>
          <a:noFill/>
          <a:ln/>
        </p:spPr>
        <p:txBody>
          <a:bodyPr wrap="square" lIns="0" tIns="0" rIns="0" bIns="0" rtlCol="0" anchor="ctr"/>
          <a:lstStyle/>
          <a:p>
            <a:pPr marL="0" indent="0">
              <a:buNone/>
            </a:pPr>
            <a:r>
              <a:rPr lang="en-US" sz="1150" dirty="0">
                <a:solidFill>
                  <a:srgbClr val="8FA6C2"/>
                </a:solidFill>
              </a:rPr>
              <a:t>Eventos de negocio, más reciente primero.</a:t>
            </a:r>
            <a:endParaRPr lang="en-US" sz="1150" dirty="0"/>
          </a:p>
        </p:txBody>
      </p:sp>
      <p:sp>
        <p:nvSpPr>
          <p:cNvPr id="39" name="Text 37"/>
          <p:cNvSpPr/>
          <p:nvPr/>
        </p:nvSpPr>
        <p:spPr>
          <a:xfrm>
            <a:off x="11000232" y="6400800"/>
            <a:ext cx="914400" cy="274320"/>
          </a:xfrm>
          <a:prstGeom prst="rect">
            <a:avLst/>
          </a:prstGeom>
          <a:noFill/>
          <a:ln/>
        </p:spPr>
        <p:txBody>
          <a:bodyPr wrap="square" lIns="0" tIns="0" rIns="0" bIns="0" rtlCol="0" anchor="ctr"/>
          <a:lstStyle/>
          <a:p>
            <a:pPr marL="0" indent="0" algn="r">
              <a:buNone/>
            </a:pPr>
            <a:r>
              <a:rPr lang="en-US" sz="1000" dirty="0">
                <a:solidFill>
                  <a:srgbClr val="8FA6C2"/>
                </a:solidFill>
              </a:rPr>
              <a:t>07 / 12</a:t>
            </a:r>
            <a:endParaRPr lang="en-US" sz="1000" dirty="0"/>
          </a:p>
        </p:txBody>
      </p:sp>
      <p:sp>
        <p:nvSpPr>
          <p:cNvPr id="40" name="Text 38"/>
          <p:cNvSpPr/>
          <p:nvPr/>
        </p:nvSpPr>
        <p:spPr>
          <a:xfrm>
            <a:off x="457200" y="6400800"/>
            <a:ext cx="4572000" cy="274320"/>
          </a:xfrm>
          <a:prstGeom prst="rect">
            <a:avLst/>
          </a:prstGeom>
          <a:noFill/>
          <a:ln/>
        </p:spPr>
        <p:txBody>
          <a:bodyPr wrap="square" lIns="0" tIns="0" rIns="0" bIns="0" rtlCol="0" anchor="ctr"/>
          <a:lstStyle/>
          <a:p>
            <a:pPr marL="0" indent="0">
              <a:buNone/>
            </a:pPr>
            <a:r>
              <a:rPr lang="en-US" sz="1000" kern="0" spc="100" dirty="0">
                <a:solidFill>
                  <a:srgbClr val="8FA6C2"/>
                </a:solidFill>
              </a:rPr>
              <a:t>MINI BROKER DE MENSAJES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929"/>
        </a:solidFill>
        <a:effectLst/>
      </p:bgPr>
    </p:bg>
    <p:spTree>
      <p:nvGrpSpPr>
        <p:cNvPr id="1" name=""/>
        <p:cNvGrpSpPr/>
        <p:nvPr/>
      </p:nvGrpSpPr>
      <p:grpSpPr>
        <a:xfrm>
          <a:off x="0" y="0"/>
          <a:ext cx="0" cy="0"/>
          <a:chOff x="0" y="0"/>
          <a:chExt cx="0" cy="0"/>
        </a:xfrm>
      </p:grpSpPr>
      <p:sp>
        <p:nvSpPr>
          <p:cNvPr id="2" name="Text 0"/>
          <p:cNvSpPr/>
          <p:nvPr/>
        </p:nvSpPr>
        <p:spPr>
          <a:xfrm>
            <a:off x="548640" y="411480"/>
            <a:ext cx="5486400" cy="320040"/>
          </a:xfrm>
          <a:prstGeom prst="rect">
            <a:avLst/>
          </a:prstGeom>
          <a:noFill/>
          <a:ln/>
        </p:spPr>
        <p:txBody>
          <a:bodyPr wrap="square" lIns="0" tIns="0" rIns="0" bIns="0" rtlCol="0" anchor="ctr"/>
          <a:lstStyle/>
          <a:p>
            <a:pPr marL="0" indent="0">
              <a:buNone/>
            </a:pPr>
            <a:r>
              <a:rPr lang="en-US" sz="1200" b="1" kern="0" spc="200" dirty="0">
                <a:solidFill>
                  <a:srgbClr val="5EEAD4"/>
                </a:solidFill>
                <a:latin typeface="Calibri" pitchFamily="34" charset="0"/>
                <a:ea typeface="Calibri" pitchFamily="34" charset="-122"/>
                <a:cs typeface="Calibri" pitchFamily="34" charset="-120"/>
              </a:rPr>
              <a:t>06 · ADAPTERS DE SALIDA</a:t>
            </a:r>
            <a:endParaRPr lang="en-US" sz="1200" dirty="0"/>
          </a:p>
        </p:txBody>
      </p:sp>
      <p:sp>
        <p:nvSpPr>
          <p:cNvPr id="3" name="Text 1"/>
          <p:cNvSpPr/>
          <p:nvPr/>
        </p:nvSpPr>
        <p:spPr>
          <a:xfrm>
            <a:off x="548640" y="713232"/>
            <a:ext cx="10789920" cy="640080"/>
          </a:xfrm>
          <a:prstGeom prst="rect">
            <a:avLst/>
          </a:prstGeom>
          <a:noFill/>
          <a:ln/>
        </p:spPr>
        <p:txBody>
          <a:bodyPr wrap="square" lIns="0" tIns="0" rIns="0" bIns="0" rtlCol="0" anchor="ctr"/>
          <a:lstStyle/>
          <a:p>
            <a:pPr marL="0" indent="0">
              <a:buNone/>
            </a:pPr>
            <a:r>
              <a:rPr lang="en-US" sz="2600" b="1" dirty="0">
                <a:solidFill>
                  <a:srgbClr val="F3F6FA"/>
                </a:solidFill>
                <a:latin typeface="Cambria" pitchFamily="34" charset="0"/>
                <a:ea typeface="Cambria" pitchFamily="34" charset="-122"/>
                <a:cs typeface="Cambria" pitchFamily="34" charset="-120"/>
              </a:rPr>
              <a:t>Dos adapters intercambiables detrás del mismo puerto</a:t>
            </a:r>
            <a:endParaRPr lang="en-US" sz="2600" dirty="0"/>
          </a:p>
        </p:txBody>
      </p:sp>
      <p:sp>
        <p:nvSpPr>
          <p:cNvPr id="4" name="Shape 2"/>
          <p:cNvSpPr/>
          <p:nvPr/>
        </p:nvSpPr>
        <p:spPr>
          <a:xfrm>
            <a:off x="4480560" y="1600200"/>
            <a:ext cx="3200400" cy="640080"/>
          </a:xfrm>
          <a:prstGeom prst="roundRect">
            <a:avLst>
              <a:gd name="adj" fmla="val 50000"/>
            </a:avLst>
          </a:prstGeom>
          <a:solidFill>
            <a:srgbClr val="0F2A3D"/>
          </a:solidFill>
          <a:ln w="19050">
            <a:solidFill>
              <a:srgbClr val="14B8A6"/>
            </a:solidFill>
            <a:prstDash val="solid"/>
          </a:ln>
        </p:spPr>
      </p:sp>
      <p:sp>
        <p:nvSpPr>
          <p:cNvPr id="5" name="Text 3"/>
          <p:cNvSpPr/>
          <p:nvPr/>
        </p:nvSpPr>
        <p:spPr>
          <a:xfrm>
            <a:off x="4480560" y="1600200"/>
            <a:ext cx="3200400" cy="640080"/>
          </a:xfrm>
          <a:prstGeom prst="rect">
            <a:avLst/>
          </a:prstGeom>
          <a:noFill/>
          <a:ln/>
        </p:spPr>
        <p:txBody>
          <a:bodyPr wrap="square" lIns="0" tIns="0" rIns="0" bIns="0" rtlCol="0" anchor="ctr"/>
          <a:lstStyle/>
          <a:p>
            <a:pPr marL="0" indent="0" algn="ctr">
              <a:buNone/>
            </a:pPr>
            <a:r>
              <a:rPr lang="en-US" sz="1300" b="1" dirty="0">
                <a:solidFill>
                  <a:srgbClr val="F3F6FA"/>
                </a:solidFill>
                <a:latin typeface="Courier New" pitchFamily="34" charset="0"/>
                <a:ea typeface="Courier New" pitchFamily="34" charset="-122"/>
                <a:cs typeface="Courier New" pitchFamily="34" charset="-120"/>
              </a:rPr>
              <a:t>TopicRepositoryPort</a:t>
            </a:r>
            <a:endParaRPr lang="en-US" sz="1300" dirty="0"/>
          </a:p>
        </p:txBody>
      </p:sp>
      <p:sp>
        <p:nvSpPr>
          <p:cNvPr id="6" name="Shape 4"/>
          <p:cNvSpPr/>
          <p:nvPr/>
        </p:nvSpPr>
        <p:spPr>
          <a:xfrm>
            <a:off x="5394960" y="2240280"/>
            <a:ext cx="0" cy="1051560"/>
          </a:xfrm>
          <a:prstGeom prst="line">
            <a:avLst/>
          </a:prstGeom>
          <a:noFill/>
          <a:ln w="25400">
            <a:solidFill>
              <a:srgbClr val="14B8A6"/>
            </a:solidFill>
            <a:prstDash val="solid"/>
          </a:ln>
        </p:spPr>
      </p:sp>
      <p:sp>
        <p:nvSpPr>
          <p:cNvPr id="7" name="Shape 5"/>
          <p:cNvSpPr/>
          <p:nvPr/>
        </p:nvSpPr>
        <p:spPr>
          <a:xfrm>
            <a:off x="6766560" y="2240280"/>
            <a:ext cx="2286000" cy="1051560"/>
          </a:xfrm>
          <a:prstGeom prst="line">
            <a:avLst/>
          </a:prstGeom>
          <a:noFill/>
          <a:ln w="25400">
            <a:solidFill>
              <a:srgbClr val="14B8A6"/>
            </a:solidFill>
            <a:prstDash val="solid"/>
          </a:ln>
        </p:spPr>
      </p:sp>
      <p:sp>
        <p:nvSpPr>
          <p:cNvPr id="8" name="Shape 6"/>
          <p:cNvSpPr/>
          <p:nvPr/>
        </p:nvSpPr>
        <p:spPr>
          <a:xfrm>
            <a:off x="822960" y="3383280"/>
            <a:ext cx="4937760" cy="2743200"/>
          </a:xfrm>
          <a:prstGeom prst="roundRect">
            <a:avLst>
              <a:gd name="adj" fmla="val 3333"/>
            </a:avLst>
          </a:prstGeom>
          <a:solidFill>
            <a:srgbClr val="13233B"/>
          </a:solidFill>
          <a:ln w="12700">
            <a:solidFill>
              <a:srgbClr val="24405F"/>
            </a:solidFill>
            <a:prstDash val="solid"/>
          </a:ln>
        </p:spPr>
      </p:sp>
      <p:sp>
        <p:nvSpPr>
          <p:cNvPr id="9" name="Shape 7"/>
          <p:cNvSpPr/>
          <p:nvPr/>
        </p:nvSpPr>
        <p:spPr>
          <a:xfrm>
            <a:off x="1143000" y="3657600"/>
            <a:ext cx="548640" cy="548640"/>
          </a:xfrm>
          <a:prstGeom prst="ellipse">
            <a:avLst/>
          </a:prstGeom>
          <a:solidFill>
            <a:srgbClr val="1B3654"/>
          </a:solidFill>
          <a:ln/>
        </p:spPr>
      </p:sp>
      <p:pic>
        <p:nvPicPr>
          <p:cNvPr id="10" name="Image 0" descr="preencoded.png"/>
          <p:cNvPicPr>
            <a:picLocks noChangeAspect="1"/>
          </p:cNvPicPr>
          <p:nvPr/>
        </p:nvPicPr>
        <p:blipFill>
          <a:blip r:embed="rId3"/>
          <a:stretch>
            <a:fillRect/>
          </a:stretch>
        </p:blipFill>
        <p:spPr>
          <a:xfrm>
            <a:off x="1266444" y="3781044"/>
            <a:ext cx="301752" cy="301752"/>
          </a:xfrm>
          <a:prstGeom prst="rect">
            <a:avLst/>
          </a:prstGeom>
        </p:spPr>
      </p:pic>
      <p:sp>
        <p:nvSpPr>
          <p:cNvPr id="11" name="Text 8"/>
          <p:cNvSpPr/>
          <p:nvPr/>
        </p:nvSpPr>
        <p:spPr>
          <a:xfrm>
            <a:off x="1828800" y="3703320"/>
            <a:ext cx="3749040" cy="365760"/>
          </a:xfrm>
          <a:prstGeom prst="rect">
            <a:avLst/>
          </a:prstGeom>
          <a:noFill/>
          <a:ln/>
        </p:spPr>
        <p:txBody>
          <a:bodyPr wrap="square" lIns="0" tIns="0" rIns="0" bIns="0" rtlCol="0" anchor="ctr"/>
          <a:lstStyle/>
          <a:p>
            <a:pPr marL="0" indent="0">
              <a:buNone/>
            </a:pPr>
            <a:r>
              <a:rPr lang="en-US" sz="1450" b="1" dirty="0">
                <a:solidFill>
                  <a:srgbClr val="F3F6FA"/>
                </a:solidFill>
              </a:rPr>
              <a:t>En memoria (perfil por defecto)</a:t>
            </a:r>
            <a:endParaRPr lang="en-US" sz="1450" dirty="0"/>
          </a:p>
        </p:txBody>
      </p:sp>
      <p:sp>
        <p:nvSpPr>
          <p:cNvPr id="12" name="Text 9"/>
          <p:cNvSpPr/>
          <p:nvPr/>
        </p:nvSpPr>
        <p:spPr>
          <a:xfrm>
            <a:off x="1143000" y="4251960"/>
            <a:ext cx="4389120" cy="1737360"/>
          </a:xfrm>
          <a:prstGeom prst="rect">
            <a:avLst/>
          </a:prstGeom>
          <a:noFill/>
          <a:ln/>
        </p:spPr>
        <p:txBody>
          <a:bodyPr wrap="square" lIns="0" tIns="0" rIns="0" bIns="0" rtlCol="0" anchor="ctr"/>
          <a:lstStyle/>
          <a:p>
            <a:pPr marL="342900" indent="-342900">
              <a:spcAft>
                <a:spcPts val="800"/>
              </a:spcAft>
              <a:buSzPct val="100000"/>
              <a:buChar char="•"/>
            </a:pPr>
            <a:r>
              <a:rPr lang="en-US" sz="1150" dirty="0">
                <a:solidFill>
                  <a:srgbClr val="8FA6C2"/>
                </a:solidFill>
              </a:rPr>
              <a:t>ConcurrentHashMap por topic, consumer y entrega</a:t>
            </a:r>
            <a:endParaRPr lang="en-US" sz="1150" dirty="0"/>
          </a:p>
          <a:p>
            <a:pPr marL="342900" indent="-342900">
              <a:spcAft>
                <a:spcPts val="800"/>
              </a:spcAft>
              <a:buSzPct val="100000"/>
              <a:buChar char="•"/>
            </a:pPr>
            <a:r>
              <a:rPr lang="en-US" sz="1150" dirty="0">
                <a:solidFill>
                  <a:srgbClr val="8FA6C2"/>
                </a:solidFill>
              </a:rPr>
              <a:t>Cola FIFO por consumidor (ConcurrentLinkedQueue)</a:t>
            </a:r>
            <a:endParaRPr lang="en-US" sz="1150" dirty="0"/>
          </a:p>
          <a:p>
            <a:pPr marL="342900" indent="-342900">
              <a:spcAft>
                <a:spcPts val="800"/>
              </a:spcAft>
              <a:buSzPct val="100000"/>
              <a:buChar char="•"/>
            </a:pPr>
            <a:r>
              <a:rPr lang="en-US" sz="1150" dirty="0">
                <a:solidFill>
                  <a:srgbClr val="8FA6C2"/>
                </a:solidFill>
              </a:rPr>
              <a:t>poll() atómico: nadie se roba un mensaje</a:t>
            </a:r>
            <a:endParaRPr lang="en-US" sz="1150" dirty="0"/>
          </a:p>
        </p:txBody>
      </p:sp>
      <p:sp>
        <p:nvSpPr>
          <p:cNvPr id="13" name="Shape 10"/>
          <p:cNvSpPr/>
          <p:nvPr/>
        </p:nvSpPr>
        <p:spPr>
          <a:xfrm>
            <a:off x="6400800" y="3383280"/>
            <a:ext cx="4937760" cy="2743200"/>
          </a:xfrm>
          <a:prstGeom prst="roundRect">
            <a:avLst>
              <a:gd name="adj" fmla="val 3333"/>
            </a:avLst>
          </a:prstGeom>
          <a:solidFill>
            <a:srgbClr val="0F2A3D"/>
          </a:solidFill>
          <a:ln w="19050">
            <a:solidFill>
              <a:srgbClr val="14B8A6"/>
            </a:solidFill>
            <a:prstDash val="solid"/>
          </a:ln>
        </p:spPr>
      </p:sp>
      <p:sp>
        <p:nvSpPr>
          <p:cNvPr id="14" name="Shape 11"/>
          <p:cNvSpPr/>
          <p:nvPr/>
        </p:nvSpPr>
        <p:spPr>
          <a:xfrm>
            <a:off x="6720840" y="3657600"/>
            <a:ext cx="548640" cy="548640"/>
          </a:xfrm>
          <a:prstGeom prst="ellipse">
            <a:avLst/>
          </a:prstGeom>
          <a:solidFill>
            <a:srgbClr val="0B3A3A"/>
          </a:solidFill>
          <a:ln/>
        </p:spPr>
      </p:sp>
      <p:pic>
        <p:nvPicPr>
          <p:cNvPr id="15" name="Image 1" descr="preencoded.png"/>
          <p:cNvPicPr>
            <a:picLocks noChangeAspect="1"/>
          </p:cNvPicPr>
          <p:nvPr/>
        </p:nvPicPr>
        <p:blipFill>
          <a:blip r:embed="rId4"/>
          <a:stretch>
            <a:fillRect/>
          </a:stretch>
        </p:blipFill>
        <p:spPr>
          <a:xfrm>
            <a:off x="6844284" y="3781044"/>
            <a:ext cx="301752" cy="301752"/>
          </a:xfrm>
          <a:prstGeom prst="rect">
            <a:avLst/>
          </a:prstGeom>
        </p:spPr>
      </p:pic>
      <p:sp>
        <p:nvSpPr>
          <p:cNvPr id="16" name="Text 12"/>
          <p:cNvSpPr/>
          <p:nvPr/>
        </p:nvSpPr>
        <p:spPr>
          <a:xfrm>
            <a:off x="7406640" y="3703320"/>
            <a:ext cx="3749040" cy="365760"/>
          </a:xfrm>
          <a:prstGeom prst="rect">
            <a:avLst/>
          </a:prstGeom>
          <a:noFill/>
          <a:ln/>
        </p:spPr>
        <p:txBody>
          <a:bodyPr wrap="square" lIns="0" tIns="0" rIns="0" bIns="0" rtlCol="0" anchor="ctr"/>
          <a:lstStyle/>
          <a:p>
            <a:pPr marL="0" indent="0">
              <a:buNone/>
            </a:pPr>
            <a:r>
              <a:rPr lang="en-US" sz="1450" b="1" dirty="0">
                <a:solidFill>
                  <a:srgbClr val="F3F6FA"/>
                </a:solidFill>
              </a:rPr>
              <a:t>JPA / H2 (perfil “jpa”)</a:t>
            </a:r>
            <a:endParaRPr lang="en-US" sz="1450" dirty="0"/>
          </a:p>
        </p:txBody>
      </p:sp>
      <p:sp>
        <p:nvSpPr>
          <p:cNvPr id="17" name="Text 13"/>
          <p:cNvSpPr/>
          <p:nvPr/>
        </p:nvSpPr>
        <p:spPr>
          <a:xfrm>
            <a:off x="6720840" y="4251960"/>
            <a:ext cx="4389120" cy="1737360"/>
          </a:xfrm>
          <a:prstGeom prst="rect">
            <a:avLst/>
          </a:prstGeom>
          <a:noFill/>
          <a:ln/>
        </p:spPr>
        <p:txBody>
          <a:bodyPr wrap="square" lIns="0" tIns="0" rIns="0" bIns="0" rtlCol="0" anchor="ctr"/>
          <a:lstStyle/>
          <a:p>
            <a:pPr marL="342900" indent="-342900">
              <a:spcAft>
                <a:spcPts val="800"/>
              </a:spcAft>
              <a:buSzPct val="100000"/>
              <a:buChar char="•"/>
            </a:pPr>
            <a:r>
              <a:rPr lang="en-US" sz="1150" dirty="0">
                <a:solidFill>
                  <a:srgbClr val="D8EFEA"/>
                </a:solidFill>
              </a:rPr>
              <a:t>Solo el catálogo: Topic, Consumer, Subscription</a:t>
            </a:r>
            <a:endParaRPr lang="en-US" sz="1150" dirty="0"/>
          </a:p>
          <a:p>
            <a:pPr marL="342900" indent="-342900">
              <a:spcAft>
                <a:spcPts val="800"/>
              </a:spcAft>
              <a:buSzPct val="100000"/>
              <a:buChar char="•"/>
            </a:pPr>
            <a:r>
              <a:rPr lang="en-US" sz="1150" dirty="0">
                <a:solidFill>
                  <a:srgbClr val="D8EFEA"/>
                </a:solidFill>
              </a:rPr>
              <a:t>Mensajes y entregas siguen en memoria (alto volumen)</a:t>
            </a:r>
            <a:endParaRPr lang="en-US" sz="1150" dirty="0"/>
          </a:p>
          <a:p>
            <a:pPr marL="342900" indent="-342900">
              <a:spcAft>
                <a:spcPts val="800"/>
              </a:spcAft>
              <a:buSzPct val="100000"/>
              <a:buChar char="•"/>
            </a:pPr>
            <a:r>
              <a:rPr lang="en-US" sz="1150" dirty="0">
                <a:solidFill>
                  <a:srgbClr val="D8EFEA"/>
                </a:solidFill>
              </a:rPr>
              <a:t>TopicService no cambia ni una línea (DIP real)</a:t>
            </a:r>
            <a:endParaRPr lang="en-US" sz="1150" dirty="0"/>
          </a:p>
        </p:txBody>
      </p:sp>
      <p:sp>
        <p:nvSpPr>
          <p:cNvPr id="18" name="Text 14"/>
          <p:cNvSpPr/>
          <p:nvPr/>
        </p:nvSpPr>
        <p:spPr>
          <a:xfrm>
            <a:off x="11000232" y="6400800"/>
            <a:ext cx="914400" cy="274320"/>
          </a:xfrm>
          <a:prstGeom prst="rect">
            <a:avLst/>
          </a:prstGeom>
          <a:noFill/>
          <a:ln/>
        </p:spPr>
        <p:txBody>
          <a:bodyPr wrap="square" lIns="0" tIns="0" rIns="0" bIns="0" rtlCol="0" anchor="ctr"/>
          <a:lstStyle/>
          <a:p>
            <a:pPr marL="0" indent="0" algn="r">
              <a:buNone/>
            </a:pPr>
            <a:r>
              <a:rPr lang="en-US" sz="1000" dirty="0">
                <a:solidFill>
                  <a:srgbClr val="8FA6C2"/>
                </a:solidFill>
              </a:rPr>
              <a:t>08 / 12</a:t>
            </a:r>
            <a:endParaRPr lang="en-US" sz="1000" dirty="0"/>
          </a:p>
        </p:txBody>
      </p:sp>
      <p:sp>
        <p:nvSpPr>
          <p:cNvPr id="19" name="Text 15"/>
          <p:cNvSpPr/>
          <p:nvPr/>
        </p:nvSpPr>
        <p:spPr>
          <a:xfrm>
            <a:off x="457200" y="6400800"/>
            <a:ext cx="4572000" cy="274320"/>
          </a:xfrm>
          <a:prstGeom prst="rect">
            <a:avLst/>
          </a:prstGeom>
          <a:noFill/>
          <a:ln/>
        </p:spPr>
        <p:txBody>
          <a:bodyPr wrap="square" lIns="0" tIns="0" rIns="0" bIns="0" rtlCol="0" anchor="ctr"/>
          <a:lstStyle/>
          <a:p>
            <a:pPr marL="0" indent="0">
              <a:buNone/>
            </a:pPr>
            <a:r>
              <a:rPr lang="en-US" sz="1000" kern="0" spc="100" dirty="0">
                <a:solidFill>
                  <a:srgbClr val="8FA6C2"/>
                </a:solidFill>
              </a:rPr>
              <a:t>MINI BROKER DE MENSAJES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929"/>
        </a:solidFill>
        <a:effectLst/>
      </p:bgPr>
    </p:bg>
    <p:spTree>
      <p:nvGrpSpPr>
        <p:cNvPr id="1" name=""/>
        <p:cNvGrpSpPr/>
        <p:nvPr/>
      </p:nvGrpSpPr>
      <p:grpSpPr>
        <a:xfrm>
          <a:off x="0" y="0"/>
          <a:ext cx="0" cy="0"/>
          <a:chOff x="0" y="0"/>
          <a:chExt cx="0" cy="0"/>
        </a:xfrm>
      </p:grpSpPr>
      <p:sp>
        <p:nvSpPr>
          <p:cNvPr id="2" name="Text 0"/>
          <p:cNvSpPr/>
          <p:nvPr/>
        </p:nvSpPr>
        <p:spPr>
          <a:xfrm>
            <a:off x="548640" y="411480"/>
            <a:ext cx="5486400" cy="320040"/>
          </a:xfrm>
          <a:prstGeom prst="rect">
            <a:avLst/>
          </a:prstGeom>
          <a:noFill/>
          <a:ln/>
        </p:spPr>
        <p:txBody>
          <a:bodyPr wrap="square" lIns="0" tIns="0" rIns="0" bIns="0" rtlCol="0" anchor="ctr"/>
          <a:lstStyle/>
          <a:p>
            <a:pPr marL="0" indent="0">
              <a:buNone/>
            </a:pPr>
            <a:r>
              <a:rPr lang="en-US" sz="1200" b="1" kern="0" spc="200" dirty="0">
                <a:solidFill>
                  <a:srgbClr val="5EEAD4"/>
                </a:solidFill>
                <a:latin typeface="Calibri" pitchFamily="34" charset="0"/>
                <a:ea typeface="Calibri" pitchFamily="34" charset="-122"/>
                <a:cs typeface="Calibri" pitchFamily="34" charset="-120"/>
              </a:rPr>
              <a:t>07 · OBSERVABILIDAD</a:t>
            </a:r>
            <a:endParaRPr lang="en-US" sz="1200" dirty="0"/>
          </a:p>
        </p:txBody>
      </p:sp>
      <p:sp>
        <p:nvSpPr>
          <p:cNvPr id="3" name="Text 1"/>
          <p:cNvSpPr/>
          <p:nvPr/>
        </p:nvSpPr>
        <p:spPr>
          <a:xfrm>
            <a:off x="548640" y="713232"/>
            <a:ext cx="9144000" cy="640080"/>
          </a:xfrm>
          <a:prstGeom prst="rect">
            <a:avLst/>
          </a:prstGeom>
          <a:noFill/>
          <a:ln/>
        </p:spPr>
        <p:txBody>
          <a:bodyPr wrap="square" lIns="0" tIns="0" rIns="0" bIns="0" rtlCol="0" anchor="ctr"/>
          <a:lstStyle/>
          <a:p>
            <a:pPr marL="0" indent="0">
              <a:buNone/>
            </a:pPr>
            <a:r>
              <a:rPr lang="en-US" sz="2900" b="1" dirty="0">
                <a:solidFill>
                  <a:srgbClr val="F3F6FA"/>
                </a:solidFill>
                <a:latin typeface="Cambria" pitchFamily="34" charset="0"/>
                <a:ea typeface="Cambria" pitchFamily="34" charset="-122"/>
                <a:cs typeface="Cambria" pitchFamily="34" charset="-120"/>
              </a:rPr>
              <a:t>Cada paso del flujo queda registrado</a:t>
            </a:r>
            <a:endParaRPr lang="en-US" sz="2900" dirty="0"/>
          </a:p>
        </p:txBody>
      </p:sp>
      <p:sp>
        <p:nvSpPr>
          <p:cNvPr id="4" name="Shape 2"/>
          <p:cNvSpPr/>
          <p:nvPr/>
        </p:nvSpPr>
        <p:spPr>
          <a:xfrm>
            <a:off x="548640" y="2011680"/>
            <a:ext cx="2834640" cy="1051560"/>
          </a:xfrm>
          <a:prstGeom prst="roundRect">
            <a:avLst>
              <a:gd name="adj" fmla="val 8696"/>
            </a:avLst>
          </a:prstGeom>
          <a:solidFill>
            <a:srgbClr val="0F2A3D"/>
          </a:solidFill>
          <a:ln w="19050">
            <a:solidFill>
              <a:srgbClr val="14B8A6"/>
            </a:solidFill>
            <a:prstDash val="solid"/>
          </a:ln>
        </p:spPr>
      </p:sp>
      <p:sp>
        <p:nvSpPr>
          <p:cNvPr id="5" name="Text 3"/>
          <p:cNvSpPr/>
          <p:nvPr/>
        </p:nvSpPr>
        <p:spPr>
          <a:xfrm>
            <a:off x="548640" y="2148840"/>
            <a:ext cx="2834640" cy="365760"/>
          </a:xfrm>
          <a:prstGeom prst="rect">
            <a:avLst/>
          </a:prstGeom>
          <a:noFill/>
          <a:ln/>
        </p:spPr>
        <p:txBody>
          <a:bodyPr wrap="square" lIns="0" tIns="0" rIns="0" bIns="0" rtlCol="0" anchor="ctr"/>
          <a:lstStyle/>
          <a:p>
            <a:pPr marL="0" indent="0" algn="ctr">
              <a:buNone/>
            </a:pPr>
            <a:r>
              <a:rPr lang="en-US" sz="1500" b="1" dirty="0">
                <a:solidFill>
                  <a:srgbClr val="F3F6FA"/>
                </a:solidFill>
              </a:rPr>
              <a:t>BrokerEvent</a:t>
            </a:r>
            <a:endParaRPr lang="en-US" sz="1500" dirty="0"/>
          </a:p>
        </p:txBody>
      </p:sp>
      <p:sp>
        <p:nvSpPr>
          <p:cNvPr id="6" name="Text 4"/>
          <p:cNvSpPr/>
          <p:nvPr/>
        </p:nvSpPr>
        <p:spPr>
          <a:xfrm>
            <a:off x="548640" y="2560320"/>
            <a:ext cx="2834640" cy="365760"/>
          </a:xfrm>
          <a:prstGeom prst="rect">
            <a:avLst/>
          </a:prstGeom>
          <a:noFill/>
          <a:ln/>
        </p:spPr>
        <p:txBody>
          <a:bodyPr wrap="square" lIns="0" tIns="0" rIns="0" bIns="0" rtlCol="0" anchor="ctr"/>
          <a:lstStyle/>
          <a:p>
            <a:pPr marL="0" indent="0" algn="ctr">
              <a:buNone/>
            </a:pPr>
            <a:r>
              <a:rPr lang="en-US" sz="1050" dirty="0">
                <a:solidFill>
                  <a:srgbClr val="5EEAD4"/>
                </a:solidFill>
                <a:latin typeface="Courier New" pitchFamily="34" charset="0"/>
                <a:ea typeface="Courier New" pitchFamily="34" charset="-122"/>
                <a:cs typeface="Courier New" pitchFamily="34" charset="-120"/>
              </a:rPr>
              <a:t>record(event)</a:t>
            </a:r>
            <a:endParaRPr lang="en-US" sz="1050" dirty="0"/>
          </a:p>
        </p:txBody>
      </p:sp>
      <p:sp>
        <p:nvSpPr>
          <p:cNvPr id="7" name="Shape 5"/>
          <p:cNvSpPr/>
          <p:nvPr/>
        </p:nvSpPr>
        <p:spPr>
          <a:xfrm>
            <a:off x="3383280" y="2537460"/>
            <a:ext cx="822960" cy="0"/>
          </a:xfrm>
          <a:prstGeom prst="line">
            <a:avLst/>
          </a:prstGeom>
          <a:noFill/>
          <a:ln w="31750">
            <a:solidFill>
              <a:srgbClr val="14B8A6"/>
            </a:solidFill>
            <a:prstDash val="solid"/>
            <a:tailEnd type="triangle"/>
          </a:ln>
        </p:spPr>
      </p:sp>
      <p:sp>
        <p:nvSpPr>
          <p:cNvPr id="8" name="Shape 6"/>
          <p:cNvSpPr/>
          <p:nvPr/>
        </p:nvSpPr>
        <p:spPr>
          <a:xfrm>
            <a:off x="4206240" y="2011680"/>
            <a:ext cx="2834640" cy="1051560"/>
          </a:xfrm>
          <a:prstGeom prst="roundRect">
            <a:avLst>
              <a:gd name="adj" fmla="val 8696"/>
            </a:avLst>
          </a:prstGeom>
          <a:solidFill>
            <a:srgbClr val="13233B"/>
          </a:solidFill>
          <a:ln w="12700">
            <a:solidFill>
              <a:srgbClr val="24405F"/>
            </a:solidFill>
            <a:prstDash val="solid"/>
          </a:ln>
        </p:spPr>
      </p:sp>
      <p:sp>
        <p:nvSpPr>
          <p:cNvPr id="9" name="Text 7"/>
          <p:cNvSpPr/>
          <p:nvPr/>
        </p:nvSpPr>
        <p:spPr>
          <a:xfrm>
            <a:off x="4206240" y="2148840"/>
            <a:ext cx="2834640" cy="365760"/>
          </a:xfrm>
          <a:prstGeom prst="rect">
            <a:avLst/>
          </a:prstGeom>
          <a:noFill/>
          <a:ln/>
        </p:spPr>
        <p:txBody>
          <a:bodyPr wrap="square" lIns="0" tIns="0" rIns="0" bIns="0" rtlCol="0" anchor="ctr"/>
          <a:lstStyle/>
          <a:p>
            <a:pPr marL="0" indent="0" algn="ctr">
              <a:buNone/>
            </a:pPr>
            <a:r>
              <a:rPr lang="en-US" sz="1400" b="1" dirty="0">
                <a:solidFill>
                  <a:srgbClr val="F3F6FA"/>
                </a:solidFill>
              </a:rPr>
              <a:t>ApplicationEvent</a:t>
            </a:r>
            <a:endParaRPr lang="en-US" sz="1400" dirty="0"/>
          </a:p>
        </p:txBody>
      </p:sp>
      <p:sp>
        <p:nvSpPr>
          <p:cNvPr id="10" name="Text 8"/>
          <p:cNvSpPr/>
          <p:nvPr/>
        </p:nvSpPr>
        <p:spPr>
          <a:xfrm>
            <a:off x="4206240" y="2560320"/>
            <a:ext cx="2834640" cy="365760"/>
          </a:xfrm>
          <a:prstGeom prst="rect">
            <a:avLst/>
          </a:prstGeom>
          <a:noFill/>
          <a:ln/>
        </p:spPr>
        <p:txBody>
          <a:bodyPr wrap="square" lIns="0" tIns="0" rIns="0" bIns="0" rtlCol="0" anchor="ctr"/>
          <a:lstStyle/>
          <a:p>
            <a:pPr marL="0" indent="0" algn="ctr">
              <a:buNone/>
            </a:pPr>
            <a:r>
              <a:rPr lang="en-US" sz="1050" dirty="0">
                <a:solidFill>
                  <a:srgbClr val="8FA6C2"/>
                </a:solidFill>
              </a:rPr>
              <a:t>Spring publishEvent()</a:t>
            </a:r>
            <a:endParaRPr lang="en-US" sz="1050" dirty="0"/>
          </a:p>
        </p:txBody>
      </p:sp>
      <p:sp>
        <p:nvSpPr>
          <p:cNvPr id="11" name="Shape 9"/>
          <p:cNvSpPr/>
          <p:nvPr/>
        </p:nvSpPr>
        <p:spPr>
          <a:xfrm>
            <a:off x="7040880" y="2537460"/>
            <a:ext cx="731520" cy="0"/>
          </a:xfrm>
          <a:prstGeom prst="line">
            <a:avLst/>
          </a:prstGeom>
          <a:noFill/>
          <a:ln w="25400">
            <a:solidFill>
              <a:srgbClr val="F2A65A"/>
            </a:solidFill>
            <a:prstDash val="solid"/>
            <a:tailEnd type="triangle"/>
          </a:ln>
        </p:spPr>
      </p:sp>
      <p:sp>
        <p:nvSpPr>
          <p:cNvPr id="12" name="Shape 10"/>
          <p:cNvSpPr/>
          <p:nvPr/>
        </p:nvSpPr>
        <p:spPr>
          <a:xfrm>
            <a:off x="7040880" y="2537460"/>
            <a:ext cx="731520" cy="502920"/>
          </a:xfrm>
          <a:prstGeom prst="line">
            <a:avLst/>
          </a:prstGeom>
          <a:noFill/>
          <a:ln w="25400">
            <a:solidFill>
              <a:srgbClr val="F2A65A"/>
            </a:solidFill>
            <a:prstDash val="solid"/>
            <a:tailEnd type="triangle"/>
          </a:ln>
        </p:spPr>
      </p:sp>
      <p:sp>
        <p:nvSpPr>
          <p:cNvPr id="13" name="Shape 11"/>
          <p:cNvSpPr/>
          <p:nvPr/>
        </p:nvSpPr>
        <p:spPr>
          <a:xfrm>
            <a:off x="7863840" y="1234440"/>
            <a:ext cx="3566160" cy="914400"/>
          </a:xfrm>
          <a:prstGeom prst="roundRect">
            <a:avLst>
              <a:gd name="adj" fmla="val 10000"/>
            </a:avLst>
          </a:prstGeom>
          <a:solidFill>
            <a:srgbClr val="13233B"/>
          </a:solidFill>
          <a:ln w="12700">
            <a:solidFill>
              <a:srgbClr val="24405F"/>
            </a:solidFill>
            <a:prstDash val="solid"/>
          </a:ln>
        </p:spPr>
      </p:sp>
      <p:sp>
        <p:nvSpPr>
          <p:cNvPr id="14" name="Text 12"/>
          <p:cNvSpPr/>
          <p:nvPr/>
        </p:nvSpPr>
        <p:spPr>
          <a:xfrm>
            <a:off x="8046720" y="1234440"/>
            <a:ext cx="3291840" cy="914400"/>
          </a:xfrm>
          <a:prstGeom prst="rect">
            <a:avLst/>
          </a:prstGeom>
          <a:noFill/>
          <a:ln/>
        </p:spPr>
        <p:txBody>
          <a:bodyPr wrap="square" lIns="0" tIns="0" rIns="0" bIns="0" rtlCol="0" anchor="ctr"/>
          <a:lstStyle/>
          <a:p>
            <a:pPr marL="0" indent="0">
              <a:buNone/>
            </a:pPr>
            <a:r>
              <a:rPr lang="en-US" sz="1150" dirty="0">
                <a:solidFill>
                  <a:srgbClr val="F3F6FA"/>
                </a:solidFill>
              </a:rPr>
              <a:t>BrokerEventLoggingListener → SLF4J</a:t>
            </a:r>
            <a:endParaRPr lang="en-US" sz="1150" dirty="0"/>
          </a:p>
        </p:txBody>
      </p:sp>
      <p:sp>
        <p:nvSpPr>
          <p:cNvPr id="15" name="Shape 13"/>
          <p:cNvSpPr/>
          <p:nvPr/>
        </p:nvSpPr>
        <p:spPr>
          <a:xfrm>
            <a:off x="7863840" y="2788920"/>
            <a:ext cx="3566160" cy="914400"/>
          </a:xfrm>
          <a:prstGeom prst="roundRect">
            <a:avLst>
              <a:gd name="adj" fmla="val 10000"/>
            </a:avLst>
          </a:prstGeom>
          <a:solidFill>
            <a:srgbClr val="13233B"/>
          </a:solidFill>
          <a:ln w="12700">
            <a:solidFill>
              <a:srgbClr val="24405F"/>
            </a:solidFill>
            <a:prstDash val="solid"/>
          </a:ln>
        </p:spPr>
      </p:sp>
      <p:sp>
        <p:nvSpPr>
          <p:cNvPr id="16" name="Text 14"/>
          <p:cNvSpPr/>
          <p:nvPr/>
        </p:nvSpPr>
        <p:spPr>
          <a:xfrm>
            <a:off x="8046720" y="2788920"/>
            <a:ext cx="3291840" cy="914400"/>
          </a:xfrm>
          <a:prstGeom prst="rect">
            <a:avLst/>
          </a:prstGeom>
          <a:noFill/>
          <a:ln/>
        </p:spPr>
        <p:txBody>
          <a:bodyPr wrap="square" lIns="0" tIns="0" rIns="0" bIns="0" rtlCol="0" anchor="ctr"/>
          <a:lstStyle/>
          <a:p>
            <a:pPr marL="0" indent="0">
              <a:buNone/>
            </a:pPr>
            <a:r>
              <a:rPr lang="en-US" sz="1150" dirty="0">
                <a:solidFill>
                  <a:srgbClr val="F3F6FA"/>
                </a:solidFill>
              </a:rPr>
              <a:t>BrokerEventMetricsListener → Micrometer</a:t>
            </a:r>
            <a:endParaRPr lang="en-US" sz="1150" dirty="0"/>
          </a:p>
        </p:txBody>
      </p:sp>
      <p:sp>
        <p:nvSpPr>
          <p:cNvPr id="17" name="Text 15"/>
          <p:cNvSpPr/>
          <p:nvPr/>
        </p:nvSpPr>
        <p:spPr>
          <a:xfrm>
            <a:off x="548640" y="3794760"/>
            <a:ext cx="10881360" cy="548640"/>
          </a:xfrm>
          <a:prstGeom prst="rect">
            <a:avLst/>
          </a:prstGeom>
          <a:noFill/>
          <a:ln/>
        </p:spPr>
        <p:txBody>
          <a:bodyPr wrap="square" lIns="0" tIns="0" rIns="0" bIns="0" rtlCol="0" anchor="ctr"/>
          <a:lstStyle/>
          <a:p>
            <a:pPr marL="0" indent="0">
              <a:buNone/>
            </a:pPr>
            <a:r>
              <a:rPr lang="en-US" sz="1200" i="1" dirty="0">
                <a:solidFill>
                  <a:srgbClr val="8FA6C2"/>
                </a:solidFill>
              </a:rPr>
              <a:t>¿Por qué un listener y no logger.info() repetido en 7 servicios? Evita duplicar logging (DRY) y agregar un tercer oyente (ej. WebSocket) no toca ningún servicio existente (Open/Closed).</a:t>
            </a:r>
            <a:endParaRPr lang="en-US" sz="1200" dirty="0"/>
          </a:p>
        </p:txBody>
      </p:sp>
      <p:sp>
        <p:nvSpPr>
          <p:cNvPr id="18" name="Shape 16"/>
          <p:cNvSpPr/>
          <p:nvPr/>
        </p:nvSpPr>
        <p:spPr>
          <a:xfrm>
            <a:off x="548640" y="4572000"/>
            <a:ext cx="2606040" cy="777240"/>
          </a:xfrm>
          <a:prstGeom prst="roundRect">
            <a:avLst>
              <a:gd name="adj" fmla="val 9412"/>
            </a:avLst>
          </a:prstGeom>
          <a:solidFill>
            <a:srgbClr val="0A1524"/>
          </a:solidFill>
          <a:ln w="12700">
            <a:solidFill>
              <a:srgbClr val="24405F"/>
            </a:solidFill>
            <a:prstDash val="solid"/>
          </a:ln>
        </p:spPr>
      </p:sp>
      <p:sp>
        <p:nvSpPr>
          <p:cNvPr id="19" name="Text 17"/>
          <p:cNvSpPr/>
          <p:nvPr/>
        </p:nvSpPr>
        <p:spPr>
          <a:xfrm>
            <a:off x="685800" y="4572000"/>
            <a:ext cx="2331720" cy="777240"/>
          </a:xfrm>
          <a:prstGeom prst="rect">
            <a:avLst/>
          </a:prstGeom>
          <a:noFill/>
          <a:ln/>
        </p:spPr>
        <p:txBody>
          <a:bodyPr wrap="square" lIns="0" tIns="0" rIns="0" bIns="0" rtlCol="0" anchor="ctr"/>
          <a:lstStyle/>
          <a:p>
            <a:pPr marL="0" indent="0">
              <a:buNone/>
            </a:pPr>
            <a:r>
              <a:rPr lang="en-US" sz="1050" dirty="0">
                <a:solidFill>
                  <a:srgbClr val="5EEAD4"/>
                </a:solidFill>
                <a:latin typeface="Courier New" pitchFamily="34" charset="0"/>
                <a:ea typeface="Courier New" pitchFamily="34" charset="-122"/>
                <a:cs typeface="Courier New" pitchFamily="34" charset="-120"/>
              </a:rPr>
              <a:t>broker.topics.total</a:t>
            </a:r>
            <a:endParaRPr lang="en-US" sz="1050" dirty="0"/>
          </a:p>
        </p:txBody>
      </p:sp>
      <p:sp>
        <p:nvSpPr>
          <p:cNvPr id="20" name="Shape 18"/>
          <p:cNvSpPr/>
          <p:nvPr/>
        </p:nvSpPr>
        <p:spPr>
          <a:xfrm>
            <a:off x="3291840" y="4572000"/>
            <a:ext cx="2606040" cy="777240"/>
          </a:xfrm>
          <a:prstGeom prst="roundRect">
            <a:avLst>
              <a:gd name="adj" fmla="val 9412"/>
            </a:avLst>
          </a:prstGeom>
          <a:solidFill>
            <a:srgbClr val="0A1524"/>
          </a:solidFill>
          <a:ln w="12700">
            <a:solidFill>
              <a:srgbClr val="24405F"/>
            </a:solidFill>
            <a:prstDash val="solid"/>
          </a:ln>
        </p:spPr>
      </p:sp>
      <p:sp>
        <p:nvSpPr>
          <p:cNvPr id="21" name="Text 19"/>
          <p:cNvSpPr/>
          <p:nvPr/>
        </p:nvSpPr>
        <p:spPr>
          <a:xfrm>
            <a:off x="3429000" y="4572000"/>
            <a:ext cx="2331720" cy="777240"/>
          </a:xfrm>
          <a:prstGeom prst="rect">
            <a:avLst/>
          </a:prstGeom>
          <a:noFill/>
          <a:ln/>
        </p:spPr>
        <p:txBody>
          <a:bodyPr wrap="square" lIns="0" tIns="0" rIns="0" bIns="0" rtlCol="0" anchor="ctr"/>
          <a:lstStyle/>
          <a:p>
            <a:pPr marL="0" indent="0">
              <a:buNone/>
            </a:pPr>
            <a:r>
              <a:rPr lang="en-US" sz="1050" dirty="0">
                <a:solidFill>
                  <a:srgbClr val="5EEAD4"/>
                </a:solidFill>
                <a:latin typeface="Courier New" pitchFamily="34" charset="0"/>
                <a:ea typeface="Courier New" pitchFamily="34" charset="-122"/>
                <a:cs typeface="Courier New" pitchFamily="34" charset="-120"/>
              </a:rPr>
              <a:t>broker.consumers.total</a:t>
            </a:r>
            <a:endParaRPr lang="en-US" sz="1050" dirty="0"/>
          </a:p>
        </p:txBody>
      </p:sp>
      <p:sp>
        <p:nvSpPr>
          <p:cNvPr id="22" name="Shape 20"/>
          <p:cNvSpPr/>
          <p:nvPr/>
        </p:nvSpPr>
        <p:spPr>
          <a:xfrm>
            <a:off x="6035040" y="4572000"/>
            <a:ext cx="2606040" cy="777240"/>
          </a:xfrm>
          <a:prstGeom prst="roundRect">
            <a:avLst>
              <a:gd name="adj" fmla="val 9412"/>
            </a:avLst>
          </a:prstGeom>
          <a:solidFill>
            <a:srgbClr val="0A1524"/>
          </a:solidFill>
          <a:ln w="12700">
            <a:solidFill>
              <a:srgbClr val="24405F"/>
            </a:solidFill>
            <a:prstDash val="solid"/>
          </a:ln>
        </p:spPr>
      </p:sp>
      <p:sp>
        <p:nvSpPr>
          <p:cNvPr id="23" name="Text 21"/>
          <p:cNvSpPr/>
          <p:nvPr/>
        </p:nvSpPr>
        <p:spPr>
          <a:xfrm>
            <a:off x="6172200" y="4572000"/>
            <a:ext cx="2331720" cy="777240"/>
          </a:xfrm>
          <a:prstGeom prst="rect">
            <a:avLst/>
          </a:prstGeom>
          <a:noFill/>
          <a:ln/>
        </p:spPr>
        <p:txBody>
          <a:bodyPr wrap="square" lIns="0" tIns="0" rIns="0" bIns="0" rtlCol="0" anchor="ctr"/>
          <a:lstStyle/>
          <a:p>
            <a:pPr marL="0" indent="0">
              <a:buNone/>
            </a:pPr>
            <a:r>
              <a:rPr lang="en-US" sz="1050" dirty="0">
                <a:solidFill>
                  <a:srgbClr val="5EEAD4"/>
                </a:solidFill>
                <a:latin typeface="Courier New" pitchFamily="34" charset="0"/>
                <a:ea typeface="Courier New" pitchFamily="34" charset="-122"/>
                <a:cs typeface="Courier New" pitchFamily="34" charset="-120"/>
              </a:rPr>
              <a:t>broker.subscriptions.total</a:t>
            </a:r>
            <a:endParaRPr lang="en-US" sz="1050" dirty="0"/>
          </a:p>
        </p:txBody>
      </p:sp>
      <p:sp>
        <p:nvSpPr>
          <p:cNvPr id="24" name="Shape 22"/>
          <p:cNvSpPr/>
          <p:nvPr/>
        </p:nvSpPr>
        <p:spPr>
          <a:xfrm>
            <a:off x="8778240" y="4572000"/>
            <a:ext cx="2606040" cy="777240"/>
          </a:xfrm>
          <a:prstGeom prst="roundRect">
            <a:avLst>
              <a:gd name="adj" fmla="val 9412"/>
            </a:avLst>
          </a:prstGeom>
          <a:solidFill>
            <a:srgbClr val="0A1524"/>
          </a:solidFill>
          <a:ln w="12700">
            <a:solidFill>
              <a:srgbClr val="24405F"/>
            </a:solidFill>
            <a:prstDash val="solid"/>
          </a:ln>
        </p:spPr>
      </p:sp>
      <p:sp>
        <p:nvSpPr>
          <p:cNvPr id="25" name="Text 23"/>
          <p:cNvSpPr/>
          <p:nvPr/>
        </p:nvSpPr>
        <p:spPr>
          <a:xfrm>
            <a:off x="8915400" y="4572000"/>
            <a:ext cx="2331720" cy="777240"/>
          </a:xfrm>
          <a:prstGeom prst="rect">
            <a:avLst/>
          </a:prstGeom>
          <a:noFill/>
          <a:ln/>
        </p:spPr>
        <p:txBody>
          <a:bodyPr wrap="square" lIns="0" tIns="0" rIns="0" bIns="0" rtlCol="0" anchor="ctr"/>
          <a:lstStyle/>
          <a:p>
            <a:pPr marL="0" indent="0">
              <a:buNone/>
            </a:pPr>
            <a:r>
              <a:rPr lang="en-US" sz="1050" dirty="0">
                <a:solidFill>
                  <a:srgbClr val="5EEAD4"/>
                </a:solidFill>
                <a:latin typeface="Courier New" pitchFamily="34" charset="0"/>
                <a:ea typeface="Courier New" pitchFamily="34" charset="-122"/>
                <a:cs typeface="Courier New" pitchFamily="34" charset="-120"/>
              </a:rPr>
              <a:t>broker.deliveries{status=...}</a:t>
            </a:r>
            <a:endParaRPr lang="en-US" sz="1050" dirty="0"/>
          </a:p>
        </p:txBody>
      </p:sp>
      <p:sp>
        <p:nvSpPr>
          <p:cNvPr id="26" name="Text 24"/>
          <p:cNvSpPr/>
          <p:nvPr/>
        </p:nvSpPr>
        <p:spPr>
          <a:xfrm>
            <a:off x="548640" y="5486400"/>
            <a:ext cx="10881360" cy="365760"/>
          </a:xfrm>
          <a:prstGeom prst="rect">
            <a:avLst/>
          </a:prstGeom>
          <a:noFill/>
          <a:ln/>
        </p:spPr>
        <p:txBody>
          <a:bodyPr wrap="square" lIns="0" tIns="0" rIns="0" bIns="0" rtlCol="0" anchor="ctr"/>
          <a:lstStyle/>
          <a:p>
            <a:pPr marL="0" indent="0">
              <a:buNone/>
            </a:pPr>
            <a:r>
              <a:rPr lang="en-US" sz="1100" dirty="0">
                <a:solidFill>
                  <a:srgbClr val="8FA6C2"/>
                </a:solidFill>
              </a:rPr>
              <a:t>Gauges de Micrometer, expuestos en /actuator/metrics/*, recalculados on-demand en cada scrape.</a:t>
            </a:r>
            <a:endParaRPr lang="en-US" sz="1100" dirty="0"/>
          </a:p>
        </p:txBody>
      </p:sp>
      <p:sp>
        <p:nvSpPr>
          <p:cNvPr id="27" name="Text 25"/>
          <p:cNvSpPr/>
          <p:nvPr/>
        </p:nvSpPr>
        <p:spPr>
          <a:xfrm>
            <a:off x="11000232" y="6400800"/>
            <a:ext cx="914400" cy="274320"/>
          </a:xfrm>
          <a:prstGeom prst="rect">
            <a:avLst/>
          </a:prstGeom>
          <a:noFill/>
          <a:ln/>
        </p:spPr>
        <p:txBody>
          <a:bodyPr wrap="square" lIns="0" tIns="0" rIns="0" bIns="0" rtlCol="0" anchor="ctr"/>
          <a:lstStyle/>
          <a:p>
            <a:pPr marL="0" indent="0" algn="r">
              <a:buNone/>
            </a:pPr>
            <a:r>
              <a:rPr lang="en-US" sz="1000" dirty="0">
                <a:solidFill>
                  <a:srgbClr val="8FA6C2"/>
                </a:solidFill>
              </a:rPr>
              <a:t>09 / 12</a:t>
            </a:r>
            <a:endParaRPr lang="en-US" sz="1000" dirty="0"/>
          </a:p>
        </p:txBody>
      </p:sp>
      <p:sp>
        <p:nvSpPr>
          <p:cNvPr id="28" name="Text 26"/>
          <p:cNvSpPr/>
          <p:nvPr/>
        </p:nvSpPr>
        <p:spPr>
          <a:xfrm>
            <a:off x="457200" y="6400800"/>
            <a:ext cx="4572000" cy="274320"/>
          </a:xfrm>
          <a:prstGeom prst="rect">
            <a:avLst/>
          </a:prstGeom>
          <a:noFill/>
          <a:ln/>
        </p:spPr>
        <p:txBody>
          <a:bodyPr wrap="square" lIns="0" tIns="0" rIns="0" bIns="0" rtlCol="0" anchor="ctr"/>
          <a:lstStyle/>
          <a:p>
            <a:pPr marL="0" indent="0">
              <a:buNone/>
            </a:pPr>
            <a:r>
              <a:rPr lang="en-US" sz="1000" kern="0" spc="100" dirty="0">
                <a:solidFill>
                  <a:srgbClr val="8FA6C2"/>
                </a:solidFill>
              </a:rPr>
              <a:t>MINI BROKER DE MENSAJES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929"/>
        </a:solidFill>
        <a:effectLst/>
      </p:bgPr>
    </p:bg>
    <p:spTree>
      <p:nvGrpSpPr>
        <p:cNvPr id="1" name=""/>
        <p:cNvGrpSpPr/>
        <p:nvPr/>
      </p:nvGrpSpPr>
      <p:grpSpPr>
        <a:xfrm>
          <a:off x="0" y="0"/>
          <a:ext cx="0" cy="0"/>
          <a:chOff x="0" y="0"/>
          <a:chExt cx="0" cy="0"/>
        </a:xfrm>
      </p:grpSpPr>
      <p:sp>
        <p:nvSpPr>
          <p:cNvPr id="2" name="Text 0"/>
          <p:cNvSpPr/>
          <p:nvPr/>
        </p:nvSpPr>
        <p:spPr>
          <a:xfrm>
            <a:off x="548640" y="411480"/>
            <a:ext cx="5486400" cy="320040"/>
          </a:xfrm>
          <a:prstGeom prst="rect">
            <a:avLst/>
          </a:prstGeom>
          <a:noFill/>
          <a:ln/>
        </p:spPr>
        <p:txBody>
          <a:bodyPr wrap="square" lIns="0" tIns="0" rIns="0" bIns="0" rtlCol="0" anchor="ctr"/>
          <a:lstStyle/>
          <a:p>
            <a:pPr marL="0" indent="0">
              <a:buNone/>
            </a:pPr>
            <a:r>
              <a:rPr lang="en-US" sz="1200" b="1" kern="0" spc="200" dirty="0">
                <a:solidFill>
                  <a:srgbClr val="5EEAD4"/>
                </a:solidFill>
                <a:latin typeface="Calibri" pitchFamily="34" charset="0"/>
                <a:ea typeface="Calibri" pitchFamily="34" charset="-122"/>
                <a:cs typeface="Calibri" pitchFamily="34" charset="-120"/>
              </a:rPr>
              <a:t>08 · CALIDAD</a:t>
            </a:r>
            <a:endParaRPr lang="en-US" sz="1200" dirty="0"/>
          </a:p>
        </p:txBody>
      </p:sp>
      <p:sp>
        <p:nvSpPr>
          <p:cNvPr id="3" name="Text 1"/>
          <p:cNvSpPr/>
          <p:nvPr/>
        </p:nvSpPr>
        <p:spPr>
          <a:xfrm>
            <a:off x="548640" y="713232"/>
            <a:ext cx="10515600" cy="640080"/>
          </a:xfrm>
          <a:prstGeom prst="rect">
            <a:avLst/>
          </a:prstGeom>
          <a:noFill/>
          <a:ln/>
        </p:spPr>
        <p:txBody>
          <a:bodyPr wrap="square" lIns="0" tIns="0" rIns="0" bIns="0" rtlCol="0" anchor="ctr"/>
          <a:lstStyle/>
          <a:p>
            <a:pPr marL="0" indent="0">
              <a:buNone/>
            </a:pPr>
            <a:r>
              <a:rPr lang="en-US" sz="2700" b="1" dirty="0">
                <a:solidFill>
                  <a:srgbClr val="F3F6FA"/>
                </a:solidFill>
                <a:latin typeface="Cambria" pitchFamily="34" charset="0"/>
                <a:ea typeface="Cambria" pitchFamily="34" charset="-122"/>
                <a:cs typeface="Cambria" pitchFamily="34" charset="-120"/>
              </a:rPr>
              <a:t>Concurrencia: probada con hilos reales, no mocks</a:t>
            </a:r>
            <a:endParaRPr lang="en-US" sz="2700" dirty="0"/>
          </a:p>
        </p:txBody>
      </p:sp>
      <p:sp>
        <p:nvSpPr>
          <p:cNvPr id="4" name="Shape 2"/>
          <p:cNvSpPr/>
          <p:nvPr/>
        </p:nvSpPr>
        <p:spPr>
          <a:xfrm>
            <a:off x="548640" y="1691640"/>
            <a:ext cx="5349240" cy="3246120"/>
          </a:xfrm>
          <a:prstGeom prst="roundRect">
            <a:avLst>
              <a:gd name="adj" fmla="val 2817"/>
            </a:avLst>
          </a:prstGeom>
          <a:solidFill>
            <a:srgbClr val="13233B"/>
          </a:solidFill>
          <a:ln w="12700">
            <a:solidFill>
              <a:srgbClr val="24405F"/>
            </a:solidFill>
            <a:prstDash val="solid"/>
          </a:ln>
        </p:spPr>
      </p:sp>
      <p:sp>
        <p:nvSpPr>
          <p:cNvPr id="5" name="Shape 3"/>
          <p:cNvSpPr/>
          <p:nvPr/>
        </p:nvSpPr>
        <p:spPr>
          <a:xfrm>
            <a:off x="868680" y="1965960"/>
            <a:ext cx="548640" cy="548640"/>
          </a:xfrm>
          <a:prstGeom prst="ellipse">
            <a:avLst/>
          </a:prstGeom>
          <a:solidFill>
            <a:srgbClr val="1B3654"/>
          </a:solidFill>
          <a:ln/>
        </p:spPr>
      </p:sp>
      <p:pic>
        <p:nvPicPr>
          <p:cNvPr id="6" name="Image 0" descr="preencoded.png"/>
          <p:cNvPicPr>
            <a:picLocks noChangeAspect="1"/>
          </p:cNvPicPr>
          <p:nvPr/>
        </p:nvPicPr>
        <p:blipFill>
          <a:blip r:embed="rId3"/>
          <a:stretch>
            <a:fillRect/>
          </a:stretch>
        </p:blipFill>
        <p:spPr>
          <a:xfrm>
            <a:off x="992124" y="2089404"/>
            <a:ext cx="301752" cy="301752"/>
          </a:xfrm>
          <a:prstGeom prst="rect">
            <a:avLst/>
          </a:prstGeom>
        </p:spPr>
      </p:pic>
      <p:sp>
        <p:nvSpPr>
          <p:cNvPr id="7" name="Text 4"/>
          <p:cNvSpPr/>
          <p:nvPr/>
        </p:nvSpPr>
        <p:spPr>
          <a:xfrm>
            <a:off x="1600200" y="1920240"/>
            <a:ext cx="2011680" cy="640080"/>
          </a:xfrm>
          <a:prstGeom prst="rect">
            <a:avLst/>
          </a:prstGeom>
          <a:noFill/>
          <a:ln/>
        </p:spPr>
        <p:txBody>
          <a:bodyPr wrap="square" lIns="0" tIns="0" rIns="0" bIns="0" rtlCol="0" anchor="ctr"/>
          <a:lstStyle/>
          <a:p>
            <a:pPr marL="0" indent="0">
              <a:buNone/>
            </a:pPr>
            <a:r>
              <a:rPr lang="en-US" sz="3400" b="1" dirty="0">
                <a:solidFill>
                  <a:srgbClr val="5EEAD4"/>
                </a:solidFill>
              </a:rPr>
              <a:t>100</a:t>
            </a:r>
            <a:endParaRPr lang="en-US" sz="3400" dirty="0"/>
          </a:p>
        </p:txBody>
      </p:sp>
      <p:sp>
        <p:nvSpPr>
          <p:cNvPr id="8" name="Text 5"/>
          <p:cNvSpPr/>
          <p:nvPr/>
        </p:nvSpPr>
        <p:spPr>
          <a:xfrm>
            <a:off x="1600200" y="2468880"/>
            <a:ext cx="3200400" cy="320040"/>
          </a:xfrm>
          <a:prstGeom prst="rect">
            <a:avLst/>
          </a:prstGeom>
          <a:noFill/>
          <a:ln/>
        </p:spPr>
        <p:txBody>
          <a:bodyPr wrap="square" lIns="0" tIns="0" rIns="0" bIns="0" rtlCol="0" anchor="ctr"/>
          <a:lstStyle/>
          <a:p>
            <a:pPr marL="0" indent="0">
              <a:buNone/>
            </a:pPr>
            <a:r>
              <a:rPr lang="en-US" sz="1100" dirty="0">
                <a:solidFill>
                  <a:srgbClr val="8FA6C2"/>
                </a:solidFill>
              </a:rPr>
              <a:t>mensajes concurrentes</a:t>
            </a:r>
            <a:endParaRPr lang="en-US" sz="1100" dirty="0"/>
          </a:p>
        </p:txBody>
      </p:sp>
      <p:sp>
        <p:nvSpPr>
          <p:cNvPr id="9" name="Text 6"/>
          <p:cNvSpPr/>
          <p:nvPr/>
        </p:nvSpPr>
        <p:spPr>
          <a:xfrm>
            <a:off x="868680" y="3017520"/>
            <a:ext cx="4754880" cy="457200"/>
          </a:xfrm>
          <a:prstGeom prst="rect">
            <a:avLst/>
          </a:prstGeom>
          <a:noFill/>
          <a:ln/>
        </p:spPr>
        <p:txBody>
          <a:bodyPr wrap="square" lIns="0" tIns="0" rIns="0" bIns="0" rtlCol="0" anchor="ctr"/>
          <a:lstStyle/>
          <a:p>
            <a:pPr marL="0" indent="0">
              <a:buNone/>
            </a:pPr>
            <a:r>
              <a:rPr lang="en-US" sz="1050" dirty="0">
                <a:solidFill>
                  <a:srgbClr val="5EEAD4"/>
                </a:solidFill>
                <a:latin typeface="Courier New" pitchFamily="34" charset="0"/>
                <a:ea typeface="Courier New" pitchFamily="34" charset="-122"/>
                <a:cs typeface="Courier New" pitchFamily="34" charset="-120"/>
              </a:rPr>
              <a:t>concurrentPublishAndPollingNeverDuplicatesOrLosesDeliveries</a:t>
            </a:r>
            <a:endParaRPr lang="en-US" sz="1050" dirty="0"/>
          </a:p>
        </p:txBody>
      </p:sp>
      <p:sp>
        <p:nvSpPr>
          <p:cNvPr id="10" name="Text 7"/>
          <p:cNvSpPr/>
          <p:nvPr/>
        </p:nvSpPr>
        <p:spPr>
          <a:xfrm>
            <a:off x="868680" y="3520440"/>
            <a:ext cx="4754880" cy="1280160"/>
          </a:xfrm>
          <a:prstGeom prst="rect">
            <a:avLst/>
          </a:prstGeom>
          <a:noFill/>
          <a:ln/>
        </p:spPr>
        <p:txBody>
          <a:bodyPr wrap="square" lIns="0" tIns="0" rIns="0" bIns="0" rtlCol="0" anchor="ctr"/>
          <a:lstStyle/>
          <a:p>
            <a:pPr marL="0" indent="0">
              <a:buNone/>
            </a:pPr>
            <a:r>
              <a:rPr lang="en-US" sz="1150" dirty="0">
                <a:solidFill>
                  <a:srgbClr val="8FA6C2"/>
                </a:solidFill>
              </a:rPr>
              <a:t>5 consumidores, 4 hilos de polling cada uno. Cada consumidor termina con exactamente 100 entregas: ni una repetida, ni una perdida. Depende de que ConcurrentLinkedQueue.poll() sea atómico.</a:t>
            </a:r>
            <a:endParaRPr lang="en-US" sz="1150" dirty="0"/>
          </a:p>
        </p:txBody>
      </p:sp>
      <p:sp>
        <p:nvSpPr>
          <p:cNvPr id="11" name="Shape 8"/>
          <p:cNvSpPr/>
          <p:nvPr/>
        </p:nvSpPr>
        <p:spPr>
          <a:xfrm>
            <a:off x="6263640" y="1691640"/>
            <a:ext cx="5349240" cy="3246120"/>
          </a:xfrm>
          <a:prstGeom prst="roundRect">
            <a:avLst>
              <a:gd name="adj" fmla="val 2817"/>
            </a:avLst>
          </a:prstGeom>
          <a:solidFill>
            <a:srgbClr val="2A2440"/>
          </a:solidFill>
          <a:ln w="19050">
            <a:solidFill>
              <a:srgbClr val="F2A65A"/>
            </a:solidFill>
            <a:prstDash val="solid"/>
          </a:ln>
        </p:spPr>
      </p:sp>
      <p:sp>
        <p:nvSpPr>
          <p:cNvPr id="12" name="Shape 9"/>
          <p:cNvSpPr/>
          <p:nvPr/>
        </p:nvSpPr>
        <p:spPr>
          <a:xfrm>
            <a:off x="6583680" y="1965960"/>
            <a:ext cx="548640" cy="548640"/>
          </a:xfrm>
          <a:prstGeom prst="ellipse">
            <a:avLst/>
          </a:prstGeom>
          <a:solidFill>
            <a:srgbClr val="3A2E1E"/>
          </a:solidFill>
          <a:ln/>
        </p:spPr>
      </p:sp>
      <p:pic>
        <p:nvPicPr>
          <p:cNvPr id="13" name="Image 1" descr="preencoded.png"/>
          <p:cNvPicPr>
            <a:picLocks noChangeAspect="1"/>
          </p:cNvPicPr>
          <p:nvPr/>
        </p:nvPicPr>
        <p:blipFill>
          <a:blip r:embed="rId4"/>
          <a:stretch>
            <a:fillRect/>
          </a:stretch>
        </p:blipFill>
        <p:spPr>
          <a:xfrm>
            <a:off x="6707124" y="2089404"/>
            <a:ext cx="301752" cy="301752"/>
          </a:xfrm>
          <a:prstGeom prst="rect">
            <a:avLst/>
          </a:prstGeom>
        </p:spPr>
      </p:pic>
      <p:sp>
        <p:nvSpPr>
          <p:cNvPr id="14" name="Text 10"/>
          <p:cNvSpPr/>
          <p:nvPr/>
        </p:nvSpPr>
        <p:spPr>
          <a:xfrm>
            <a:off x="7315200" y="1920240"/>
            <a:ext cx="2011680" cy="640080"/>
          </a:xfrm>
          <a:prstGeom prst="rect">
            <a:avLst/>
          </a:prstGeom>
          <a:noFill/>
          <a:ln/>
        </p:spPr>
        <p:txBody>
          <a:bodyPr wrap="square" lIns="0" tIns="0" rIns="0" bIns="0" rtlCol="0" anchor="ctr"/>
          <a:lstStyle/>
          <a:p>
            <a:pPr marL="0" indent="0">
              <a:buNone/>
            </a:pPr>
            <a:r>
              <a:rPr lang="en-US" sz="3400" b="1" dirty="0">
                <a:solidFill>
                  <a:srgbClr val="FBCB8E"/>
                </a:solidFill>
              </a:rPr>
              <a:t>20</a:t>
            </a:r>
            <a:endParaRPr lang="en-US" sz="3400" dirty="0"/>
          </a:p>
        </p:txBody>
      </p:sp>
      <p:sp>
        <p:nvSpPr>
          <p:cNvPr id="15" name="Text 11"/>
          <p:cNvSpPr/>
          <p:nvPr/>
        </p:nvSpPr>
        <p:spPr>
          <a:xfrm>
            <a:off x="7315200" y="2468880"/>
            <a:ext cx="3200400" cy="320040"/>
          </a:xfrm>
          <a:prstGeom prst="rect">
            <a:avLst/>
          </a:prstGeom>
          <a:noFill/>
          <a:ln/>
        </p:spPr>
        <p:txBody>
          <a:bodyPr wrap="square" lIns="0" tIns="0" rIns="0" bIns="0" rtlCol="0" anchor="ctr"/>
          <a:lstStyle/>
          <a:p>
            <a:pPr marL="0" indent="0">
              <a:buNone/>
            </a:pPr>
            <a:r>
              <a:rPr lang="en-US" sz="1100" dirty="0">
                <a:solidFill>
                  <a:srgbClr val="D8CCEF"/>
                </a:solidFill>
              </a:rPr>
              <a:t>hilos, mismo ACK</a:t>
            </a:r>
            <a:endParaRPr lang="en-US" sz="1100" dirty="0"/>
          </a:p>
        </p:txBody>
      </p:sp>
      <p:sp>
        <p:nvSpPr>
          <p:cNvPr id="16" name="Text 12"/>
          <p:cNvSpPr/>
          <p:nvPr/>
        </p:nvSpPr>
        <p:spPr>
          <a:xfrm>
            <a:off x="6583680" y="3017520"/>
            <a:ext cx="4754880" cy="457200"/>
          </a:xfrm>
          <a:prstGeom prst="rect">
            <a:avLst/>
          </a:prstGeom>
          <a:noFill/>
          <a:ln/>
        </p:spPr>
        <p:txBody>
          <a:bodyPr wrap="square" lIns="0" tIns="0" rIns="0" bIns="0" rtlCol="0" anchor="ctr"/>
          <a:lstStyle/>
          <a:p>
            <a:pPr marL="0" indent="0">
              <a:buNone/>
            </a:pPr>
            <a:r>
              <a:rPr lang="en-US" sz="1050" dirty="0">
                <a:solidFill>
                  <a:srgbClr val="FBCB8E"/>
                </a:solidFill>
                <a:latin typeface="Courier New" pitchFamily="34" charset="0"/>
                <a:ea typeface="Courier New" pitchFamily="34" charset="-122"/>
                <a:cs typeface="Courier New" pitchFamily="34" charset="-120"/>
              </a:rPr>
              <a:t>concurrentDuplicateAckOnlySucceedsOnce</a:t>
            </a:r>
            <a:endParaRPr lang="en-US" sz="1050" dirty="0"/>
          </a:p>
        </p:txBody>
      </p:sp>
      <p:sp>
        <p:nvSpPr>
          <p:cNvPr id="17" name="Text 13"/>
          <p:cNvSpPr/>
          <p:nvPr/>
        </p:nvSpPr>
        <p:spPr>
          <a:xfrm>
            <a:off x="6583680" y="3520440"/>
            <a:ext cx="4754880" cy="1280160"/>
          </a:xfrm>
          <a:prstGeom prst="rect">
            <a:avLst/>
          </a:prstGeom>
          <a:noFill/>
          <a:ln/>
        </p:spPr>
        <p:txBody>
          <a:bodyPr wrap="square" lIns="0" tIns="0" rIns="0" bIns="0" rtlCol="0" anchor="ctr"/>
          <a:lstStyle/>
          <a:p>
            <a:pPr marL="0" indent="0">
              <a:buNone/>
            </a:pPr>
            <a:r>
              <a:rPr lang="en-US" sz="1150" dirty="0">
                <a:solidFill>
                  <a:srgbClr val="D8CCEF"/>
                </a:solidFill>
              </a:rPr>
              <a:t>Exactamente uno debe tener éxito. Este test falló antes del fix de AtomicReference — hoy queda como regresión permanente en el repo.</a:t>
            </a:r>
            <a:endParaRPr lang="en-US" sz="1150" dirty="0"/>
          </a:p>
        </p:txBody>
      </p:sp>
      <p:sp>
        <p:nvSpPr>
          <p:cNvPr id="18" name="Shape 14"/>
          <p:cNvSpPr/>
          <p:nvPr/>
        </p:nvSpPr>
        <p:spPr>
          <a:xfrm>
            <a:off x="548640" y="5166360"/>
            <a:ext cx="11064240" cy="685800"/>
          </a:xfrm>
          <a:prstGeom prst="roundRect">
            <a:avLst>
              <a:gd name="adj" fmla="val 8000"/>
            </a:avLst>
          </a:prstGeom>
          <a:solidFill>
            <a:srgbClr val="0A1524"/>
          </a:solidFill>
          <a:ln w="12700">
            <a:solidFill>
              <a:srgbClr val="24405F"/>
            </a:solidFill>
            <a:prstDash val="solid"/>
          </a:ln>
        </p:spPr>
      </p:sp>
      <p:sp>
        <p:nvSpPr>
          <p:cNvPr id="19" name="Text 15"/>
          <p:cNvSpPr/>
          <p:nvPr/>
        </p:nvSpPr>
        <p:spPr>
          <a:xfrm>
            <a:off x="822960" y="5166360"/>
            <a:ext cx="10515600" cy="685800"/>
          </a:xfrm>
          <a:prstGeom prst="rect">
            <a:avLst/>
          </a:prstGeom>
          <a:noFill/>
          <a:ln/>
        </p:spPr>
        <p:txBody>
          <a:bodyPr wrap="square" lIns="0" tIns="0" rIns="0" bIns="0" rtlCol="0" anchor="ctr"/>
          <a:lstStyle/>
          <a:p>
            <a:pPr marL="0" indent="0">
              <a:buNone/>
            </a:pPr>
            <a:r>
              <a:rPr lang="en-US" sz="1300" dirty="0">
                <a:solidFill>
                  <a:srgbClr val="5EEAD4"/>
                </a:solidFill>
                <a:latin typeface="Courier New" pitchFamily="34" charset="0"/>
                <a:ea typeface="Courier New" pitchFamily="34" charset="-122"/>
                <a:cs typeface="Courier New" pitchFamily="34" charset="-120"/>
              </a:rPr>
              <a:t>./mvnw test -Dtest=ConcurrentBrokerFlowTests</a:t>
            </a:r>
            <a:endParaRPr lang="en-US" sz="1300" dirty="0"/>
          </a:p>
        </p:txBody>
      </p:sp>
      <p:sp>
        <p:nvSpPr>
          <p:cNvPr id="20" name="Text 16"/>
          <p:cNvSpPr/>
          <p:nvPr/>
        </p:nvSpPr>
        <p:spPr>
          <a:xfrm>
            <a:off x="11000232" y="6400800"/>
            <a:ext cx="914400" cy="274320"/>
          </a:xfrm>
          <a:prstGeom prst="rect">
            <a:avLst/>
          </a:prstGeom>
          <a:noFill/>
          <a:ln/>
        </p:spPr>
        <p:txBody>
          <a:bodyPr wrap="square" lIns="0" tIns="0" rIns="0" bIns="0" rtlCol="0" anchor="ctr"/>
          <a:lstStyle/>
          <a:p>
            <a:pPr marL="0" indent="0" algn="r">
              <a:buNone/>
            </a:pPr>
            <a:r>
              <a:rPr lang="en-US" sz="1000" dirty="0">
                <a:solidFill>
                  <a:srgbClr val="8FA6C2"/>
                </a:solidFill>
              </a:rPr>
              <a:t>10 / 12</a:t>
            </a:r>
            <a:endParaRPr lang="en-US" sz="1000" dirty="0"/>
          </a:p>
        </p:txBody>
      </p:sp>
      <p:sp>
        <p:nvSpPr>
          <p:cNvPr id="21" name="Text 17"/>
          <p:cNvSpPr/>
          <p:nvPr/>
        </p:nvSpPr>
        <p:spPr>
          <a:xfrm>
            <a:off x="457200" y="6400800"/>
            <a:ext cx="4572000" cy="274320"/>
          </a:xfrm>
          <a:prstGeom prst="rect">
            <a:avLst/>
          </a:prstGeom>
          <a:noFill/>
          <a:ln/>
        </p:spPr>
        <p:txBody>
          <a:bodyPr wrap="square" lIns="0" tIns="0" rIns="0" bIns="0" rtlCol="0" anchor="ctr"/>
          <a:lstStyle/>
          <a:p>
            <a:pPr marL="0" indent="0">
              <a:buNone/>
            </a:pPr>
            <a:r>
              <a:rPr lang="en-US" sz="1000" kern="0" spc="100" dirty="0">
                <a:solidFill>
                  <a:srgbClr val="8FA6C2"/>
                </a:solidFill>
              </a:rPr>
              <a:t>MINI BROKER DE MENSAJES</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929"/>
        </a:solidFill>
        <a:effectLst/>
      </p:bgPr>
    </p:bg>
    <p:spTree>
      <p:nvGrpSpPr>
        <p:cNvPr id="1" name=""/>
        <p:cNvGrpSpPr/>
        <p:nvPr/>
      </p:nvGrpSpPr>
      <p:grpSpPr>
        <a:xfrm>
          <a:off x="0" y="0"/>
          <a:ext cx="0" cy="0"/>
          <a:chOff x="0" y="0"/>
          <a:chExt cx="0" cy="0"/>
        </a:xfrm>
      </p:grpSpPr>
      <p:sp>
        <p:nvSpPr>
          <p:cNvPr id="2" name="Text 0"/>
          <p:cNvSpPr/>
          <p:nvPr/>
        </p:nvSpPr>
        <p:spPr>
          <a:xfrm>
            <a:off x="548640" y="411480"/>
            <a:ext cx="5486400" cy="320040"/>
          </a:xfrm>
          <a:prstGeom prst="rect">
            <a:avLst/>
          </a:prstGeom>
          <a:noFill/>
          <a:ln/>
        </p:spPr>
        <p:txBody>
          <a:bodyPr wrap="square" lIns="0" tIns="0" rIns="0" bIns="0" rtlCol="0" anchor="ctr"/>
          <a:lstStyle/>
          <a:p>
            <a:pPr marL="0" indent="0">
              <a:buNone/>
            </a:pPr>
            <a:r>
              <a:rPr lang="en-US" sz="1200" b="1" kern="0" spc="200" dirty="0">
                <a:solidFill>
                  <a:srgbClr val="5EEAD4"/>
                </a:solidFill>
                <a:latin typeface="Calibri" pitchFamily="34" charset="0"/>
                <a:ea typeface="Calibri" pitchFamily="34" charset="-122"/>
                <a:cs typeface="Calibri" pitchFamily="34" charset="-120"/>
              </a:rPr>
              <a:t>09 · PRINCIPIOS</a:t>
            </a:r>
            <a:endParaRPr lang="en-US" sz="1200" dirty="0"/>
          </a:p>
        </p:txBody>
      </p:sp>
      <p:sp>
        <p:nvSpPr>
          <p:cNvPr id="3" name="Text 1"/>
          <p:cNvSpPr/>
          <p:nvPr/>
        </p:nvSpPr>
        <p:spPr>
          <a:xfrm>
            <a:off x="548640" y="713232"/>
            <a:ext cx="9144000" cy="640080"/>
          </a:xfrm>
          <a:prstGeom prst="rect">
            <a:avLst/>
          </a:prstGeom>
          <a:noFill/>
          <a:ln/>
        </p:spPr>
        <p:txBody>
          <a:bodyPr wrap="square" lIns="0" tIns="0" rIns="0" bIns="0" rtlCol="0" anchor="ctr"/>
          <a:lstStyle/>
          <a:p>
            <a:pPr marL="0" indent="0">
              <a:buNone/>
            </a:pPr>
            <a:r>
              <a:rPr lang="en-US" sz="2900" b="1" dirty="0">
                <a:solidFill>
                  <a:srgbClr val="F3F6FA"/>
                </a:solidFill>
                <a:latin typeface="Cambria" pitchFamily="34" charset="0"/>
                <a:ea typeface="Cambria" pitchFamily="34" charset="-122"/>
                <a:cs typeface="Cambria" pitchFamily="34" charset="-120"/>
              </a:rPr>
              <a:t>SOLID aplicado, no solo mencionado</a:t>
            </a:r>
            <a:endParaRPr lang="en-US" sz="2900" dirty="0"/>
          </a:p>
        </p:txBody>
      </p:sp>
      <p:sp>
        <p:nvSpPr>
          <p:cNvPr id="4" name="Shape 2"/>
          <p:cNvSpPr/>
          <p:nvPr/>
        </p:nvSpPr>
        <p:spPr>
          <a:xfrm>
            <a:off x="548640" y="1737360"/>
            <a:ext cx="685800" cy="685800"/>
          </a:xfrm>
          <a:prstGeom prst="ellipse">
            <a:avLst/>
          </a:prstGeom>
          <a:solidFill>
            <a:srgbClr val="0F2A3D"/>
          </a:solidFill>
          <a:ln w="19050">
            <a:solidFill>
              <a:srgbClr val="14B8A6"/>
            </a:solidFill>
            <a:prstDash val="solid"/>
          </a:ln>
        </p:spPr>
      </p:sp>
      <p:sp>
        <p:nvSpPr>
          <p:cNvPr id="5" name="Text 3"/>
          <p:cNvSpPr/>
          <p:nvPr/>
        </p:nvSpPr>
        <p:spPr>
          <a:xfrm>
            <a:off x="548640" y="1737360"/>
            <a:ext cx="685800" cy="685800"/>
          </a:xfrm>
          <a:prstGeom prst="rect">
            <a:avLst/>
          </a:prstGeom>
          <a:noFill/>
          <a:ln/>
        </p:spPr>
        <p:txBody>
          <a:bodyPr wrap="square" lIns="0" tIns="0" rIns="0" bIns="0" rtlCol="0" anchor="ctr"/>
          <a:lstStyle/>
          <a:p>
            <a:pPr marL="0" indent="0" algn="ctr">
              <a:buNone/>
            </a:pPr>
            <a:r>
              <a:rPr lang="en-US" sz="2200" b="1" dirty="0">
                <a:solidFill>
                  <a:srgbClr val="5EEAD4"/>
                </a:solidFill>
                <a:latin typeface="Cambria" pitchFamily="34" charset="0"/>
                <a:ea typeface="Cambria" pitchFamily="34" charset="-122"/>
                <a:cs typeface="Cambria" pitchFamily="34" charset="-120"/>
              </a:rPr>
              <a:t>S</a:t>
            </a:r>
            <a:endParaRPr lang="en-US" sz="2200" dirty="0"/>
          </a:p>
        </p:txBody>
      </p:sp>
      <p:sp>
        <p:nvSpPr>
          <p:cNvPr id="6" name="Text 4"/>
          <p:cNvSpPr/>
          <p:nvPr/>
        </p:nvSpPr>
        <p:spPr>
          <a:xfrm>
            <a:off x="1508760" y="1691640"/>
            <a:ext cx="10058400" cy="749808"/>
          </a:xfrm>
          <a:prstGeom prst="rect">
            <a:avLst/>
          </a:prstGeom>
          <a:noFill/>
          <a:ln/>
        </p:spPr>
        <p:txBody>
          <a:bodyPr wrap="square" lIns="0" tIns="0" rIns="0" bIns="0" rtlCol="0" anchor="ctr"/>
          <a:lstStyle/>
          <a:p>
            <a:pPr marL="0" indent="0">
              <a:buNone/>
            </a:pPr>
            <a:r>
              <a:rPr lang="en-US" sz="1300" dirty="0">
                <a:solidFill>
                  <a:srgbClr val="F3F6FA"/>
                </a:solidFill>
              </a:rPr>
              <a:t>Cada *Service implementa un solo UseCase. BrokerDispatcher solo hace fan-out.</a:t>
            </a:r>
            <a:endParaRPr lang="en-US" sz="1300" dirty="0"/>
          </a:p>
        </p:txBody>
      </p:sp>
      <p:sp>
        <p:nvSpPr>
          <p:cNvPr id="7" name="Shape 5"/>
          <p:cNvSpPr/>
          <p:nvPr/>
        </p:nvSpPr>
        <p:spPr>
          <a:xfrm>
            <a:off x="548640" y="2578608"/>
            <a:ext cx="685800" cy="685800"/>
          </a:xfrm>
          <a:prstGeom prst="ellipse">
            <a:avLst/>
          </a:prstGeom>
          <a:solidFill>
            <a:srgbClr val="2A2440"/>
          </a:solidFill>
          <a:ln w="19050">
            <a:solidFill>
              <a:srgbClr val="F2A65A"/>
            </a:solidFill>
            <a:prstDash val="solid"/>
          </a:ln>
        </p:spPr>
      </p:sp>
      <p:sp>
        <p:nvSpPr>
          <p:cNvPr id="8" name="Text 6"/>
          <p:cNvSpPr/>
          <p:nvPr/>
        </p:nvSpPr>
        <p:spPr>
          <a:xfrm>
            <a:off x="548640" y="2578608"/>
            <a:ext cx="685800" cy="685800"/>
          </a:xfrm>
          <a:prstGeom prst="rect">
            <a:avLst/>
          </a:prstGeom>
          <a:noFill/>
          <a:ln/>
        </p:spPr>
        <p:txBody>
          <a:bodyPr wrap="square" lIns="0" tIns="0" rIns="0" bIns="0" rtlCol="0" anchor="ctr"/>
          <a:lstStyle/>
          <a:p>
            <a:pPr marL="0" indent="0" algn="ctr">
              <a:buNone/>
            </a:pPr>
            <a:r>
              <a:rPr lang="en-US" sz="2200" b="1" dirty="0">
                <a:solidFill>
                  <a:srgbClr val="FBCB8E"/>
                </a:solidFill>
                <a:latin typeface="Cambria" pitchFamily="34" charset="0"/>
                <a:ea typeface="Cambria" pitchFamily="34" charset="-122"/>
                <a:cs typeface="Cambria" pitchFamily="34" charset="-120"/>
              </a:rPr>
              <a:t>O</a:t>
            </a:r>
            <a:endParaRPr lang="en-US" sz="2200" dirty="0"/>
          </a:p>
        </p:txBody>
      </p:sp>
      <p:sp>
        <p:nvSpPr>
          <p:cNvPr id="9" name="Text 7"/>
          <p:cNvSpPr/>
          <p:nvPr/>
        </p:nvSpPr>
        <p:spPr>
          <a:xfrm>
            <a:off x="1508760" y="2532888"/>
            <a:ext cx="10058400" cy="749808"/>
          </a:xfrm>
          <a:prstGeom prst="rect">
            <a:avLst/>
          </a:prstGeom>
          <a:noFill/>
          <a:ln/>
        </p:spPr>
        <p:txBody>
          <a:bodyPr wrap="square" lIns="0" tIns="0" rIns="0" bIns="0" rtlCol="0" anchor="ctr"/>
          <a:lstStyle/>
          <a:p>
            <a:pPr marL="0" indent="0">
              <a:buNone/>
            </a:pPr>
            <a:r>
              <a:rPr lang="en-US" sz="1300" dirty="0">
                <a:solidFill>
                  <a:srgbClr val="F3F6FA"/>
                </a:solidFill>
              </a:rPr>
              <a:t>Agregar el adapter JPA no tocó TopicService ni ningún caso de uso existente.</a:t>
            </a:r>
            <a:endParaRPr lang="en-US" sz="1300" dirty="0"/>
          </a:p>
        </p:txBody>
      </p:sp>
      <p:sp>
        <p:nvSpPr>
          <p:cNvPr id="10" name="Shape 8"/>
          <p:cNvSpPr/>
          <p:nvPr/>
        </p:nvSpPr>
        <p:spPr>
          <a:xfrm>
            <a:off x="548640" y="3419856"/>
            <a:ext cx="685800" cy="685800"/>
          </a:xfrm>
          <a:prstGeom prst="ellipse">
            <a:avLst/>
          </a:prstGeom>
          <a:solidFill>
            <a:srgbClr val="0F2A3D"/>
          </a:solidFill>
          <a:ln w="19050">
            <a:solidFill>
              <a:srgbClr val="14B8A6"/>
            </a:solidFill>
            <a:prstDash val="solid"/>
          </a:ln>
        </p:spPr>
      </p:sp>
      <p:sp>
        <p:nvSpPr>
          <p:cNvPr id="11" name="Text 9"/>
          <p:cNvSpPr/>
          <p:nvPr/>
        </p:nvSpPr>
        <p:spPr>
          <a:xfrm>
            <a:off x="548640" y="3419856"/>
            <a:ext cx="685800" cy="685800"/>
          </a:xfrm>
          <a:prstGeom prst="rect">
            <a:avLst/>
          </a:prstGeom>
          <a:noFill/>
          <a:ln/>
        </p:spPr>
        <p:txBody>
          <a:bodyPr wrap="square" lIns="0" tIns="0" rIns="0" bIns="0" rtlCol="0" anchor="ctr"/>
          <a:lstStyle/>
          <a:p>
            <a:pPr marL="0" indent="0" algn="ctr">
              <a:buNone/>
            </a:pPr>
            <a:r>
              <a:rPr lang="en-US" sz="2200" b="1" dirty="0">
                <a:solidFill>
                  <a:srgbClr val="5EEAD4"/>
                </a:solidFill>
                <a:latin typeface="Cambria" pitchFamily="34" charset="0"/>
                <a:ea typeface="Cambria" pitchFamily="34" charset="-122"/>
                <a:cs typeface="Cambria" pitchFamily="34" charset="-120"/>
              </a:rPr>
              <a:t>L</a:t>
            </a:r>
            <a:endParaRPr lang="en-US" sz="2200" dirty="0"/>
          </a:p>
        </p:txBody>
      </p:sp>
      <p:sp>
        <p:nvSpPr>
          <p:cNvPr id="12" name="Text 10"/>
          <p:cNvSpPr/>
          <p:nvPr/>
        </p:nvSpPr>
        <p:spPr>
          <a:xfrm>
            <a:off x="1508760" y="3374136"/>
            <a:ext cx="10058400" cy="749808"/>
          </a:xfrm>
          <a:prstGeom prst="rect">
            <a:avLst/>
          </a:prstGeom>
          <a:noFill/>
          <a:ln/>
        </p:spPr>
        <p:txBody>
          <a:bodyPr wrap="square" lIns="0" tIns="0" rIns="0" bIns="0" rtlCol="0" anchor="ctr"/>
          <a:lstStyle/>
          <a:p>
            <a:pPr marL="0" indent="0">
              <a:buNone/>
            </a:pPr>
            <a:r>
              <a:rPr lang="en-US" sz="1300" dirty="0">
                <a:solidFill>
                  <a:srgbClr val="F3F6FA"/>
                </a:solidFill>
              </a:rPr>
              <a:t>InMemoryTopicRepository y JpaTopicRepository son 100% intercambiables detrás del mismo puerto.</a:t>
            </a:r>
            <a:endParaRPr lang="en-US" sz="1300" dirty="0"/>
          </a:p>
        </p:txBody>
      </p:sp>
      <p:sp>
        <p:nvSpPr>
          <p:cNvPr id="13" name="Shape 11"/>
          <p:cNvSpPr/>
          <p:nvPr/>
        </p:nvSpPr>
        <p:spPr>
          <a:xfrm>
            <a:off x="548640" y="4261104"/>
            <a:ext cx="685800" cy="685800"/>
          </a:xfrm>
          <a:prstGeom prst="ellipse">
            <a:avLst/>
          </a:prstGeom>
          <a:solidFill>
            <a:srgbClr val="2A2440"/>
          </a:solidFill>
          <a:ln w="19050">
            <a:solidFill>
              <a:srgbClr val="F2A65A"/>
            </a:solidFill>
            <a:prstDash val="solid"/>
          </a:ln>
        </p:spPr>
      </p:sp>
      <p:sp>
        <p:nvSpPr>
          <p:cNvPr id="14" name="Text 12"/>
          <p:cNvSpPr/>
          <p:nvPr/>
        </p:nvSpPr>
        <p:spPr>
          <a:xfrm>
            <a:off x="548640" y="4261104"/>
            <a:ext cx="685800" cy="685800"/>
          </a:xfrm>
          <a:prstGeom prst="rect">
            <a:avLst/>
          </a:prstGeom>
          <a:noFill/>
          <a:ln/>
        </p:spPr>
        <p:txBody>
          <a:bodyPr wrap="square" lIns="0" tIns="0" rIns="0" bIns="0" rtlCol="0" anchor="ctr"/>
          <a:lstStyle/>
          <a:p>
            <a:pPr marL="0" indent="0" algn="ctr">
              <a:buNone/>
            </a:pPr>
            <a:r>
              <a:rPr lang="en-US" sz="2200" b="1" dirty="0">
                <a:solidFill>
                  <a:srgbClr val="FBCB8E"/>
                </a:solidFill>
                <a:latin typeface="Cambria" pitchFamily="34" charset="0"/>
                <a:ea typeface="Cambria" pitchFamily="34" charset="-122"/>
                <a:cs typeface="Cambria" pitchFamily="34" charset="-120"/>
              </a:rPr>
              <a:t>I</a:t>
            </a:r>
            <a:endParaRPr lang="en-US" sz="2200" dirty="0"/>
          </a:p>
        </p:txBody>
      </p:sp>
      <p:sp>
        <p:nvSpPr>
          <p:cNvPr id="15" name="Text 13"/>
          <p:cNvSpPr/>
          <p:nvPr/>
        </p:nvSpPr>
        <p:spPr>
          <a:xfrm>
            <a:off x="1508760" y="4215384"/>
            <a:ext cx="10058400" cy="749808"/>
          </a:xfrm>
          <a:prstGeom prst="rect">
            <a:avLst/>
          </a:prstGeom>
          <a:noFill/>
          <a:ln/>
        </p:spPr>
        <p:txBody>
          <a:bodyPr wrap="square" lIns="0" tIns="0" rIns="0" bIns="0" rtlCol="0" anchor="ctr"/>
          <a:lstStyle/>
          <a:p>
            <a:pPr marL="0" indent="0">
              <a:buNone/>
            </a:pPr>
            <a:r>
              <a:rPr lang="en-US" sz="1300" dirty="0">
                <a:solidFill>
                  <a:srgbClr val="F3F6FA"/>
                </a:solidFill>
              </a:rPr>
              <a:t>7 interfaces UseCase de un método cada una, en vez de una BrokerService gigante.</a:t>
            </a:r>
            <a:endParaRPr lang="en-US" sz="1300" dirty="0"/>
          </a:p>
        </p:txBody>
      </p:sp>
      <p:sp>
        <p:nvSpPr>
          <p:cNvPr id="16" name="Shape 14"/>
          <p:cNvSpPr/>
          <p:nvPr/>
        </p:nvSpPr>
        <p:spPr>
          <a:xfrm>
            <a:off x="548640" y="5102352"/>
            <a:ext cx="685800" cy="685800"/>
          </a:xfrm>
          <a:prstGeom prst="ellipse">
            <a:avLst/>
          </a:prstGeom>
          <a:solidFill>
            <a:srgbClr val="0F2A3D"/>
          </a:solidFill>
          <a:ln w="19050">
            <a:solidFill>
              <a:srgbClr val="14B8A6"/>
            </a:solidFill>
            <a:prstDash val="solid"/>
          </a:ln>
        </p:spPr>
      </p:sp>
      <p:sp>
        <p:nvSpPr>
          <p:cNvPr id="17" name="Text 15"/>
          <p:cNvSpPr/>
          <p:nvPr/>
        </p:nvSpPr>
        <p:spPr>
          <a:xfrm>
            <a:off x="548640" y="5102352"/>
            <a:ext cx="685800" cy="685800"/>
          </a:xfrm>
          <a:prstGeom prst="rect">
            <a:avLst/>
          </a:prstGeom>
          <a:noFill/>
          <a:ln/>
        </p:spPr>
        <p:txBody>
          <a:bodyPr wrap="square" lIns="0" tIns="0" rIns="0" bIns="0" rtlCol="0" anchor="ctr"/>
          <a:lstStyle/>
          <a:p>
            <a:pPr marL="0" indent="0" algn="ctr">
              <a:buNone/>
            </a:pPr>
            <a:r>
              <a:rPr lang="en-US" sz="2200" b="1" dirty="0">
                <a:solidFill>
                  <a:srgbClr val="5EEAD4"/>
                </a:solidFill>
                <a:latin typeface="Cambria" pitchFamily="34" charset="0"/>
                <a:ea typeface="Cambria" pitchFamily="34" charset="-122"/>
                <a:cs typeface="Cambria" pitchFamily="34" charset="-120"/>
              </a:rPr>
              <a:t>D</a:t>
            </a:r>
            <a:endParaRPr lang="en-US" sz="2200" dirty="0"/>
          </a:p>
        </p:txBody>
      </p:sp>
      <p:sp>
        <p:nvSpPr>
          <p:cNvPr id="18" name="Text 16"/>
          <p:cNvSpPr/>
          <p:nvPr/>
        </p:nvSpPr>
        <p:spPr>
          <a:xfrm>
            <a:off x="1508760" y="5056632"/>
            <a:ext cx="10058400" cy="749808"/>
          </a:xfrm>
          <a:prstGeom prst="rect">
            <a:avLst/>
          </a:prstGeom>
          <a:noFill/>
          <a:ln/>
        </p:spPr>
        <p:txBody>
          <a:bodyPr wrap="square" lIns="0" tIns="0" rIns="0" bIns="0" rtlCol="0" anchor="ctr"/>
          <a:lstStyle/>
          <a:p>
            <a:pPr marL="0" indent="0">
              <a:buNone/>
            </a:pPr>
            <a:r>
              <a:rPr lang="en-US" sz="1300" dirty="0">
                <a:solidFill>
                  <a:srgbClr val="F3F6FA"/>
                </a:solidFill>
              </a:rPr>
              <a:t>application y domain solo conocen interfaces; Spring inyecta la implementación concreta en runtime.</a:t>
            </a:r>
            <a:endParaRPr lang="en-US" sz="1300" dirty="0"/>
          </a:p>
        </p:txBody>
      </p:sp>
      <p:sp>
        <p:nvSpPr>
          <p:cNvPr id="19" name="Text 17"/>
          <p:cNvSpPr/>
          <p:nvPr/>
        </p:nvSpPr>
        <p:spPr>
          <a:xfrm>
            <a:off x="11000232" y="6400800"/>
            <a:ext cx="914400" cy="274320"/>
          </a:xfrm>
          <a:prstGeom prst="rect">
            <a:avLst/>
          </a:prstGeom>
          <a:noFill/>
          <a:ln/>
        </p:spPr>
        <p:txBody>
          <a:bodyPr wrap="square" lIns="0" tIns="0" rIns="0" bIns="0" rtlCol="0" anchor="ctr"/>
          <a:lstStyle/>
          <a:p>
            <a:pPr marL="0" indent="0" algn="r">
              <a:buNone/>
            </a:pPr>
            <a:r>
              <a:rPr lang="en-US" sz="1000" dirty="0">
                <a:solidFill>
                  <a:srgbClr val="8FA6C2"/>
                </a:solidFill>
              </a:rPr>
              <a:t>11 / 12</a:t>
            </a:r>
            <a:endParaRPr lang="en-US" sz="1000" dirty="0"/>
          </a:p>
        </p:txBody>
      </p:sp>
      <p:sp>
        <p:nvSpPr>
          <p:cNvPr id="20" name="Text 18"/>
          <p:cNvSpPr/>
          <p:nvPr/>
        </p:nvSpPr>
        <p:spPr>
          <a:xfrm>
            <a:off x="457200" y="6400800"/>
            <a:ext cx="4572000" cy="274320"/>
          </a:xfrm>
          <a:prstGeom prst="rect">
            <a:avLst/>
          </a:prstGeom>
          <a:noFill/>
          <a:ln/>
        </p:spPr>
        <p:txBody>
          <a:bodyPr wrap="square" lIns="0" tIns="0" rIns="0" bIns="0" rtlCol="0" anchor="ctr"/>
          <a:lstStyle/>
          <a:p>
            <a:pPr marL="0" indent="0">
              <a:buNone/>
            </a:pPr>
            <a:r>
              <a:rPr lang="en-US" sz="1000" kern="0" spc="100" dirty="0">
                <a:solidFill>
                  <a:srgbClr val="8FA6C2"/>
                </a:solidFill>
              </a:rPr>
              <a:t>MINI BROKER DE MENSAJES</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929"/>
        </a:solidFill>
        <a:effectLst/>
      </p:bgPr>
    </p:bg>
    <p:spTree>
      <p:nvGrpSpPr>
        <p:cNvPr id="1" name=""/>
        <p:cNvGrpSpPr/>
        <p:nvPr/>
      </p:nvGrpSpPr>
      <p:grpSpPr>
        <a:xfrm>
          <a:off x="0" y="0"/>
          <a:ext cx="0" cy="0"/>
          <a:chOff x="0" y="0"/>
          <a:chExt cx="0" cy="0"/>
        </a:xfrm>
      </p:grpSpPr>
      <p:sp>
        <p:nvSpPr>
          <p:cNvPr id="2" name="Shape 0"/>
          <p:cNvSpPr/>
          <p:nvPr/>
        </p:nvSpPr>
        <p:spPr>
          <a:xfrm>
            <a:off x="-2286000" y="3657600"/>
            <a:ext cx="5486400" cy="5486400"/>
          </a:xfrm>
          <a:prstGeom prst="ellipse">
            <a:avLst/>
          </a:prstGeom>
          <a:solidFill>
            <a:srgbClr val="1B3654">
              <a:alpha val="55000"/>
            </a:srgbClr>
          </a:solidFill>
          <a:ln/>
        </p:spPr>
      </p:sp>
      <p:sp>
        <p:nvSpPr>
          <p:cNvPr id="4" name="Text 2"/>
          <p:cNvSpPr/>
          <p:nvPr/>
        </p:nvSpPr>
        <p:spPr>
          <a:xfrm>
            <a:off x="548640" y="777240"/>
            <a:ext cx="9144000" cy="640080"/>
          </a:xfrm>
          <a:prstGeom prst="rect">
            <a:avLst/>
          </a:prstGeom>
          <a:noFill/>
          <a:ln/>
        </p:spPr>
        <p:txBody>
          <a:bodyPr wrap="square" lIns="0" tIns="0" rIns="0" bIns="0" rtlCol="0" anchor="ctr"/>
          <a:lstStyle/>
          <a:p>
            <a:pPr marL="0" indent="0">
              <a:buNone/>
            </a:pPr>
            <a:r>
              <a:rPr lang="en-US" sz="3000" b="1" dirty="0">
                <a:solidFill>
                  <a:srgbClr val="F3F6FA"/>
                </a:solidFill>
                <a:latin typeface="Cambria" pitchFamily="34" charset="0"/>
                <a:ea typeface="Cambria" pitchFamily="34" charset="-122"/>
                <a:cs typeface="Cambria" pitchFamily="34" charset="-120"/>
              </a:rPr>
              <a:t>Grupo 06</a:t>
            </a:r>
            <a:endParaRPr lang="en-US" sz="3000" dirty="0"/>
          </a:p>
        </p:txBody>
      </p:sp>
      <p:sp>
        <p:nvSpPr>
          <p:cNvPr id="5" name="Shape 3"/>
          <p:cNvSpPr/>
          <p:nvPr/>
        </p:nvSpPr>
        <p:spPr>
          <a:xfrm>
            <a:off x="548640" y="1737360"/>
            <a:ext cx="7680960" cy="1051560"/>
          </a:xfrm>
          <a:prstGeom prst="roundRect">
            <a:avLst>
              <a:gd name="adj" fmla="val 8696"/>
            </a:avLst>
          </a:prstGeom>
          <a:solidFill>
            <a:srgbClr val="13233B"/>
          </a:solidFill>
          <a:ln w="12700">
            <a:solidFill>
              <a:srgbClr val="24405F"/>
            </a:solidFill>
            <a:prstDash val="solid"/>
          </a:ln>
        </p:spPr>
      </p:sp>
      <p:sp>
        <p:nvSpPr>
          <p:cNvPr id="6" name="Shape 4"/>
          <p:cNvSpPr/>
          <p:nvPr/>
        </p:nvSpPr>
        <p:spPr>
          <a:xfrm>
            <a:off x="777240" y="1943100"/>
            <a:ext cx="640080" cy="640080"/>
          </a:xfrm>
          <a:prstGeom prst="ellipse">
            <a:avLst/>
          </a:prstGeom>
          <a:solidFill>
            <a:srgbClr val="1B3654"/>
          </a:solidFill>
          <a:ln/>
        </p:spPr>
      </p:sp>
      <p:pic>
        <p:nvPicPr>
          <p:cNvPr id="7" name="Image 0" descr="preencoded.png"/>
          <p:cNvPicPr>
            <a:picLocks noChangeAspect="1"/>
          </p:cNvPicPr>
          <p:nvPr/>
        </p:nvPicPr>
        <p:blipFill>
          <a:blip r:embed="rId3"/>
          <a:stretch>
            <a:fillRect/>
          </a:stretch>
        </p:blipFill>
        <p:spPr>
          <a:xfrm>
            <a:off x="921258" y="2087118"/>
            <a:ext cx="352044" cy="352044"/>
          </a:xfrm>
          <a:prstGeom prst="rect">
            <a:avLst/>
          </a:prstGeom>
        </p:spPr>
      </p:pic>
      <p:sp>
        <p:nvSpPr>
          <p:cNvPr id="8" name="Text 5"/>
          <p:cNvSpPr/>
          <p:nvPr/>
        </p:nvSpPr>
        <p:spPr>
          <a:xfrm>
            <a:off x="1600200" y="1874520"/>
            <a:ext cx="6309360" cy="365760"/>
          </a:xfrm>
          <a:prstGeom prst="rect">
            <a:avLst/>
          </a:prstGeom>
          <a:noFill/>
          <a:ln/>
        </p:spPr>
        <p:txBody>
          <a:bodyPr wrap="square" lIns="0" tIns="0" rIns="0" bIns="0" rtlCol="0" anchor="ctr"/>
          <a:lstStyle/>
          <a:p>
            <a:pPr marL="0" indent="0">
              <a:buNone/>
            </a:pPr>
            <a:r>
              <a:rPr lang="en-US" sz="1450" b="1" dirty="0">
                <a:solidFill>
                  <a:srgbClr val="F3F6FA"/>
                </a:solidFill>
              </a:rPr>
              <a:t>Humberto Alejandro Lizana Ventura</a:t>
            </a:r>
            <a:endParaRPr lang="en-US" sz="1450" dirty="0"/>
          </a:p>
        </p:txBody>
      </p:sp>
      <p:sp>
        <p:nvSpPr>
          <p:cNvPr id="10" name="Shape 7"/>
          <p:cNvSpPr/>
          <p:nvPr/>
        </p:nvSpPr>
        <p:spPr>
          <a:xfrm>
            <a:off x="548640" y="2971800"/>
            <a:ext cx="7680960" cy="1051560"/>
          </a:xfrm>
          <a:prstGeom prst="roundRect">
            <a:avLst>
              <a:gd name="adj" fmla="val 8696"/>
            </a:avLst>
          </a:prstGeom>
          <a:solidFill>
            <a:srgbClr val="13233B"/>
          </a:solidFill>
          <a:ln w="12700">
            <a:solidFill>
              <a:srgbClr val="24405F"/>
            </a:solidFill>
            <a:prstDash val="solid"/>
          </a:ln>
        </p:spPr>
      </p:sp>
      <p:sp>
        <p:nvSpPr>
          <p:cNvPr id="11" name="Shape 8"/>
          <p:cNvSpPr/>
          <p:nvPr/>
        </p:nvSpPr>
        <p:spPr>
          <a:xfrm>
            <a:off x="777240" y="3177540"/>
            <a:ext cx="640080" cy="640080"/>
          </a:xfrm>
          <a:prstGeom prst="ellipse">
            <a:avLst/>
          </a:prstGeom>
          <a:solidFill>
            <a:srgbClr val="3A2E1E"/>
          </a:solidFill>
          <a:ln/>
        </p:spPr>
      </p:sp>
      <p:pic>
        <p:nvPicPr>
          <p:cNvPr id="12" name="Image 1" descr="preencoded.png"/>
          <p:cNvPicPr>
            <a:picLocks noChangeAspect="1"/>
          </p:cNvPicPr>
          <p:nvPr/>
        </p:nvPicPr>
        <p:blipFill>
          <a:blip r:embed="rId3"/>
          <a:stretch>
            <a:fillRect/>
          </a:stretch>
        </p:blipFill>
        <p:spPr>
          <a:xfrm>
            <a:off x="921258" y="3321558"/>
            <a:ext cx="352044" cy="352044"/>
          </a:xfrm>
          <a:prstGeom prst="rect">
            <a:avLst/>
          </a:prstGeom>
        </p:spPr>
      </p:pic>
      <p:sp>
        <p:nvSpPr>
          <p:cNvPr id="13" name="Text 9"/>
          <p:cNvSpPr/>
          <p:nvPr/>
        </p:nvSpPr>
        <p:spPr>
          <a:xfrm>
            <a:off x="1600200" y="3108960"/>
            <a:ext cx="6309360" cy="365760"/>
          </a:xfrm>
          <a:prstGeom prst="rect">
            <a:avLst/>
          </a:prstGeom>
          <a:noFill/>
          <a:ln/>
        </p:spPr>
        <p:txBody>
          <a:bodyPr wrap="square" lIns="0" tIns="0" rIns="0" bIns="0" rtlCol="0" anchor="ctr"/>
          <a:lstStyle/>
          <a:p>
            <a:pPr marL="0" indent="0">
              <a:buNone/>
            </a:pPr>
            <a:r>
              <a:rPr lang="en-US" sz="1450" b="1" dirty="0">
                <a:solidFill>
                  <a:srgbClr val="F3F6FA"/>
                </a:solidFill>
              </a:rPr>
              <a:t>Davel Reymundo Gobea</a:t>
            </a:r>
            <a:endParaRPr lang="en-US" sz="1450" dirty="0"/>
          </a:p>
        </p:txBody>
      </p:sp>
      <p:sp>
        <p:nvSpPr>
          <p:cNvPr id="15" name="Shape 11"/>
          <p:cNvSpPr/>
          <p:nvPr/>
        </p:nvSpPr>
        <p:spPr>
          <a:xfrm>
            <a:off x="548640" y="4206240"/>
            <a:ext cx="7680960" cy="1051560"/>
          </a:xfrm>
          <a:prstGeom prst="roundRect">
            <a:avLst>
              <a:gd name="adj" fmla="val 8696"/>
            </a:avLst>
          </a:prstGeom>
          <a:solidFill>
            <a:srgbClr val="13233B"/>
          </a:solidFill>
          <a:ln w="12700">
            <a:solidFill>
              <a:srgbClr val="24405F"/>
            </a:solidFill>
            <a:prstDash val="solid"/>
          </a:ln>
        </p:spPr>
      </p:sp>
      <p:sp>
        <p:nvSpPr>
          <p:cNvPr id="16" name="Shape 12"/>
          <p:cNvSpPr/>
          <p:nvPr/>
        </p:nvSpPr>
        <p:spPr>
          <a:xfrm>
            <a:off x="777240" y="4411980"/>
            <a:ext cx="640080" cy="640080"/>
          </a:xfrm>
          <a:prstGeom prst="ellipse">
            <a:avLst/>
          </a:prstGeom>
          <a:solidFill>
            <a:srgbClr val="1B3654"/>
          </a:solidFill>
          <a:ln/>
        </p:spPr>
      </p:sp>
      <p:pic>
        <p:nvPicPr>
          <p:cNvPr id="17" name="Image 2" descr="preencoded.png"/>
          <p:cNvPicPr>
            <a:picLocks noChangeAspect="1"/>
          </p:cNvPicPr>
          <p:nvPr/>
        </p:nvPicPr>
        <p:blipFill>
          <a:blip r:embed="rId3"/>
          <a:stretch>
            <a:fillRect/>
          </a:stretch>
        </p:blipFill>
        <p:spPr>
          <a:xfrm>
            <a:off x="921258" y="4555998"/>
            <a:ext cx="352044" cy="352044"/>
          </a:xfrm>
          <a:prstGeom prst="rect">
            <a:avLst/>
          </a:prstGeom>
        </p:spPr>
      </p:pic>
      <p:sp>
        <p:nvSpPr>
          <p:cNvPr id="18" name="Text 13"/>
          <p:cNvSpPr/>
          <p:nvPr/>
        </p:nvSpPr>
        <p:spPr>
          <a:xfrm>
            <a:off x="1600200" y="4343400"/>
            <a:ext cx="6309360" cy="365760"/>
          </a:xfrm>
          <a:prstGeom prst="rect">
            <a:avLst/>
          </a:prstGeom>
          <a:noFill/>
          <a:ln/>
        </p:spPr>
        <p:txBody>
          <a:bodyPr wrap="square" lIns="0" tIns="0" rIns="0" bIns="0" rtlCol="0" anchor="ctr"/>
          <a:lstStyle/>
          <a:p>
            <a:pPr marL="0" indent="0">
              <a:buNone/>
            </a:pPr>
            <a:r>
              <a:rPr lang="en-US" sz="1450" b="1" dirty="0">
                <a:solidFill>
                  <a:srgbClr val="F3F6FA"/>
                </a:solidFill>
              </a:rPr>
              <a:t>Dante Tarraga Usca</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121</TotalTime>
  <Words>2599</Words>
  <Application>Microsoft Office PowerPoint</Application>
  <PresentationFormat>Panorámica</PresentationFormat>
  <Paragraphs>206</Paragraphs>
  <Slides>12</Slides>
  <Notes>12</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12</vt:i4>
      </vt:variant>
    </vt:vector>
  </HeadingPairs>
  <TitlesOfParts>
    <vt:vector size="17" baseType="lpstr">
      <vt:lpstr>Arial</vt:lpstr>
      <vt:lpstr>Calibri</vt:lpstr>
      <vt:lpstr>Cambria</vt:lpstr>
      <vt:lpstr>Courier New</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Mini Broker de Mensajes</dc:title>
  <dc:subject>PptxGenJS Presentation</dc:subject>
  <dc:creator>Grupo 06</dc:creator>
  <cp:lastModifiedBy>Humberto Alejandro Lizana Ventura</cp:lastModifiedBy>
  <cp:revision>3</cp:revision>
  <dcterms:created xsi:type="dcterms:W3CDTF">2026-07-04T00:07:48Z</dcterms:created>
  <dcterms:modified xsi:type="dcterms:W3CDTF">2026-07-04T03:02:41Z</dcterms:modified>
</cp:coreProperties>
</file>